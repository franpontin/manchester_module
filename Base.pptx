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Lst>
  <p:notesMasterIdLst>
    <p:notesMasterId r:id="rId43"/>
  </p:notesMasterIdLst>
  <p:sldIdLst>
    <p:sldId id="261" r:id="rId2"/>
    <p:sldId id="305" r:id="rId3"/>
    <p:sldId id="306" r:id="rId4"/>
    <p:sldId id="311" r:id="rId5"/>
    <p:sldId id="284" r:id="rId6"/>
    <p:sldId id="285" r:id="rId7"/>
    <p:sldId id="286" r:id="rId8"/>
    <p:sldId id="287" r:id="rId9"/>
    <p:sldId id="288" r:id="rId10"/>
    <p:sldId id="289" r:id="rId11"/>
    <p:sldId id="290" r:id="rId12"/>
    <p:sldId id="291" r:id="rId13"/>
    <p:sldId id="268" r:id="rId14"/>
    <p:sldId id="307" r:id="rId15"/>
    <p:sldId id="317" r:id="rId16"/>
    <p:sldId id="318" r:id="rId17"/>
    <p:sldId id="312" r:id="rId18"/>
    <p:sldId id="309" r:id="rId19"/>
    <p:sldId id="310" r:id="rId20"/>
    <p:sldId id="313" r:id="rId21"/>
    <p:sldId id="293" r:id="rId22"/>
    <p:sldId id="294" r:id="rId23"/>
    <p:sldId id="314" r:id="rId24"/>
    <p:sldId id="296" r:id="rId25"/>
    <p:sldId id="297" r:id="rId26"/>
    <p:sldId id="298" r:id="rId27"/>
    <p:sldId id="299" r:id="rId28"/>
    <p:sldId id="300" r:id="rId29"/>
    <p:sldId id="301" r:id="rId30"/>
    <p:sldId id="302" r:id="rId31"/>
    <p:sldId id="303" r:id="rId32"/>
    <p:sldId id="304" r:id="rId33"/>
    <p:sldId id="274" r:id="rId34"/>
    <p:sldId id="275" r:id="rId35"/>
    <p:sldId id="315" r:id="rId36"/>
    <p:sldId id="316" r:id="rId37"/>
    <p:sldId id="277" r:id="rId38"/>
    <p:sldId id="278" r:id="rId39"/>
    <p:sldId id="281" r:id="rId40"/>
    <p:sldId id="280" r:id="rId41"/>
    <p:sldId id="282"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E25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80" autoAdjust="0"/>
    <p:restoredTop sz="65207" autoAdjust="0"/>
  </p:normalViewPr>
  <p:slideViewPr>
    <p:cSldViewPr snapToGrid="0">
      <p:cViewPr varScale="1">
        <p:scale>
          <a:sx n="72" d="100"/>
          <a:sy n="72" d="100"/>
        </p:scale>
        <p:origin x="1722" y="66"/>
      </p:cViewPr>
      <p:guideLst/>
    </p:cSldViewPr>
  </p:slideViewPr>
  <p:notesTextViewPr>
    <p:cViewPr>
      <p:scale>
        <a:sx n="1" d="1"/>
        <a:sy n="1" d="1"/>
      </p:scale>
      <p:origin x="0" y="0"/>
    </p:cViewPr>
  </p:notesTextViewPr>
  <p:notesViewPr>
    <p:cSldViewPr snapToGrid="0">
      <p:cViewPr varScale="1">
        <p:scale>
          <a:sx n="88" d="100"/>
          <a:sy n="88" d="100"/>
        </p:scale>
        <p:origin x="2964"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78D34-A3C2-418A-ABE9-A6F0608387BD}" type="datetimeFigureOut">
              <a:rPr lang="en-GB" smtClean="0"/>
              <a:t>05/02/2018</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C4BB46-B347-4112-97FB-3F25EDEA9D7B}" type="slidenum">
              <a:rPr lang="en-GB" smtClean="0"/>
              <a:t>‹#›</a:t>
            </a:fld>
            <a:endParaRPr lang="en-GB"/>
          </a:p>
        </p:txBody>
      </p:sp>
    </p:spTree>
    <p:extLst>
      <p:ext uri="{BB962C8B-B14F-4D97-AF65-F5344CB8AC3E}">
        <p14:creationId xmlns:p14="http://schemas.microsoft.com/office/powerpoint/2010/main" val="2119877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C4BB46-B347-4112-97FB-3F25EDEA9D7B}" type="slidenum">
              <a:rPr lang="en-GB" smtClean="0"/>
              <a:t>12</a:t>
            </a:fld>
            <a:endParaRPr lang="en-GB"/>
          </a:p>
        </p:txBody>
      </p:sp>
    </p:spTree>
    <p:extLst>
      <p:ext uri="{BB962C8B-B14F-4D97-AF65-F5344CB8AC3E}">
        <p14:creationId xmlns:p14="http://schemas.microsoft.com/office/powerpoint/2010/main" val="949011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DC4BB46-B347-4112-97FB-3F25EDEA9D7B}" type="slidenum">
              <a:rPr lang="en-GB" smtClean="0"/>
              <a:t>14</a:t>
            </a:fld>
            <a:endParaRPr lang="en-GB"/>
          </a:p>
        </p:txBody>
      </p:sp>
    </p:spTree>
    <p:extLst>
      <p:ext uri="{BB962C8B-B14F-4D97-AF65-F5344CB8AC3E}">
        <p14:creationId xmlns:p14="http://schemas.microsoft.com/office/powerpoint/2010/main" val="9315210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To start the process of data description, visualisation and summarisation we first plan</a:t>
            </a:r>
            <a:r>
              <a:rPr lang="en-GB" baseline="0" dirty="0" smtClean="0"/>
              <a:t> on creating summary tables depicting the source of the data, and type of data. The data type helps us identify which descriptive statistics to  use to best visualise basic features of the data as well as to identify any outliers, missing value. For example temperature a scatter plot of temperature against date would be useful to identify any outliers i.e. very cold temperatures in summer.  Where as store type would be best visualised by a bar graph </a:t>
            </a:r>
            <a:r>
              <a:rPr lang="en-GB" baseline="0" dirty="0" err="1" smtClean="0"/>
              <a:t>etc</a:t>
            </a:r>
            <a:r>
              <a:rPr lang="en-GB" baseline="0" dirty="0" smtClean="0"/>
              <a:t>…</a:t>
            </a:r>
            <a:endParaRPr lang="en-GB" dirty="0"/>
          </a:p>
        </p:txBody>
      </p:sp>
      <p:sp>
        <p:nvSpPr>
          <p:cNvPr id="4" name="Slide Number Placeholder 3"/>
          <p:cNvSpPr>
            <a:spLocks noGrp="1"/>
          </p:cNvSpPr>
          <p:nvPr>
            <p:ph type="sldNum" sz="quarter" idx="10"/>
          </p:nvPr>
        </p:nvSpPr>
        <p:spPr/>
        <p:txBody>
          <a:bodyPr/>
          <a:lstStyle/>
          <a:p>
            <a:fld id="{3DC4BB46-B347-4112-97FB-3F25EDEA9D7B}" type="slidenum">
              <a:rPr lang="en-GB" smtClean="0"/>
              <a:t>15</a:t>
            </a:fld>
            <a:endParaRPr lang="en-GB"/>
          </a:p>
        </p:txBody>
      </p:sp>
    </p:spTree>
    <p:extLst>
      <p:ext uri="{BB962C8B-B14F-4D97-AF65-F5344CB8AC3E}">
        <p14:creationId xmlns:p14="http://schemas.microsoft.com/office/powerpoint/2010/main" val="286596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For the numeric</a:t>
            </a:r>
            <a:r>
              <a:rPr lang="en-GB" baseline="0" dirty="0" smtClean="0"/>
              <a:t> interval data it is also possible to measure </a:t>
            </a:r>
            <a:r>
              <a:rPr lang="en-GB" baseline="0" smtClean="0"/>
              <a:t>central tendency </a:t>
            </a:r>
            <a:endParaRPr lang="en-GB" dirty="0"/>
          </a:p>
        </p:txBody>
      </p:sp>
      <p:sp>
        <p:nvSpPr>
          <p:cNvPr id="4" name="Slide Number Placeholder 3"/>
          <p:cNvSpPr>
            <a:spLocks noGrp="1"/>
          </p:cNvSpPr>
          <p:nvPr>
            <p:ph type="sldNum" sz="quarter" idx="10"/>
          </p:nvPr>
        </p:nvSpPr>
        <p:spPr/>
        <p:txBody>
          <a:bodyPr/>
          <a:lstStyle/>
          <a:p>
            <a:fld id="{3DC4BB46-B347-4112-97FB-3F25EDEA9D7B}" type="slidenum">
              <a:rPr lang="en-GB" smtClean="0"/>
              <a:t>16</a:t>
            </a:fld>
            <a:endParaRPr lang="en-GB"/>
          </a:p>
        </p:txBody>
      </p:sp>
    </p:spTree>
    <p:extLst>
      <p:ext uri="{BB962C8B-B14F-4D97-AF65-F5344CB8AC3E}">
        <p14:creationId xmlns:p14="http://schemas.microsoft.com/office/powerpoint/2010/main" val="3261653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will</a:t>
            </a:r>
            <a:r>
              <a:rPr lang="en-GB" baseline="0" dirty="0"/>
              <a:t> produce visual outputs for the data to both identify and variables that are redundancy or irrelevant and secondly to identify any data that may need cleaning i.e. because the data is incomplete, noisy or inconsistent. </a:t>
            </a:r>
          </a:p>
          <a:p>
            <a:r>
              <a:rPr lang="en-GB" baseline="0" dirty="0"/>
              <a:t>For example if you plot store type against- square footage as would be expected there is a correlation, i.e. larger stores are supercentres while smaller stores are supermarkets. However arguable the data is inconsistent as two of the stores under 50,000 square feet are classified as supercentres and two as superstores. Suggesting either the store type of store size has been misreported. Indeed when you look at the stores with the potentially inconsistent data a store with a square footage of 39 thousand square feet has been classified as a supercentre where stores of the exact same size have been classified supermarkets- so this would be corrected. Due to the error also being in classifying the stores square footage rather than store type would be used in the predictive model (to prevent redundancy). </a:t>
            </a:r>
            <a:endParaRPr lang="en-GB" dirty="0"/>
          </a:p>
          <a:p>
            <a:endParaRPr lang="en-GB" dirty="0"/>
          </a:p>
          <a:p>
            <a:r>
              <a:rPr lang="en-GB" dirty="0"/>
              <a:t>As you can see from the above graph some departments</a:t>
            </a:r>
            <a:r>
              <a:rPr lang="en-GB" baseline="0" dirty="0"/>
              <a:t> do not exist. Maybe they have been discontinued before the begging of the analysis period. The departments that do not exist in any of the stores will be removed from the analysis, as obviously you cannot predict sales for a store that does not exist. Departments which only exist in 10% of stores will be further investigated and removed from analysis unless an obvious reason is found, i.e. store 34 is the only one to have department 65, </a:t>
            </a:r>
            <a:endParaRPr lang="en-GB" dirty="0"/>
          </a:p>
          <a:p>
            <a:endParaRPr lang="en-GB" dirty="0"/>
          </a:p>
        </p:txBody>
      </p:sp>
      <p:sp>
        <p:nvSpPr>
          <p:cNvPr id="4" name="Slide Number Placeholder 3"/>
          <p:cNvSpPr>
            <a:spLocks noGrp="1"/>
          </p:cNvSpPr>
          <p:nvPr>
            <p:ph type="sldNum" sz="quarter" idx="10"/>
          </p:nvPr>
        </p:nvSpPr>
        <p:spPr/>
        <p:txBody>
          <a:bodyPr/>
          <a:lstStyle/>
          <a:p>
            <a:fld id="{3DC4BB46-B347-4112-97FB-3F25EDEA9D7B}" type="slidenum">
              <a:rPr lang="en-GB" smtClean="0"/>
              <a:t>18</a:t>
            </a:fld>
            <a:endParaRPr lang="en-GB"/>
          </a:p>
        </p:txBody>
      </p:sp>
    </p:spTree>
    <p:extLst>
      <p:ext uri="{BB962C8B-B14F-4D97-AF65-F5344CB8AC3E}">
        <p14:creationId xmlns:p14="http://schemas.microsoft.com/office/powerpoint/2010/main" val="2233734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will</a:t>
            </a:r>
            <a:r>
              <a:rPr lang="en-GB" baseline="0" dirty="0"/>
              <a:t> produce visual outputs for the data to both identify and variables that are redundancy or irrelevant and secondly to identify any data that may need cleaning i.e. because the data is incomplete, noisy or inconsistent. </a:t>
            </a:r>
          </a:p>
          <a:p>
            <a:r>
              <a:rPr lang="en-GB" baseline="0" dirty="0"/>
              <a:t>For example if you plot store type against- square footage as would be expected there is a correlation, i.e. larger stores are supercentres while smaller stores are supermarkets. However arguable the data is inconsistent as two of the stores under 50,000 square feet are classified as supercentres and two as superstores. Suggesting either the store type of store size has been misreported. Indeed when you look at the stores with the potentially inconsistent data a store with a square footage of 39 thousand square feet has been classified as a supercentre where stores of the exact same size have been classified supermarkets- so this would be corrected. Due to the error also being in classifying the stores square footage rather than store type would be used in the predictive model (to prevent redundancy). </a:t>
            </a:r>
            <a:endParaRPr lang="en-GB" dirty="0"/>
          </a:p>
          <a:p>
            <a:endParaRPr lang="en-GB" dirty="0"/>
          </a:p>
          <a:p>
            <a:r>
              <a:rPr lang="en-GB" dirty="0"/>
              <a:t>As you can see from the above graph some departments</a:t>
            </a:r>
            <a:r>
              <a:rPr lang="en-GB" baseline="0" dirty="0"/>
              <a:t> do not exist. Maybe they have been discontinued before the begging of the analysis period. The departments that do not exist in any of the stores will be removed from the analysis, as obviously you cannot predict sales for a store that does not exist. Departments which only exist in 10% of stores will be further investigated and removed from analysis unless an obvious reason is found, i.e. store 34 is the only one to have department 65, </a:t>
            </a:r>
            <a:endParaRPr lang="en-GB" dirty="0"/>
          </a:p>
          <a:p>
            <a:endParaRPr lang="en-GB" dirty="0"/>
          </a:p>
        </p:txBody>
      </p:sp>
      <p:sp>
        <p:nvSpPr>
          <p:cNvPr id="4" name="Slide Number Placeholder 3"/>
          <p:cNvSpPr>
            <a:spLocks noGrp="1"/>
          </p:cNvSpPr>
          <p:nvPr>
            <p:ph type="sldNum" sz="quarter" idx="10"/>
          </p:nvPr>
        </p:nvSpPr>
        <p:spPr/>
        <p:txBody>
          <a:bodyPr/>
          <a:lstStyle/>
          <a:p>
            <a:fld id="{3DC4BB46-B347-4112-97FB-3F25EDEA9D7B}" type="slidenum">
              <a:rPr lang="en-GB" smtClean="0"/>
              <a:t>19</a:t>
            </a:fld>
            <a:endParaRPr lang="en-GB"/>
          </a:p>
        </p:txBody>
      </p:sp>
    </p:spTree>
    <p:extLst>
      <p:ext uri="{BB962C8B-B14F-4D97-AF65-F5344CB8AC3E}">
        <p14:creationId xmlns:p14="http://schemas.microsoft.com/office/powerpoint/2010/main" val="29622787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http://support.sas.com/documentation/cdl/en/statug/66859/HTML/default/viewer.htm#statug_distance_gettingstarted01.htm</a:t>
            </a:r>
            <a:endParaRPr lang="en-GB" dirty="0"/>
          </a:p>
        </p:txBody>
      </p:sp>
      <p:sp>
        <p:nvSpPr>
          <p:cNvPr id="4" name="Slide Number Placeholder 3"/>
          <p:cNvSpPr>
            <a:spLocks noGrp="1"/>
          </p:cNvSpPr>
          <p:nvPr>
            <p:ph type="sldNum" sz="quarter" idx="10"/>
          </p:nvPr>
        </p:nvSpPr>
        <p:spPr/>
        <p:txBody>
          <a:bodyPr/>
          <a:lstStyle/>
          <a:p>
            <a:fld id="{3DC4BB46-B347-4112-97FB-3F25EDEA9D7B}" type="slidenum">
              <a:rPr lang="en-GB" smtClean="0"/>
              <a:t>21</a:t>
            </a:fld>
            <a:endParaRPr lang="en-GB"/>
          </a:p>
        </p:txBody>
      </p:sp>
    </p:spTree>
    <p:extLst>
      <p:ext uri="{BB962C8B-B14F-4D97-AF65-F5344CB8AC3E}">
        <p14:creationId xmlns:p14="http://schemas.microsoft.com/office/powerpoint/2010/main" val="221136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DC4BB46-B347-4112-97FB-3F25EDEA9D7B}" type="slidenum">
              <a:rPr lang="en-GB" smtClean="0"/>
              <a:t>22</a:t>
            </a:fld>
            <a:endParaRPr lang="en-GB"/>
          </a:p>
        </p:txBody>
      </p:sp>
    </p:spTree>
    <p:extLst>
      <p:ext uri="{BB962C8B-B14F-4D97-AF65-F5344CB8AC3E}">
        <p14:creationId xmlns:p14="http://schemas.microsoft.com/office/powerpoint/2010/main" val="19991618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10"/>
          </p:nvPr>
        </p:nvSpPr>
        <p:spPr/>
        <p:txBody>
          <a:bodyPr/>
          <a:lstStyle/>
          <a:p>
            <a:fld id="{3DC4BB46-B347-4112-97FB-3F25EDEA9D7B}" type="slidenum">
              <a:rPr lang="en-GB" smtClean="0"/>
              <a:t>28</a:t>
            </a:fld>
            <a:endParaRPr lang="en-GB"/>
          </a:p>
        </p:txBody>
      </p:sp>
    </p:spTree>
    <p:extLst>
      <p:ext uri="{BB962C8B-B14F-4D97-AF65-F5344CB8AC3E}">
        <p14:creationId xmlns:p14="http://schemas.microsoft.com/office/powerpoint/2010/main" val="11566734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Example </a:t>
            </a:r>
            <a:r>
              <a:rPr lang="en-GB" dirty="0" err="1"/>
              <a:t>correlogram</a:t>
            </a:r>
            <a:r>
              <a:rPr lang="en-GB" dirty="0"/>
              <a:t> or correlation matrix</a:t>
            </a:r>
          </a:p>
          <a:p>
            <a:endParaRPr lang="en-US" dirty="0"/>
          </a:p>
        </p:txBody>
      </p:sp>
      <p:sp>
        <p:nvSpPr>
          <p:cNvPr id="4" name="Slide Number Placeholder 3"/>
          <p:cNvSpPr>
            <a:spLocks noGrp="1"/>
          </p:cNvSpPr>
          <p:nvPr>
            <p:ph type="sldNum" sz="quarter" idx="10"/>
          </p:nvPr>
        </p:nvSpPr>
        <p:spPr/>
        <p:txBody>
          <a:bodyPr/>
          <a:lstStyle/>
          <a:p>
            <a:fld id="{3DC4BB46-B347-4112-97FB-3F25EDEA9D7B}" type="slidenum">
              <a:rPr lang="en-GB" smtClean="0"/>
              <a:t>38</a:t>
            </a:fld>
            <a:endParaRPr lang="en-GB"/>
          </a:p>
        </p:txBody>
      </p:sp>
    </p:spTree>
    <p:extLst>
      <p:ext uri="{BB962C8B-B14F-4D97-AF65-F5344CB8AC3E}">
        <p14:creationId xmlns:p14="http://schemas.microsoft.com/office/powerpoint/2010/main" val="40221129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Diagnostic testing to ensure model assumptions are being met</a:t>
            </a:r>
          </a:p>
          <a:p>
            <a:endParaRPr lang="en-US" dirty="0"/>
          </a:p>
        </p:txBody>
      </p:sp>
      <p:sp>
        <p:nvSpPr>
          <p:cNvPr id="4" name="Slide Number Placeholder 3"/>
          <p:cNvSpPr>
            <a:spLocks noGrp="1"/>
          </p:cNvSpPr>
          <p:nvPr>
            <p:ph type="sldNum" sz="quarter" idx="10"/>
          </p:nvPr>
        </p:nvSpPr>
        <p:spPr/>
        <p:txBody>
          <a:bodyPr/>
          <a:lstStyle/>
          <a:p>
            <a:fld id="{3DC4BB46-B347-4112-97FB-3F25EDEA9D7B}" type="slidenum">
              <a:rPr lang="en-GB" smtClean="0"/>
              <a:t>40</a:t>
            </a:fld>
            <a:endParaRPr lang="en-GB"/>
          </a:p>
        </p:txBody>
      </p:sp>
    </p:spTree>
    <p:extLst>
      <p:ext uri="{BB962C8B-B14F-4D97-AF65-F5344CB8AC3E}">
        <p14:creationId xmlns:p14="http://schemas.microsoft.com/office/powerpoint/2010/main" val="3996285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ight Triangle 6"/>
          <p:cNvSpPr/>
          <p:nvPr/>
        </p:nvSpPr>
        <p:spPr>
          <a:xfrm>
            <a:off x="1" y="2647950"/>
            <a:ext cx="4762500"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spcBef>
                <a:spcPts val="0"/>
              </a:spcBef>
              <a:spcAft>
                <a:spcPts val="0"/>
              </a:spcAft>
            </a:pPr>
            <a:endParaRPr lang="en-US" sz="1800">
              <a:solidFill>
                <a:srgbClr val="FFFFFF"/>
              </a:solidFill>
            </a:endParaRPr>
          </a:p>
        </p:txBody>
      </p:sp>
      <p:sp>
        <p:nvSpPr>
          <p:cNvPr id="8" name="Freeform 7"/>
          <p:cNvSpPr/>
          <p:nvPr/>
        </p:nvSpPr>
        <p:spPr>
          <a:xfrm>
            <a:off x="-3173" y="-925"/>
            <a:ext cx="12195173"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spcBef>
                <a:spcPts val="0"/>
              </a:spcBef>
              <a:spcAft>
                <a:spcPts val="0"/>
              </a:spcAft>
            </a:pPr>
            <a:endParaRPr lang="en-US" sz="1800">
              <a:solidFill>
                <a:srgbClr val="FFFFFF"/>
              </a:solidFill>
            </a:endParaRPr>
          </a:p>
        </p:txBody>
      </p:sp>
      <p:sp>
        <p:nvSpPr>
          <p:cNvPr id="2" name="Title 1"/>
          <p:cNvSpPr>
            <a:spLocks noGrp="1"/>
          </p:cNvSpPr>
          <p:nvPr>
            <p:ph type="ctrTitle"/>
          </p:nvPr>
        </p:nvSpPr>
        <p:spPr>
          <a:xfrm rot="19140000">
            <a:off x="1089484" y="1730403"/>
            <a:ext cx="7531497" cy="1204306"/>
          </a:xfrm>
        </p:spPr>
        <p:txBody>
          <a:bodyPr bIns="9144" anchor="b"/>
          <a:lstStyle>
            <a:lvl1pPr>
              <a:defRPr sz="3200"/>
            </a:lvl1pPr>
          </a:lstStyle>
          <a:p>
            <a:r>
              <a:rPr lang="en-US"/>
              <a:t>Click to edit Master title style</a:t>
            </a:r>
            <a:endParaRPr lang="en-US" dirty="0"/>
          </a:p>
        </p:txBody>
      </p:sp>
      <p:sp>
        <p:nvSpPr>
          <p:cNvPr id="3" name="Subtitle 2"/>
          <p:cNvSpPr>
            <a:spLocks noGrp="1"/>
          </p:cNvSpPr>
          <p:nvPr>
            <p:ph type="subTitle" idx="1"/>
          </p:nvPr>
        </p:nvSpPr>
        <p:spPr>
          <a:xfrm rot="19140000">
            <a:off x="1616370" y="2470926"/>
            <a:ext cx="8681508"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a:t>Click to edit Master subtitle style</a:t>
            </a:r>
            <a:endParaRPr lang="en-US"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395DC7-4019-4745-BB89-8D597954F5AA}" type="slidenum">
              <a:rPr lang="en-GB" smtClean="0"/>
              <a:t>‹#›</a:t>
            </a:fld>
            <a:endParaRPr lang="en-GB"/>
          </a:p>
        </p:txBody>
      </p:sp>
    </p:spTree>
    <p:extLst>
      <p:ext uri="{BB962C8B-B14F-4D97-AF65-F5344CB8AC3E}">
        <p14:creationId xmlns:p14="http://schemas.microsoft.com/office/powerpoint/2010/main" val="961490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lgn="ctr">
              <a:defRPr b="1" cap="none">
                <a:solidFill>
                  <a:srgbClr val="ED5501"/>
                </a:solidFill>
                <a:latin typeface="Meiryo UI" panose="020B0604030504040204" pitchFamily="34" charset="-128"/>
                <a:ea typeface="Meiryo UI" panose="020B0604030504040204" pitchFamily="34" charset="-128"/>
                <a:cs typeface="Meiryo UI" panose="020B0604030504040204" pitchFamily="34" charset="-128"/>
              </a:defRPr>
            </a:lvl1pPr>
          </a:lstStyle>
          <a:p>
            <a:r>
              <a:rPr lang="en-US" dirty="0"/>
              <a:t>CLICK TO EDIT MASTER TITLE STYLE</a:t>
            </a:r>
          </a:p>
        </p:txBody>
      </p:sp>
      <p:sp>
        <p:nvSpPr>
          <p:cNvPr id="3" name="Content Placeholder 2"/>
          <p:cNvSpPr>
            <a:spLocks noGrp="1"/>
          </p:cNvSpPr>
          <p:nvPr>
            <p:ph idx="1"/>
          </p:nvPr>
        </p:nvSpPr>
        <p:spPr>
          <a:xfrm>
            <a:off x="1097280" y="1100628"/>
            <a:ext cx="10027920" cy="4704636"/>
          </a:xfrm>
        </p:spPr>
        <p:txBody>
          <a:bodyPr/>
          <a:lstStyle>
            <a:lvl1pPr marL="180000" indent="-180000">
              <a:buClr>
                <a:srgbClr val="ED5501"/>
              </a:buClr>
              <a:buFont typeface="Arial" panose="020B0604020202020204" pitchFamily="34" charset="0"/>
              <a:buChar char="•"/>
              <a:defRPr sz="2800" b="0">
                <a:latin typeface="Meiryo UI" panose="020B0604030504040204" pitchFamily="34" charset="-128"/>
                <a:ea typeface="Meiryo UI" panose="020B0604030504040204" pitchFamily="34" charset="-128"/>
                <a:cs typeface="Meiryo UI" panose="020B0604030504040204" pitchFamily="34" charset="-128"/>
              </a:defRPr>
            </a:lvl1pPr>
            <a:lvl2pPr>
              <a:defRPr>
                <a:latin typeface="Meiryo UI" panose="020B0604030504040204" pitchFamily="34" charset="-128"/>
                <a:ea typeface="Meiryo UI" panose="020B0604030504040204" pitchFamily="34" charset="-128"/>
                <a:cs typeface="Meiryo UI" panose="020B0604030504040204" pitchFamily="34" charset="-128"/>
              </a:defRPr>
            </a:lvl2pPr>
            <a:lvl3pPr marL="402336" indent="-164592">
              <a:buFont typeface="Arial" panose="020B0604020202020204" pitchFamily="34" charset="0"/>
              <a:buChar char="•"/>
              <a:defRPr sz="2400">
                <a:latin typeface="Meiryo UI" panose="020B0604030504040204" pitchFamily="34" charset="-128"/>
                <a:ea typeface="Meiryo UI" panose="020B0604030504040204" pitchFamily="34" charset="-128"/>
                <a:cs typeface="Meiryo UI" panose="020B0604030504040204" pitchFamily="34" charset="-128"/>
              </a:defRPr>
            </a:lvl3pPr>
            <a:lvl4pPr marL="630936" indent="-164592">
              <a:buFont typeface="Arial" panose="020B0604020202020204" pitchFamily="34" charset="0"/>
              <a:buChar char="•"/>
              <a:defRPr sz="2000">
                <a:latin typeface="Meiryo UI" panose="020B0604030504040204" pitchFamily="34" charset="-128"/>
                <a:ea typeface="Meiryo UI" panose="020B0604030504040204" pitchFamily="34" charset="-128"/>
                <a:cs typeface="Meiryo UI" panose="020B0604030504040204" pitchFamily="34" charset="-128"/>
              </a:defRPr>
            </a:lvl4pPr>
            <a:lvl5pPr marL="859536" indent="-173736">
              <a:buFont typeface="Arial" panose="020B0604020202020204" pitchFamily="34" charset="0"/>
              <a:buChar char="•"/>
              <a:defRPr sz="1800">
                <a:latin typeface="Meiryo UI" panose="020B0604030504040204" pitchFamily="34" charset="-128"/>
                <a:ea typeface="Meiryo UI" panose="020B0604030504040204" pitchFamily="34" charset="-128"/>
                <a:cs typeface="Meiryo UI" panose="020B0604030504040204" pitchFamily="34" charset="-128"/>
              </a:defRPr>
            </a:lvl5pPr>
            <a:lvl6pPr marL="1097280" indent="-173736">
              <a:buFont typeface="Arial" panose="020B0604020202020204" pitchFamily="34" charset="0"/>
              <a:buChar char="•"/>
              <a:defRPr sz="16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395DC7-4019-4745-BB89-8D597954F5AA}" type="slidenum">
              <a:rPr lang="en-GB" smtClean="0"/>
              <a:t>‹#›</a:t>
            </a:fld>
            <a:endParaRPr lang="en-GB"/>
          </a:p>
        </p:txBody>
      </p:sp>
    </p:spTree>
    <p:extLst>
      <p:ext uri="{BB962C8B-B14F-4D97-AF65-F5344CB8AC3E}">
        <p14:creationId xmlns:p14="http://schemas.microsoft.com/office/powerpoint/2010/main" val="364741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Freeform 7"/>
          <p:cNvSpPr/>
          <p:nvPr/>
        </p:nvSpPr>
        <p:spPr>
          <a:xfrm>
            <a:off x="-3173" y="-925"/>
            <a:ext cx="12195173"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spcBef>
                <a:spcPts val="0"/>
              </a:spcBef>
              <a:spcAft>
                <a:spcPts val="0"/>
              </a:spcAft>
            </a:pPr>
            <a:endParaRPr lang="en-US" sz="1800">
              <a:solidFill>
                <a:srgbClr val="FFFFFF"/>
              </a:solidFill>
            </a:endParaRPr>
          </a:p>
        </p:txBody>
      </p:sp>
      <p:sp>
        <p:nvSpPr>
          <p:cNvPr id="7" name="Right Triangle 6"/>
          <p:cNvSpPr/>
          <p:nvPr/>
        </p:nvSpPr>
        <p:spPr>
          <a:xfrm>
            <a:off x="1" y="2647950"/>
            <a:ext cx="4762500"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spcBef>
                <a:spcPts val="0"/>
              </a:spcBef>
              <a:spcAft>
                <a:spcPts val="0"/>
              </a:spcAft>
            </a:pPr>
            <a:endParaRPr lang="en-US" sz="1800">
              <a:solidFill>
                <a:srgbClr val="FFFFFF"/>
              </a:solidFill>
            </a:endParaRPr>
          </a:p>
        </p:txBody>
      </p:sp>
      <p:sp>
        <p:nvSpPr>
          <p:cNvPr id="2" name="Title 1"/>
          <p:cNvSpPr>
            <a:spLocks noGrp="1"/>
          </p:cNvSpPr>
          <p:nvPr>
            <p:ph type="title"/>
          </p:nvPr>
        </p:nvSpPr>
        <p:spPr>
          <a:xfrm rot="19140000">
            <a:off x="1092532" y="1726738"/>
            <a:ext cx="7534656"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title style</a:t>
            </a:r>
            <a:endParaRPr lang="en-US" dirty="0"/>
          </a:p>
        </p:txBody>
      </p:sp>
      <p:sp>
        <p:nvSpPr>
          <p:cNvPr id="3" name="Text Placeholder 2"/>
          <p:cNvSpPr>
            <a:spLocks noGrp="1"/>
          </p:cNvSpPr>
          <p:nvPr>
            <p:ph type="body" idx="1"/>
          </p:nvPr>
        </p:nvSpPr>
        <p:spPr>
          <a:xfrm rot="19140000">
            <a:off x="1621536" y="2468304"/>
            <a:ext cx="8680704"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a:t>Click to edit Master text styles</a:t>
            </a:r>
          </a:p>
        </p:txBody>
      </p:sp>
      <p:sp>
        <p:nvSpPr>
          <p:cNvPr id="4" name="Date Placeholder 3"/>
          <p:cNvSpPr>
            <a:spLocks noGrp="1"/>
          </p:cNvSpPr>
          <p:nvPr>
            <p:ph type="dt" sz="half" idx="10"/>
          </p:nvPr>
        </p:nvSpPr>
        <p:spPr>
          <a:xfrm rot="19140000">
            <a:off x="259488" y="5958698"/>
            <a:ext cx="2901696" cy="201168"/>
          </a:xfrm>
          <a:prstGeom prst="rect">
            <a:avLst/>
          </a:prstGeom>
        </p:spPr>
        <p:txBody>
          <a:bodyPr/>
          <a:lstStyle/>
          <a:p>
            <a:fld id="{5F7AFE55-E4D1-499F-9AAE-3894E932AFF4}" type="datetimeFigureOut">
              <a:rPr lang="en-GB" smtClean="0"/>
              <a:t>05/02/2018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395DC7-4019-4745-BB89-8D597954F5AA}" type="slidenum">
              <a:rPr lang="en-GB" smtClean="0"/>
              <a:t>‹#›</a:t>
            </a:fld>
            <a:endParaRPr lang="en-GB"/>
          </a:p>
        </p:txBody>
      </p:sp>
    </p:spTree>
    <p:extLst>
      <p:ext uri="{BB962C8B-B14F-4D97-AF65-F5344CB8AC3E}">
        <p14:creationId xmlns:p14="http://schemas.microsoft.com/office/powerpoint/2010/main" val="3152763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7280" y="1097280"/>
            <a:ext cx="4267200" cy="47799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6688" y="1097280"/>
            <a:ext cx="4267200" cy="47799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B395DC7-4019-4745-BB89-8D597954F5AA}" type="slidenum">
              <a:rPr lang="en-GB" smtClean="0"/>
              <a:t>‹#›</a:t>
            </a:fld>
            <a:endParaRPr lang="en-GB"/>
          </a:p>
        </p:txBody>
      </p:sp>
      <p:sp>
        <p:nvSpPr>
          <p:cNvPr id="8" name="Title 7"/>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45015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097280" y="1097280"/>
            <a:ext cx="42672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a:t>Click to edit Master text styles</a:t>
            </a:r>
          </a:p>
        </p:txBody>
      </p:sp>
      <p:sp>
        <p:nvSpPr>
          <p:cNvPr id="4" name="Content Placeholder 3"/>
          <p:cNvSpPr>
            <a:spLocks noGrp="1"/>
          </p:cNvSpPr>
          <p:nvPr>
            <p:ph sz="half" idx="2"/>
          </p:nvPr>
        </p:nvSpPr>
        <p:spPr>
          <a:xfrm>
            <a:off x="1092200" y="1701848"/>
            <a:ext cx="4267200" cy="417542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6688" y="1097280"/>
            <a:ext cx="42672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a:t>Click to edit Master text styles</a:t>
            </a:r>
          </a:p>
        </p:txBody>
      </p:sp>
      <p:sp>
        <p:nvSpPr>
          <p:cNvPr id="6" name="Content Placeholder 5"/>
          <p:cNvSpPr>
            <a:spLocks noGrp="1"/>
          </p:cNvSpPr>
          <p:nvPr>
            <p:ph sz="quarter" idx="4"/>
          </p:nvPr>
        </p:nvSpPr>
        <p:spPr>
          <a:xfrm>
            <a:off x="6266688" y="1701848"/>
            <a:ext cx="4267200" cy="417542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B395DC7-4019-4745-BB89-8D597954F5AA}" type="slidenum">
              <a:rPr lang="en-GB" smtClean="0"/>
              <a:t>‹#›</a:t>
            </a:fld>
            <a:endParaRPr lang="en-GB"/>
          </a:p>
        </p:txBody>
      </p:sp>
    </p:spTree>
    <p:extLst>
      <p:ext uri="{BB962C8B-B14F-4D97-AF65-F5344CB8AC3E}">
        <p14:creationId xmlns:p14="http://schemas.microsoft.com/office/powerpoint/2010/main" val="1308765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B395DC7-4019-4745-BB89-8D597954F5AA}" type="slidenum">
              <a:rPr lang="en-GB" smtClean="0"/>
              <a:t>‹#›</a:t>
            </a:fld>
            <a:endParaRPr lang="en-GB"/>
          </a:p>
        </p:txBody>
      </p:sp>
    </p:spTree>
    <p:extLst>
      <p:ext uri="{BB962C8B-B14F-4D97-AF65-F5344CB8AC3E}">
        <p14:creationId xmlns:p14="http://schemas.microsoft.com/office/powerpoint/2010/main" val="2275985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rot="19140000">
            <a:off x="259488" y="5958698"/>
            <a:ext cx="2901696" cy="201168"/>
          </a:xfrm>
          <a:prstGeom prst="rect">
            <a:avLst/>
          </a:prstGeom>
        </p:spPr>
        <p:txBody>
          <a:bodyPr/>
          <a:lstStyle/>
          <a:p>
            <a:fld id="{5F7AFE55-E4D1-499F-9AAE-3894E932AFF4}" type="datetimeFigureOut">
              <a:rPr lang="en-GB" smtClean="0"/>
              <a:t>05/02/2018</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B395DC7-4019-4745-BB89-8D597954F5AA}" type="slidenum">
              <a:rPr lang="en-GB" smtClean="0"/>
              <a:t>‹#›</a:t>
            </a:fld>
            <a:endParaRPr lang="en-GB"/>
          </a:p>
        </p:txBody>
      </p:sp>
    </p:spTree>
    <p:extLst>
      <p:ext uri="{BB962C8B-B14F-4D97-AF65-F5344CB8AC3E}">
        <p14:creationId xmlns:p14="http://schemas.microsoft.com/office/powerpoint/2010/main" val="2525358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Right Triangle 16"/>
          <p:cNvSpPr/>
          <p:nvPr/>
        </p:nvSpPr>
        <p:spPr>
          <a:xfrm>
            <a:off x="1" y="2647950"/>
            <a:ext cx="4762500"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spcBef>
                <a:spcPts val="0"/>
              </a:spcBef>
              <a:spcAft>
                <a:spcPts val="0"/>
              </a:spcAft>
            </a:pPr>
            <a:endParaRPr lang="en-US" sz="1800">
              <a:solidFill>
                <a:srgbClr val="FFFFFF"/>
              </a:solidFill>
            </a:endParaRPr>
          </a:p>
        </p:txBody>
      </p:sp>
      <p:sp>
        <p:nvSpPr>
          <p:cNvPr id="18" name="Right Triangle 17"/>
          <p:cNvSpPr/>
          <p:nvPr/>
        </p:nvSpPr>
        <p:spPr>
          <a:xfrm rot="5400000">
            <a:off x="1720852" y="-1720850"/>
            <a:ext cx="6858000" cy="10299704"/>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spcBef>
                <a:spcPts val="0"/>
              </a:spcBef>
              <a:spcAft>
                <a:spcPts val="0"/>
              </a:spcAft>
            </a:pPr>
            <a:endParaRPr lang="en-US" sz="1800">
              <a:solidFill>
                <a:srgbClr val="FFFFFF"/>
              </a:solidFill>
            </a:endParaRPr>
          </a:p>
        </p:txBody>
      </p:sp>
      <p:sp>
        <p:nvSpPr>
          <p:cNvPr id="2" name="Title 1"/>
          <p:cNvSpPr>
            <a:spLocks noGrp="1"/>
          </p:cNvSpPr>
          <p:nvPr>
            <p:ph type="title"/>
          </p:nvPr>
        </p:nvSpPr>
        <p:spPr>
          <a:xfrm rot="19140000">
            <a:off x="1046573" y="1576104"/>
            <a:ext cx="694944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title style</a:t>
            </a:r>
            <a:endParaRPr lang="en-US" dirty="0"/>
          </a:p>
        </p:txBody>
      </p:sp>
      <p:sp>
        <p:nvSpPr>
          <p:cNvPr id="3" name="Content Placeholder 2"/>
          <p:cNvSpPr>
            <a:spLocks noGrp="1"/>
          </p:cNvSpPr>
          <p:nvPr>
            <p:ph idx="1"/>
          </p:nvPr>
        </p:nvSpPr>
        <p:spPr>
          <a:xfrm>
            <a:off x="6332737" y="2618913"/>
            <a:ext cx="507703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rot="19140000">
            <a:off x="1730605" y="2253385"/>
            <a:ext cx="7726347"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en-US"/>
              <a:t>Click to edit Master text styles</a:t>
            </a:r>
          </a:p>
        </p:txBody>
      </p:sp>
      <p:sp>
        <p:nvSpPr>
          <p:cNvPr id="5" name="Date Placeholder 4"/>
          <p:cNvSpPr>
            <a:spLocks noGrp="1"/>
          </p:cNvSpPr>
          <p:nvPr>
            <p:ph type="dt" sz="half" idx="10"/>
          </p:nvPr>
        </p:nvSpPr>
        <p:spPr>
          <a:xfrm rot="19140000">
            <a:off x="259488" y="5958698"/>
            <a:ext cx="2901696" cy="201168"/>
          </a:xfrm>
          <a:prstGeom prst="rect">
            <a:avLst/>
          </a:prstGeom>
        </p:spPr>
        <p:txBody>
          <a:bodyPr/>
          <a:lstStyle/>
          <a:p>
            <a:fld id="{5F7AFE55-E4D1-499F-9AAE-3894E932AFF4}" type="datetimeFigureOut">
              <a:rPr lang="en-GB" smtClean="0"/>
              <a:t>05/02/2018</a:t>
            </a:fld>
            <a:endParaRPr lang="en-GB"/>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GB"/>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6B395DC7-4019-4745-BB89-8D597954F5AA}" type="slidenum">
              <a:rPr lang="en-GB" smtClean="0"/>
              <a:t>‹#›</a:t>
            </a:fld>
            <a:endParaRPr lang="en-GB"/>
          </a:p>
        </p:txBody>
      </p:sp>
    </p:spTree>
    <p:extLst>
      <p:ext uri="{BB962C8B-B14F-4D97-AF65-F5344CB8AC3E}">
        <p14:creationId xmlns:p14="http://schemas.microsoft.com/office/powerpoint/2010/main" val="492004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705101" y="0"/>
            <a:ext cx="9486900"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en-US"/>
              <a:t>Click icon to add picture</a:t>
            </a:r>
            <a:endParaRPr lang="en-US" dirty="0"/>
          </a:p>
        </p:txBody>
      </p:sp>
      <p:sp>
        <p:nvSpPr>
          <p:cNvPr id="9" name="Right Triangle 8"/>
          <p:cNvSpPr/>
          <p:nvPr/>
        </p:nvSpPr>
        <p:spPr>
          <a:xfrm>
            <a:off x="1" y="2647950"/>
            <a:ext cx="4762500"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spcBef>
                <a:spcPts val="0"/>
              </a:spcBef>
              <a:spcAft>
                <a:spcPts val="0"/>
              </a:spcAft>
            </a:pPr>
            <a:endParaRPr lang="en-US" sz="1800">
              <a:solidFill>
                <a:srgbClr val="FFFFFF"/>
              </a:solidFill>
            </a:endParaRPr>
          </a:p>
        </p:txBody>
      </p:sp>
      <p:sp>
        <p:nvSpPr>
          <p:cNvPr id="10" name="Freeform 9"/>
          <p:cNvSpPr/>
          <p:nvPr/>
        </p:nvSpPr>
        <p:spPr>
          <a:xfrm>
            <a:off x="1" y="5048250"/>
            <a:ext cx="4762500"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spcBef>
                <a:spcPts val="0"/>
              </a:spcBef>
              <a:spcAft>
                <a:spcPts val="0"/>
              </a:spcAft>
            </a:pPr>
            <a:endParaRPr lang="en-US" sz="1800">
              <a:solidFill>
                <a:srgbClr val="FFFFFF"/>
              </a:solidFill>
            </a:endParaRPr>
          </a:p>
        </p:txBody>
      </p:sp>
      <p:sp>
        <p:nvSpPr>
          <p:cNvPr id="2" name="Title 1"/>
          <p:cNvSpPr>
            <a:spLocks noGrp="1"/>
          </p:cNvSpPr>
          <p:nvPr>
            <p:ph type="title"/>
          </p:nvPr>
        </p:nvSpPr>
        <p:spPr>
          <a:xfrm rot="19140000">
            <a:off x="894929" y="1717501"/>
            <a:ext cx="7315200" cy="867444"/>
          </a:xfrm>
        </p:spPr>
        <p:txBody>
          <a:bodyPr anchor="b"/>
          <a:lstStyle>
            <a:lvl1pPr algn="l">
              <a:defRPr sz="2800" b="0">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rot="19140000">
            <a:off x="1524639" y="2180529"/>
            <a:ext cx="8128727"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rot="19140000">
            <a:off x="259488" y="5958698"/>
            <a:ext cx="2901696" cy="201168"/>
          </a:xfrm>
          <a:prstGeom prst="rect">
            <a:avLst/>
          </a:prstGeom>
        </p:spPr>
        <p:txBody>
          <a:bodyPr/>
          <a:lstStyle/>
          <a:p>
            <a:fld id="{5F7AFE55-E4D1-499F-9AAE-3894E932AFF4}" type="datetimeFigureOut">
              <a:rPr lang="en-GB" smtClean="0"/>
              <a:t>05/02/2018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B395DC7-4019-4745-BB89-8D597954F5AA}" type="slidenum">
              <a:rPr lang="en-GB" smtClean="0"/>
              <a:t>‹#›</a:t>
            </a:fld>
            <a:endParaRPr lang="en-GB"/>
          </a:p>
        </p:txBody>
      </p:sp>
    </p:spTree>
    <p:extLst>
      <p:ext uri="{BB962C8B-B14F-4D97-AF65-F5344CB8AC3E}">
        <p14:creationId xmlns:p14="http://schemas.microsoft.com/office/powerpoint/2010/main" val="3501523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rot="19140000">
            <a:off x="259488" y="5958698"/>
            <a:ext cx="2901696" cy="201168"/>
          </a:xfrm>
          <a:prstGeom prst="rect">
            <a:avLst/>
          </a:prstGeom>
        </p:spPr>
        <p:txBody>
          <a:bodyPr/>
          <a:lstStyle/>
          <a:p>
            <a:fld id="{5F7AFE55-E4D1-499F-9AAE-3894E932AFF4}" type="datetimeFigureOut">
              <a:rPr lang="en-GB" smtClean="0"/>
              <a:t>05/02/2018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395DC7-4019-4745-BB89-8D597954F5AA}" type="slidenum">
              <a:rPr lang="en-GB" smtClean="0"/>
              <a:t>‹#›</a:t>
            </a:fld>
            <a:endParaRPr lang="en-GB"/>
          </a:p>
        </p:txBody>
      </p:sp>
    </p:spTree>
    <p:extLst>
      <p:ext uri="{BB962C8B-B14F-4D97-AF65-F5344CB8AC3E}">
        <p14:creationId xmlns:p14="http://schemas.microsoft.com/office/powerpoint/2010/main" val="976588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46783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39"/>
            <a:ext cx="8026400" cy="46783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rot="19140000">
            <a:off x="259488" y="5958698"/>
            <a:ext cx="2901696" cy="201168"/>
          </a:xfrm>
          <a:prstGeom prst="rect">
            <a:avLst/>
          </a:prstGeom>
        </p:spPr>
        <p:txBody>
          <a:bodyPr/>
          <a:lstStyle/>
          <a:p>
            <a:fld id="{5F7AFE55-E4D1-499F-9AAE-3894E932AFF4}" type="datetimeFigureOut">
              <a:rPr lang="en-GB" smtClean="0"/>
              <a:t>05/02/2018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395DC7-4019-4745-BB89-8D597954F5AA}" type="slidenum">
              <a:rPr lang="en-GB" smtClean="0"/>
              <a:t>‹#›</a:t>
            </a:fld>
            <a:endParaRPr lang="en-GB"/>
          </a:p>
        </p:txBody>
      </p:sp>
    </p:spTree>
    <p:extLst>
      <p:ext uri="{BB962C8B-B14F-4D97-AF65-F5344CB8AC3E}">
        <p14:creationId xmlns:p14="http://schemas.microsoft.com/office/powerpoint/2010/main" val="1058517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asic_blank_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14194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8" name="Shape 8"/>
          <p:cNvSpPr>
            <a:spLocks noGrp="1"/>
          </p:cNvSpPr>
          <p:nvPr>
            <p:ph type="sldNum" sz="quarter" idx="2"/>
          </p:nvPr>
        </p:nvSpPr>
        <p:spPr>
          <a:xfrm>
            <a:off x="8742417" y="6250165"/>
            <a:ext cx="2837968" cy="360416"/>
          </a:xfrm>
          <a:prstGeom prst="rect">
            <a:avLst/>
          </a:prstGeom>
        </p:spPr>
        <p:txBody>
          <a:bodyPr lIns="38394" tIns="19196" rIns="38394" bIns="19196"/>
          <a:lstStyle>
            <a:lvl1pPr>
              <a:tabLst>
                <a:tab pos="303950" algn="l"/>
                <a:tab pos="607900" algn="l"/>
                <a:tab pos="911848" algn="l"/>
              </a:tabLst>
            </a:lvl1pPr>
          </a:lstStyle>
          <a:p>
            <a:fld id="{6B395DC7-4019-4745-BB89-8D597954F5AA}" type="slidenum">
              <a:rPr lang="en-GB" smtClean="0"/>
              <a:t>‹#›</a:t>
            </a:fld>
            <a:endParaRPr lang="en-GB"/>
          </a:p>
        </p:txBody>
      </p:sp>
    </p:spTree>
    <p:extLst>
      <p:ext uri="{BB962C8B-B14F-4D97-AF65-F5344CB8AC3E}">
        <p14:creationId xmlns:p14="http://schemas.microsoft.com/office/powerpoint/2010/main" val="3385836679"/>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Basic_white_header_body">
    <p:spTree>
      <p:nvGrpSpPr>
        <p:cNvPr id="1" name=""/>
        <p:cNvGrpSpPr/>
        <p:nvPr/>
      </p:nvGrpSpPr>
      <p:grpSpPr>
        <a:xfrm>
          <a:off x="0" y="0"/>
          <a:ext cx="0" cy="0"/>
          <a:chOff x="0" y="0"/>
          <a:chExt cx="0" cy="0"/>
        </a:xfrm>
      </p:grpSpPr>
      <p:sp>
        <p:nvSpPr>
          <p:cNvPr id="2" name="Title Placeholder 3"/>
          <p:cNvSpPr>
            <a:spLocks noGrp="1"/>
          </p:cNvSpPr>
          <p:nvPr>
            <p:ph type="title"/>
          </p:nvPr>
        </p:nvSpPr>
        <p:spPr>
          <a:xfrm>
            <a:off x="316211" y="295151"/>
            <a:ext cx="10975821" cy="992208"/>
          </a:xfrm>
          <a:prstGeom prst="rect">
            <a:avLst/>
          </a:prstGeom>
          <a:ln>
            <a:solidFill>
              <a:schemeClr val="bg1"/>
            </a:solidFill>
          </a:ln>
        </p:spPr>
        <p:txBody>
          <a:bodyPr vert="horz" lIns="162617" tIns="81307" rIns="162617" bIns="81307" rtlCol="0" anchor="ctr">
            <a:noAutofit/>
          </a:bodyPr>
          <a:lstStyle>
            <a:lvl1pPr>
              <a:defRPr sz="4300"/>
            </a:lvl1pPr>
          </a:lstStyle>
          <a:p>
            <a:r>
              <a:rPr lang="en-US"/>
              <a:t>Click to edit Master title style</a:t>
            </a:r>
            <a:endParaRPr lang="en-US" dirty="0"/>
          </a:p>
        </p:txBody>
      </p:sp>
      <p:sp>
        <p:nvSpPr>
          <p:cNvPr id="6" name="Text Placeholder 5"/>
          <p:cNvSpPr>
            <a:spLocks noGrp="1"/>
          </p:cNvSpPr>
          <p:nvPr>
            <p:ph type="body" sz="quarter" idx="10" hasCustomPrompt="1"/>
          </p:nvPr>
        </p:nvSpPr>
        <p:spPr>
          <a:xfrm>
            <a:off x="309606" y="1851794"/>
            <a:ext cx="10959025" cy="4106061"/>
          </a:xfrm>
          <a:prstGeom prst="rect">
            <a:avLst/>
          </a:prstGeom>
          <a:ln>
            <a:solidFill>
              <a:schemeClr val="bg1"/>
            </a:solidFill>
          </a:ln>
        </p:spPr>
        <p:txBody>
          <a:bodyPr vert="horz"/>
          <a:lstStyle>
            <a:lvl1pPr marL="0" indent="0">
              <a:buNone/>
              <a:defRPr sz="2800" baseline="0">
                <a:latin typeface="Helvetica Neue"/>
              </a:defRPr>
            </a:lvl1pPr>
          </a:lstStyle>
          <a:p>
            <a:pPr lvl="0"/>
            <a:r>
              <a:rPr lang="en-US" dirty="0"/>
              <a:t>Click to add text</a:t>
            </a:r>
          </a:p>
        </p:txBody>
      </p:sp>
    </p:spTree>
    <p:extLst>
      <p:ext uri="{BB962C8B-B14F-4D97-AF65-F5344CB8AC3E}">
        <p14:creationId xmlns:p14="http://schemas.microsoft.com/office/powerpoint/2010/main" val="22404267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Basic_blank_white">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46044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Intro_blue_header">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3106354" y="2781547"/>
            <a:ext cx="6107997" cy="595089"/>
          </a:xfrm>
          <a:prstGeom prst="rect">
            <a:avLst/>
          </a:prstGeom>
          <a:ln>
            <a:solidFill>
              <a:schemeClr val="bg1"/>
            </a:solidFill>
          </a:ln>
        </p:spPr>
        <p:txBody>
          <a:bodyPr vert="horz" wrap="square" lIns="162617" tIns="81307" rIns="162617" bIns="81307">
            <a:spAutoFit/>
          </a:bodyPr>
          <a:lstStyle>
            <a:lvl1pPr marL="0" indent="0" algn="ctr">
              <a:buNone/>
              <a:defRPr sz="2800" baseline="0">
                <a:ln>
                  <a:noFill/>
                </a:ln>
                <a:solidFill>
                  <a:srgbClr val="00B7FF"/>
                </a:solidFill>
                <a:latin typeface="Helvetica Neue"/>
              </a:defRPr>
            </a:lvl1pPr>
          </a:lstStyle>
          <a:p>
            <a:pPr lvl="0"/>
            <a:r>
              <a:rPr lang="en-US" dirty="0"/>
              <a:t>“ Insert Title Here ”  </a:t>
            </a:r>
          </a:p>
        </p:txBody>
      </p:sp>
    </p:spTree>
    <p:extLst>
      <p:ext uri="{BB962C8B-B14F-4D97-AF65-F5344CB8AC3E}">
        <p14:creationId xmlns:p14="http://schemas.microsoft.com/office/powerpoint/2010/main" val="308411146"/>
      </p:ext>
    </p:extLst>
  </p:cSld>
  <p:clrMapOvr>
    <a:masterClrMapping/>
  </p:clrMapOvr>
  <mc:AlternateContent xmlns:mc="http://schemas.openxmlformats.org/markup-compatibility/2006" xmlns:p14="http://schemas.microsoft.com/office/powerpoint/2010/main">
    <mc:Choice Requires="p14">
      <p:transition p14:dur="400">
        <p:push/>
      </p:transition>
    </mc:Choice>
    <mc:Fallback xmlns="">
      <p:transition xmlns:p14="http://schemas.microsoft.com/office/powerpoint/2010/main">
        <p:push/>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2_Custom Layout">
    <p:spTree>
      <p:nvGrpSpPr>
        <p:cNvPr id="1" name=""/>
        <p:cNvGrpSpPr/>
        <p:nvPr/>
      </p:nvGrpSpPr>
      <p:grpSpPr>
        <a:xfrm>
          <a:off x="0" y="0"/>
          <a:ext cx="0" cy="0"/>
          <a:chOff x="0" y="0"/>
          <a:chExt cx="0" cy="0"/>
        </a:xfrm>
      </p:grpSpPr>
      <p:sp>
        <p:nvSpPr>
          <p:cNvPr id="6" name="Title Placeholder 3"/>
          <p:cNvSpPr>
            <a:spLocks noGrp="1"/>
          </p:cNvSpPr>
          <p:nvPr>
            <p:ph type="title"/>
          </p:nvPr>
        </p:nvSpPr>
        <p:spPr>
          <a:xfrm>
            <a:off x="316212" y="295151"/>
            <a:ext cx="7416261" cy="992208"/>
          </a:xfrm>
          <a:prstGeom prst="rect">
            <a:avLst/>
          </a:prstGeom>
          <a:ln>
            <a:solidFill>
              <a:schemeClr val="bg1"/>
            </a:solidFill>
          </a:ln>
        </p:spPr>
        <p:txBody>
          <a:bodyPr vert="horz" lIns="162617" tIns="81307" rIns="162617" bIns="81307" rtlCol="0" anchor="ctr">
            <a:noAutofit/>
          </a:bodyPr>
          <a:lstStyle>
            <a:lvl1pPr>
              <a:defRPr sz="4300"/>
            </a:lvl1pPr>
          </a:lstStyle>
          <a:p>
            <a:r>
              <a:rPr lang="en-US"/>
              <a:t>Click to edit Master title style</a:t>
            </a:r>
            <a:endParaRPr lang="en-US" dirty="0"/>
          </a:p>
        </p:txBody>
      </p:sp>
      <p:sp>
        <p:nvSpPr>
          <p:cNvPr id="7" name="Text Placeholder 5"/>
          <p:cNvSpPr>
            <a:spLocks noGrp="1"/>
          </p:cNvSpPr>
          <p:nvPr>
            <p:ph type="body" sz="quarter" idx="10" hasCustomPrompt="1"/>
          </p:nvPr>
        </p:nvSpPr>
        <p:spPr>
          <a:xfrm>
            <a:off x="309606" y="1851794"/>
            <a:ext cx="7836009" cy="4106061"/>
          </a:xfrm>
          <a:prstGeom prst="rect">
            <a:avLst/>
          </a:prstGeom>
          <a:ln>
            <a:solidFill>
              <a:schemeClr val="bg1"/>
            </a:solidFill>
          </a:ln>
        </p:spPr>
        <p:txBody>
          <a:bodyPr vert="horz"/>
          <a:lstStyle>
            <a:lvl1pPr marL="0" indent="0">
              <a:buNone/>
              <a:defRPr sz="2800" baseline="0">
                <a:latin typeface="Helvetica Neue"/>
              </a:defRPr>
            </a:lvl1pPr>
          </a:lstStyle>
          <a:p>
            <a:pPr lvl="0"/>
            <a:r>
              <a:rPr lang="en-US" dirty="0"/>
              <a:t>Click to add text</a:t>
            </a:r>
          </a:p>
        </p:txBody>
      </p:sp>
    </p:spTree>
    <p:extLst>
      <p:ext uri="{BB962C8B-B14F-4D97-AF65-F5344CB8AC3E}">
        <p14:creationId xmlns:p14="http://schemas.microsoft.com/office/powerpoint/2010/main" val="32886547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4" name="Title Placeholder 3"/>
          <p:cNvSpPr>
            <a:spLocks noGrp="1"/>
          </p:cNvSpPr>
          <p:nvPr>
            <p:ph type="title"/>
          </p:nvPr>
        </p:nvSpPr>
        <p:spPr>
          <a:xfrm>
            <a:off x="316212" y="295151"/>
            <a:ext cx="7416261" cy="992208"/>
          </a:xfrm>
          <a:prstGeom prst="rect">
            <a:avLst/>
          </a:prstGeom>
          <a:ln>
            <a:solidFill>
              <a:schemeClr val="bg1"/>
            </a:solidFill>
          </a:ln>
        </p:spPr>
        <p:txBody>
          <a:bodyPr vert="horz" lIns="162617" tIns="81307" rIns="162617" bIns="81307" rtlCol="0" anchor="ctr">
            <a:noAutofit/>
          </a:bodyPr>
          <a:lstStyle>
            <a:lvl1pPr>
              <a:defRPr sz="4300"/>
            </a:lvl1pPr>
          </a:lstStyle>
          <a:p>
            <a:r>
              <a:rPr lang="en-US"/>
              <a:t>Click to edit Master title style</a:t>
            </a:r>
            <a:endParaRPr lang="en-US" dirty="0"/>
          </a:p>
        </p:txBody>
      </p:sp>
      <p:sp>
        <p:nvSpPr>
          <p:cNvPr id="5" name="Text Placeholder 5"/>
          <p:cNvSpPr>
            <a:spLocks noGrp="1"/>
          </p:cNvSpPr>
          <p:nvPr>
            <p:ph type="body" sz="quarter" idx="10" hasCustomPrompt="1"/>
          </p:nvPr>
        </p:nvSpPr>
        <p:spPr>
          <a:xfrm>
            <a:off x="309606" y="1851794"/>
            <a:ext cx="7836009" cy="4106061"/>
          </a:xfrm>
          <a:prstGeom prst="rect">
            <a:avLst/>
          </a:prstGeom>
          <a:ln>
            <a:solidFill>
              <a:schemeClr val="bg1"/>
            </a:solidFill>
          </a:ln>
        </p:spPr>
        <p:txBody>
          <a:bodyPr vert="horz"/>
          <a:lstStyle>
            <a:lvl1pPr marL="0" indent="0">
              <a:buNone/>
              <a:defRPr sz="2800" baseline="0">
                <a:latin typeface="Helvetica Neue"/>
              </a:defRPr>
            </a:lvl1pPr>
          </a:lstStyle>
          <a:p>
            <a:pPr lvl="0"/>
            <a:r>
              <a:rPr lang="en-US" dirty="0"/>
              <a:t>Click to add text</a:t>
            </a:r>
          </a:p>
        </p:txBody>
      </p:sp>
    </p:spTree>
    <p:extLst>
      <p:ext uri="{BB962C8B-B14F-4D97-AF65-F5344CB8AC3E}">
        <p14:creationId xmlns:p14="http://schemas.microsoft.com/office/powerpoint/2010/main" val="28925765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66701"/>
            <a:ext cx="10972800" cy="1016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609600" y="1619252"/>
            <a:ext cx="5384800" cy="3946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619252"/>
            <a:ext cx="5384800" cy="3946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058523425"/>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66701"/>
            <a:ext cx="10972800" cy="1016000"/>
          </a:xfrm>
        </p:spPr>
        <p:txBody>
          <a:bodyPr/>
          <a:lstStyle/>
          <a:p>
            <a:r>
              <a:rPr lang="en-US"/>
              <a:t>Click to edit Master title style</a:t>
            </a:r>
            <a:endParaRPr lang="en-GB"/>
          </a:p>
        </p:txBody>
      </p:sp>
      <p:sp>
        <p:nvSpPr>
          <p:cNvPr id="3" name="Table Placeholder 2"/>
          <p:cNvSpPr>
            <a:spLocks noGrp="1"/>
          </p:cNvSpPr>
          <p:nvPr>
            <p:ph type="tbl" idx="1"/>
          </p:nvPr>
        </p:nvSpPr>
        <p:spPr>
          <a:xfrm>
            <a:off x="609600" y="1619252"/>
            <a:ext cx="10972800" cy="3946525"/>
          </a:xfrm>
        </p:spPr>
        <p:txBody>
          <a:bodyPr/>
          <a:lstStyle/>
          <a:p>
            <a:pPr lvl="0"/>
            <a:r>
              <a:rPr lang="en-US" noProof="0"/>
              <a:t>Click icon to add table</a:t>
            </a:r>
            <a:endParaRPr lang="en-GB" noProof="0" dirty="0"/>
          </a:p>
        </p:txBody>
      </p:sp>
    </p:spTree>
    <p:extLst>
      <p:ext uri="{BB962C8B-B14F-4D97-AF65-F5344CB8AC3E}">
        <p14:creationId xmlns:p14="http://schemas.microsoft.com/office/powerpoint/2010/main" val="122991361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3175" y="6093296"/>
            <a:ext cx="4765676" cy="764705"/>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rgbClr val="ED55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spcBef>
                <a:spcPts val="0"/>
              </a:spcBef>
              <a:spcAft>
                <a:spcPts val="0"/>
              </a:spcAft>
            </a:pPr>
            <a:endParaRPr lang="en-US" sz="1800">
              <a:solidFill>
                <a:srgbClr val="FFFFFF"/>
              </a:solidFill>
            </a:endParaRPr>
          </a:p>
        </p:txBody>
      </p:sp>
      <p:sp>
        <p:nvSpPr>
          <p:cNvPr id="8" name="Freeform 7"/>
          <p:cNvSpPr/>
          <p:nvPr/>
        </p:nvSpPr>
        <p:spPr>
          <a:xfrm>
            <a:off x="-3173" y="6093295"/>
            <a:ext cx="12195173" cy="764706"/>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spcBef>
                <a:spcPts val="0"/>
              </a:spcBef>
              <a:spcAft>
                <a:spcPts val="0"/>
              </a:spcAft>
            </a:pPr>
            <a:endParaRPr lang="en-US" sz="1800">
              <a:solidFill>
                <a:srgbClr val="FFFFFF"/>
              </a:solidFill>
            </a:endParaRPr>
          </a:p>
        </p:txBody>
      </p:sp>
      <p:sp>
        <p:nvSpPr>
          <p:cNvPr id="2" name="Title Placeholder 1"/>
          <p:cNvSpPr>
            <a:spLocks noGrp="1"/>
          </p:cNvSpPr>
          <p:nvPr>
            <p:ph type="title"/>
          </p:nvPr>
        </p:nvSpPr>
        <p:spPr>
          <a:xfrm>
            <a:off x="1097280" y="365760"/>
            <a:ext cx="10027920" cy="54864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097280" y="1100629"/>
            <a:ext cx="10027920" cy="35798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690019" y="6285122"/>
            <a:ext cx="62992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en-GB"/>
          </a:p>
        </p:txBody>
      </p:sp>
      <p:sp>
        <p:nvSpPr>
          <p:cNvPr id="6" name="Slide Number Placeholder 5"/>
          <p:cNvSpPr>
            <a:spLocks noGrp="1"/>
          </p:cNvSpPr>
          <p:nvPr>
            <p:ph type="sldNum" sz="quarter" idx="4"/>
          </p:nvPr>
        </p:nvSpPr>
        <p:spPr>
          <a:xfrm>
            <a:off x="11201384" y="6170822"/>
            <a:ext cx="67056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6B395DC7-4019-4745-BB89-8D597954F5AA}" type="slidenum">
              <a:rPr lang="en-GB" smtClean="0"/>
              <a:t>‹#›</a:t>
            </a:fld>
            <a:endParaRPr lang="en-GB"/>
          </a:p>
        </p:txBody>
      </p:sp>
      <p:pic>
        <p:nvPicPr>
          <p:cNvPr id="1027" name="Picture 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327915" y="6242285"/>
            <a:ext cx="5689600" cy="466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78240125"/>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Lst>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2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19584938">
            <a:off x="1466002" y="1526008"/>
            <a:ext cx="7531497" cy="1204306"/>
          </a:xfrm>
        </p:spPr>
        <p:txBody>
          <a:bodyPr/>
          <a:lstStyle/>
          <a:p>
            <a:r>
              <a:rPr lang="en-GB" dirty="0">
                <a:solidFill>
                  <a:srgbClr val="E25400"/>
                </a:solidFill>
              </a:rPr>
              <a:t>Purple Team: Group Presentation</a:t>
            </a:r>
          </a:p>
        </p:txBody>
      </p:sp>
      <p:sp>
        <p:nvSpPr>
          <p:cNvPr id="3" name="Subtitle 2"/>
          <p:cNvSpPr>
            <a:spLocks noGrp="1"/>
          </p:cNvSpPr>
          <p:nvPr>
            <p:ph type="subTitle" idx="1"/>
          </p:nvPr>
        </p:nvSpPr>
        <p:spPr>
          <a:xfrm rot="19570709">
            <a:off x="1906826" y="2277289"/>
            <a:ext cx="8681508" cy="329259"/>
          </a:xfrm>
        </p:spPr>
        <p:txBody>
          <a:bodyPr/>
          <a:lstStyle/>
          <a:p>
            <a:r>
              <a:rPr lang="en-GB" dirty="0">
                <a:solidFill>
                  <a:schemeClr val="tx2">
                    <a:lumMod val="75000"/>
                  </a:schemeClr>
                </a:solidFill>
              </a:rPr>
              <a:t>Oliver, Natalie, Mike, Jennie &amp; </a:t>
            </a:r>
            <a:r>
              <a:rPr lang="en-GB" dirty="0" err="1">
                <a:solidFill>
                  <a:schemeClr val="tx2">
                    <a:lumMod val="75000"/>
                  </a:schemeClr>
                </a:solidFill>
              </a:rPr>
              <a:t>fran</a:t>
            </a:r>
            <a:endParaRPr lang="en-GB" dirty="0">
              <a:solidFill>
                <a:schemeClr val="tx2">
                  <a:lumMod val="75000"/>
                </a:schemeClr>
              </a:solidFill>
            </a:endParaRPr>
          </a:p>
        </p:txBody>
      </p:sp>
    </p:spTree>
    <p:extLst>
      <p:ext uri="{BB962C8B-B14F-4D97-AF65-F5344CB8AC3E}">
        <p14:creationId xmlns:p14="http://schemas.microsoft.com/office/powerpoint/2010/main" val="3629342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Task Overview</a:t>
            </a:r>
          </a:p>
        </p:txBody>
      </p:sp>
      <p:sp>
        <p:nvSpPr>
          <p:cNvPr id="3" name="Content Placeholder 2"/>
          <p:cNvSpPr>
            <a:spLocks noGrp="1"/>
          </p:cNvSpPr>
          <p:nvPr>
            <p:ph idx="1"/>
          </p:nvPr>
        </p:nvSpPr>
        <p:spPr/>
        <p:txBody>
          <a:bodyPr/>
          <a:lstStyle/>
          <a:p>
            <a:r>
              <a:rPr lang="en-GB" dirty="0"/>
              <a:t>Retail Industry</a:t>
            </a:r>
          </a:p>
          <a:p>
            <a:r>
              <a:rPr lang="en-GB" dirty="0"/>
              <a:t>Collected Various background over years</a:t>
            </a:r>
          </a:p>
          <a:p>
            <a:endParaRPr lang="en-GB" dirty="0"/>
          </a:p>
          <a:p>
            <a:endParaRPr lang="en-GB" dirty="0"/>
          </a:p>
          <a:p>
            <a:r>
              <a:rPr lang="en-GB" dirty="0"/>
              <a:t>TARGET: SALE FORECASTS</a:t>
            </a:r>
          </a:p>
          <a:p>
            <a:r>
              <a:rPr lang="en-GB" dirty="0"/>
              <a:t>MISSION: DATA PREPROCESSING</a:t>
            </a:r>
          </a:p>
          <a:p>
            <a:endParaRPr lang="en-GB" dirty="0"/>
          </a:p>
          <a:p>
            <a:endParaRPr lang="en-GB" dirty="0"/>
          </a:p>
        </p:txBody>
      </p:sp>
      <p:grpSp>
        <p:nvGrpSpPr>
          <p:cNvPr id="7" name="Groupe 6">
            <a:extLst>
              <a:ext uri="{FF2B5EF4-FFF2-40B4-BE49-F238E27FC236}">
                <a16:creationId xmlns="" xmlns:a16="http://schemas.microsoft.com/office/drawing/2014/main" id="{BB7CDD96-4375-4C7D-A271-EE0B6485E2AA}"/>
              </a:ext>
            </a:extLst>
          </p:cNvPr>
          <p:cNvGrpSpPr/>
          <p:nvPr/>
        </p:nvGrpSpPr>
        <p:grpSpPr>
          <a:xfrm>
            <a:off x="8297493" y="2258767"/>
            <a:ext cx="2388358" cy="2388358"/>
            <a:chOff x="8147714" y="2234821"/>
            <a:chExt cx="2388358" cy="2388358"/>
          </a:xfrm>
        </p:grpSpPr>
        <p:sp>
          <p:nvSpPr>
            <p:cNvPr id="5" name="Cercle : creux 4">
              <a:extLst>
                <a:ext uri="{FF2B5EF4-FFF2-40B4-BE49-F238E27FC236}">
                  <a16:creationId xmlns="" xmlns:a16="http://schemas.microsoft.com/office/drawing/2014/main" id="{53B5C8C4-2C43-467F-80FC-4F47568A97A7}"/>
                </a:ext>
              </a:extLst>
            </p:cNvPr>
            <p:cNvSpPr/>
            <p:nvPr/>
          </p:nvSpPr>
          <p:spPr>
            <a:xfrm>
              <a:off x="8529851" y="2616958"/>
              <a:ext cx="1624083" cy="1624083"/>
            </a:xfrm>
            <a:prstGeom prst="donut">
              <a:avLst>
                <a:gd name="adj" fmla="val 25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 name="Croix 5">
              <a:extLst>
                <a:ext uri="{FF2B5EF4-FFF2-40B4-BE49-F238E27FC236}">
                  <a16:creationId xmlns="" xmlns:a16="http://schemas.microsoft.com/office/drawing/2014/main" id="{0B909CB7-49F9-4041-97C4-176D9C68BE80}"/>
                </a:ext>
              </a:extLst>
            </p:cNvPr>
            <p:cNvSpPr/>
            <p:nvPr/>
          </p:nvSpPr>
          <p:spPr>
            <a:xfrm>
              <a:off x="8147714" y="2234821"/>
              <a:ext cx="2388358" cy="2388358"/>
            </a:xfrm>
            <a:prstGeom prst="plus">
              <a:avLst>
                <a:gd name="adj" fmla="val 4970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2248177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3" presetID="10"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Mission Rundown</a:t>
            </a:r>
          </a:p>
        </p:txBody>
      </p:sp>
      <p:sp>
        <p:nvSpPr>
          <p:cNvPr id="3" name="Content Placeholder 2"/>
          <p:cNvSpPr>
            <a:spLocks noGrp="1"/>
          </p:cNvSpPr>
          <p:nvPr>
            <p:ph idx="1"/>
          </p:nvPr>
        </p:nvSpPr>
        <p:spPr/>
        <p:txBody>
          <a:bodyPr/>
          <a:lstStyle/>
          <a:p>
            <a:r>
              <a:rPr lang="en-GB" dirty="0">
                <a:solidFill>
                  <a:schemeClr val="accent1">
                    <a:lumMod val="60000"/>
                    <a:lumOff val="40000"/>
                  </a:schemeClr>
                </a:solidFill>
              </a:rPr>
              <a:t>Data</a:t>
            </a:r>
            <a:r>
              <a:rPr lang="en-GB" dirty="0"/>
              <a:t> Linking</a:t>
            </a:r>
          </a:p>
          <a:p>
            <a:r>
              <a:rPr lang="en-GB" dirty="0">
                <a:solidFill>
                  <a:schemeClr val="accent1">
                    <a:lumMod val="60000"/>
                    <a:lumOff val="40000"/>
                  </a:schemeClr>
                </a:solidFill>
              </a:rPr>
              <a:t>Data</a:t>
            </a:r>
            <a:r>
              <a:rPr lang="en-GB" dirty="0"/>
              <a:t> Description</a:t>
            </a:r>
          </a:p>
          <a:p>
            <a:r>
              <a:rPr lang="en-GB" dirty="0">
                <a:solidFill>
                  <a:schemeClr val="accent1">
                    <a:lumMod val="60000"/>
                    <a:lumOff val="40000"/>
                  </a:schemeClr>
                </a:solidFill>
              </a:rPr>
              <a:t>Data</a:t>
            </a:r>
            <a:r>
              <a:rPr lang="en-GB" dirty="0"/>
              <a:t> Cleaning</a:t>
            </a:r>
          </a:p>
          <a:p>
            <a:r>
              <a:rPr lang="en-GB" dirty="0">
                <a:solidFill>
                  <a:schemeClr val="accent1">
                    <a:lumMod val="60000"/>
                    <a:lumOff val="40000"/>
                  </a:schemeClr>
                </a:solidFill>
              </a:rPr>
              <a:t>Data</a:t>
            </a:r>
            <a:r>
              <a:rPr lang="en-GB" dirty="0"/>
              <a:t> Reduction</a:t>
            </a:r>
          </a:p>
          <a:p>
            <a:r>
              <a:rPr lang="en-GB" dirty="0">
                <a:solidFill>
                  <a:schemeClr val="accent1">
                    <a:lumMod val="60000"/>
                    <a:lumOff val="40000"/>
                  </a:schemeClr>
                </a:solidFill>
              </a:rPr>
              <a:t>Data</a:t>
            </a:r>
            <a:r>
              <a:rPr lang="en-GB" dirty="0"/>
              <a:t> Transformation</a:t>
            </a:r>
          </a:p>
          <a:p>
            <a:r>
              <a:rPr lang="fr-FR" dirty="0">
                <a:solidFill>
                  <a:schemeClr val="accent1">
                    <a:lumMod val="60000"/>
                    <a:lumOff val="40000"/>
                  </a:schemeClr>
                </a:solidFill>
              </a:rPr>
              <a:t>D</a:t>
            </a:r>
            <a:r>
              <a:rPr lang="en-GB" dirty="0" err="1">
                <a:solidFill>
                  <a:schemeClr val="accent1">
                    <a:lumMod val="60000"/>
                    <a:lumOff val="40000"/>
                  </a:schemeClr>
                </a:solidFill>
              </a:rPr>
              <a:t>ata</a:t>
            </a:r>
            <a:r>
              <a:rPr lang="en-GB" dirty="0"/>
              <a:t> Discretisation and Generalisation</a:t>
            </a:r>
          </a:p>
          <a:p>
            <a:r>
              <a:rPr lang="en-GB" dirty="0"/>
              <a:t>Modelling and Prediction</a:t>
            </a:r>
          </a:p>
          <a:p>
            <a:endParaRPr lang="en-GB" dirty="0"/>
          </a:p>
          <a:p>
            <a:endParaRPr lang="en-GB" dirty="0"/>
          </a:p>
        </p:txBody>
      </p:sp>
    </p:spTree>
    <p:extLst>
      <p:ext uri="{BB962C8B-B14F-4D97-AF65-F5344CB8AC3E}">
        <p14:creationId xmlns:p14="http://schemas.microsoft.com/office/powerpoint/2010/main" val="2231332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circle(in)">
                                      <p:cBhvr>
                                        <p:cTn id="10" dur="2000"/>
                                        <p:tgtEl>
                                          <p:spTgt spid="3">
                                            <p:txEl>
                                              <p:pRg st="1" end="1"/>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circle(in)">
                                      <p:cBhvr>
                                        <p:cTn id="13" dur="2000"/>
                                        <p:tgtEl>
                                          <p:spTgt spid="3">
                                            <p:txEl>
                                              <p:pRg st="2" end="2"/>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circle(in)">
                                      <p:cBhvr>
                                        <p:cTn id="16" dur="2000"/>
                                        <p:tgtEl>
                                          <p:spTgt spid="3">
                                            <p:txEl>
                                              <p:pRg st="3" end="3"/>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circle(in)">
                                      <p:cBhvr>
                                        <p:cTn id="19" dur="2000"/>
                                        <p:tgtEl>
                                          <p:spTgt spid="3">
                                            <p:txEl>
                                              <p:pRg st="4" end="4"/>
                                            </p:txEl>
                                          </p:spTgt>
                                        </p:tgtEl>
                                      </p:cBhvr>
                                    </p:animEffect>
                                  </p:childTnLst>
                                </p:cTn>
                              </p:par>
                              <p:par>
                                <p:cTn id="20" presetID="6" presetClass="entr" presetSubtype="16"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circle(in)">
                                      <p:cBhvr>
                                        <p:cTn id="22" dur="20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9597877">
            <a:off x="1737989" y="1640677"/>
            <a:ext cx="7534656" cy="1207509"/>
          </a:xfrm>
        </p:spPr>
        <p:txBody>
          <a:bodyPr/>
          <a:lstStyle/>
          <a:p>
            <a:r>
              <a:rPr lang="en-GB" dirty="0">
                <a:solidFill>
                  <a:srgbClr val="E25400"/>
                </a:solidFill>
              </a:rPr>
              <a:t>Data Linking</a:t>
            </a:r>
          </a:p>
        </p:txBody>
      </p:sp>
    </p:spTree>
    <p:extLst>
      <p:ext uri="{BB962C8B-B14F-4D97-AF65-F5344CB8AC3E}">
        <p14:creationId xmlns:p14="http://schemas.microsoft.com/office/powerpoint/2010/main" val="1125237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Linking</a:t>
            </a:r>
          </a:p>
        </p:txBody>
      </p:sp>
      <p:sp>
        <p:nvSpPr>
          <p:cNvPr id="3" name="Content Placeholder 2"/>
          <p:cNvSpPr>
            <a:spLocks noGrp="1"/>
          </p:cNvSpPr>
          <p:nvPr>
            <p:ph idx="1"/>
          </p:nvPr>
        </p:nvSpPr>
        <p:spPr/>
        <p:txBody>
          <a:bodyPr>
            <a:normAutofit lnSpcReduction="10000"/>
          </a:bodyPr>
          <a:lstStyle/>
          <a:p>
            <a:r>
              <a:rPr lang="en-GB" dirty="0">
                <a:solidFill>
                  <a:srgbClr val="E25400"/>
                </a:solidFill>
              </a:rPr>
              <a:t>4 Tables of store data</a:t>
            </a:r>
          </a:p>
          <a:p>
            <a:endParaRPr lang="en-GB" dirty="0">
              <a:solidFill>
                <a:srgbClr val="E25400"/>
              </a:solidFill>
            </a:endParaRPr>
          </a:p>
          <a:p>
            <a:pPr>
              <a:buFont typeface="Arial" charset="0"/>
              <a:buChar char="•"/>
            </a:pPr>
            <a:r>
              <a:rPr lang="en-GB" dirty="0">
                <a:solidFill>
                  <a:srgbClr val="E25400"/>
                </a:solidFill>
              </a:rPr>
              <a:t>Insert tables into SQLite Database</a:t>
            </a:r>
          </a:p>
          <a:p>
            <a:pPr>
              <a:buFont typeface="Arial" charset="0"/>
              <a:buChar char="•"/>
            </a:pPr>
            <a:endParaRPr lang="en-GB" dirty="0">
              <a:solidFill>
                <a:srgbClr val="E25400"/>
              </a:solidFill>
            </a:endParaRPr>
          </a:p>
          <a:p>
            <a:pPr>
              <a:buFont typeface="Arial" charset="0"/>
              <a:buChar char="•"/>
            </a:pPr>
            <a:r>
              <a:rPr lang="en-GB" dirty="0">
                <a:solidFill>
                  <a:srgbClr val="E25400"/>
                </a:solidFill>
              </a:rPr>
              <a:t>Issues with linking in SQLite Database</a:t>
            </a:r>
          </a:p>
          <a:p>
            <a:pPr>
              <a:buFont typeface="Arial" charset="0"/>
              <a:buChar char="•"/>
            </a:pPr>
            <a:endParaRPr lang="en-GB" dirty="0">
              <a:solidFill>
                <a:srgbClr val="E25400"/>
              </a:solidFill>
            </a:endParaRPr>
          </a:p>
          <a:p>
            <a:pPr>
              <a:buFont typeface="Arial" charset="0"/>
              <a:buChar char="•"/>
            </a:pPr>
            <a:r>
              <a:rPr lang="en-GB" dirty="0">
                <a:solidFill>
                  <a:srgbClr val="E25400"/>
                </a:solidFill>
              </a:rPr>
              <a:t>Python </a:t>
            </a:r>
            <a:r>
              <a:rPr lang="mr-IN" dirty="0">
                <a:solidFill>
                  <a:srgbClr val="E25400"/>
                </a:solidFill>
              </a:rPr>
              <a:t>–</a:t>
            </a:r>
            <a:r>
              <a:rPr lang="en-GB" dirty="0">
                <a:solidFill>
                  <a:srgbClr val="E25400"/>
                </a:solidFill>
              </a:rPr>
              <a:t> pandas merge function</a:t>
            </a:r>
          </a:p>
          <a:p>
            <a:pPr>
              <a:buFont typeface="Arial" charset="0"/>
              <a:buChar char="•"/>
            </a:pPr>
            <a:endParaRPr lang="en-GB" dirty="0">
              <a:solidFill>
                <a:srgbClr val="E25400"/>
              </a:solidFill>
            </a:endParaRPr>
          </a:p>
          <a:p>
            <a:pPr>
              <a:buFont typeface="Arial" charset="0"/>
              <a:buChar char="•"/>
            </a:pPr>
            <a:r>
              <a:rPr lang="en-GB" dirty="0">
                <a:solidFill>
                  <a:srgbClr val="E25400"/>
                </a:solidFill>
              </a:rPr>
              <a:t>Results</a:t>
            </a:r>
          </a:p>
          <a:p>
            <a:endParaRPr lang="en-GB" dirty="0">
              <a:solidFill>
                <a:srgbClr val="E25400"/>
              </a:solidFill>
            </a:endParaRPr>
          </a:p>
        </p:txBody>
      </p:sp>
    </p:spTree>
    <p:extLst>
      <p:ext uri="{BB962C8B-B14F-4D97-AF65-F5344CB8AC3E}">
        <p14:creationId xmlns:p14="http://schemas.microsoft.com/office/powerpoint/2010/main" val="1642584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Effect transition="in" filter="fade">
                                      <p:cBhvr>
                                        <p:cTn id="1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Linking</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39240" y="1050262"/>
            <a:ext cx="9144000" cy="4705350"/>
          </a:xfrm>
        </p:spPr>
      </p:pic>
    </p:spTree>
    <p:extLst>
      <p:ext uri="{BB962C8B-B14F-4D97-AF65-F5344CB8AC3E}">
        <p14:creationId xmlns:p14="http://schemas.microsoft.com/office/powerpoint/2010/main" val="2980817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Linking</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37481" y="1547813"/>
            <a:ext cx="9347200" cy="3810000"/>
          </a:xfrm>
        </p:spPr>
      </p:pic>
    </p:spTree>
    <p:extLst>
      <p:ext uri="{BB962C8B-B14F-4D97-AF65-F5344CB8AC3E}">
        <p14:creationId xmlns:p14="http://schemas.microsoft.com/office/powerpoint/2010/main" val="216497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Linking</a:t>
            </a:r>
          </a:p>
        </p:txBody>
      </p:sp>
      <p:sp>
        <p:nvSpPr>
          <p:cNvPr id="3" name="Content Placeholder 2"/>
          <p:cNvSpPr>
            <a:spLocks noGrp="1"/>
          </p:cNvSpPr>
          <p:nvPr>
            <p:ph idx="1"/>
          </p:nvPr>
        </p:nvSpPr>
        <p:spPr/>
        <p:txBody>
          <a:bodyPr>
            <a:normAutofit/>
          </a:bodyPr>
          <a:lstStyle/>
          <a:p>
            <a:r>
              <a:rPr lang="en-GB" b="1" dirty="0">
                <a:solidFill>
                  <a:srgbClr val="E25400"/>
                </a:solidFill>
              </a:rPr>
              <a:t>Error Checking</a:t>
            </a:r>
          </a:p>
          <a:p>
            <a:endParaRPr lang="en-GB" dirty="0">
              <a:solidFill>
                <a:srgbClr val="E25400"/>
              </a:solidFill>
            </a:endParaRPr>
          </a:p>
          <a:p>
            <a:r>
              <a:rPr lang="en-GB" dirty="0">
                <a:solidFill>
                  <a:srgbClr val="E25400"/>
                </a:solidFill>
              </a:rPr>
              <a:t>Validate and Indicator Function</a:t>
            </a:r>
          </a:p>
        </p:txBody>
      </p:sp>
    </p:spTree>
    <p:extLst>
      <p:ext uri="{BB962C8B-B14F-4D97-AF65-F5344CB8AC3E}">
        <p14:creationId xmlns:p14="http://schemas.microsoft.com/office/powerpoint/2010/main" val="675008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Linking</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37481" y="1547813"/>
            <a:ext cx="9347200" cy="3810000"/>
          </a:xfrm>
        </p:spPr>
      </p:pic>
    </p:spTree>
    <p:extLst>
      <p:ext uri="{BB962C8B-B14F-4D97-AF65-F5344CB8AC3E}">
        <p14:creationId xmlns:p14="http://schemas.microsoft.com/office/powerpoint/2010/main" val="442214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Linking</a:t>
            </a:r>
          </a:p>
        </p:txBody>
      </p:sp>
      <p:sp>
        <p:nvSpPr>
          <p:cNvPr id="3" name="Content Placeholder 2"/>
          <p:cNvSpPr>
            <a:spLocks noGrp="1"/>
          </p:cNvSpPr>
          <p:nvPr>
            <p:ph idx="1"/>
          </p:nvPr>
        </p:nvSpPr>
        <p:spPr/>
        <p:txBody>
          <a:bodyPr>
            <a:normAutofit/>
          </a:bodyPr>
          <a:lstStyle/>
          <a:p>
            <a:r>
              <a:rPr lang="en-GB" dirty="0">
                <a:solidFill>
                  <a:srgbClr val="E25400"/>
                </a:solidFill>
              </a:rPr>
              <a:t>Error Checking</a:t>
            </a:r>
          </a:p>
          <a:p>
            <a:endParaRPr lang="en-GB" dirty="0">
              <a:solidFill>
                <a:srgbClr val="E25400"/>
              </a:solidFill>
            </a:endParaRPr>
          </a:p>
          <a:p>
            <a:r>
              <a:rPr lang="en-GB" b="1" dirty="0">
                <a:solidFill>
                  <a:srgbClr val="E25400"/>
                </a:solidFill>
              </a:rPr>
              <a:t>Validate and Indicator Function</a:t>
            </a:r>
          </a:p>
        </p:txBody>
      </p:sp>
    </p:spTree>
    <p:extLst>
      <p:ext uri="{BB962C8B-B14F-4D97-AF65-F5344CB8AC3E}">
        <p14:creationId xmlns:p14="http://schemas.microsoft.com/office/powerpoint/2010/main" val="2848385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Linking</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1872" y="1130531"/>
            <a:ext cx="8578735" cy="4389120"/>
          </a:xfrm>
        </p:spPr>
      </p:pic>
      <p:sp>
        <p:nvSpPr>
          <p:cNvPr id="6" name="Right Arrow 5"/>
          <p:cNvSpPr/>
          <p:nvPr/>
        </p:nvSpPr>
        <p:spPr>
          <a:xfrm>
            <a:off x="947651" y="1130531"/>
            <a:ext cx="1660051"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6934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Linking</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21872" y="1130531"/>
            <a:ext cx="8578735" cy="4389120"/>
          </a:xfrm>
        </p:spPr>
      </p:pic>
      <p:sp>
        <p:nvSpPr>
          <p:cNvPr id="5" name="Left Arrow 4"/>
          <p:cNvSpPr/>
          <p:nvPr/>
        </p:nvSpPr>
        <p:spPr>
          <a:xfrm>
            <a:off x="8761614" y="4488873"/>
            <a:ext cx="2643448" cy="4846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8134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9564379">
            <a:off x="1727233" y="1651435"/>
            <a:ext cx="7534656" cy="1207509"/>
          </a:xfrm>
        </p:spPr>
        <p:txBody>
          <a:bodyPr/>
          <a:lstStyle/>
          <a:p>
            <a:r>
              <a:rPr lang="en-GB" dirty="0">
                <a:solidFill>
                  <a:srgbClr val="E25400"/>
                </a:solidFill>
              </a:rPr>
              <a:t>Data Description, summarisation &amp; visualisation </a:t>
            </a:r>
          </a:p>
        </p:txBody>
      </p:sp>
    </p:spTree>
    <p:extLst>
      <p:ext uri="{BB962C8B-B14F-4D97-AF65-F5344CB8AC3E}">
        <p14:creationId xmlns:p14="http://schemas.microsoft.com/office/powerpoint/2010/main" val="2243906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365760"/>
            <a:ext cx="10027920" cy="548640"/>
          </a:xfrm>
        </p:spPr>
        <p:txBody>
          <a:bodyPr/>
          <a:lstStyle/>
          <a:p>
            <a:r>
              <a:rPr lang="en-GB" dirty="0"/>
              <a:t>Data description, visualisation and summarisation</a:t>
            </a:r>
          </a:p>
        </p:txBody>
      </p:sp>
      <p:graphicFrame>
        <p:nvGraphicFramePr>
          <p:cNvPr id="4" name="Table 3"/>
          <p:cNvGraphicFramePr>
            <a:graphicFrameLocks noGrp="1"/>
          </p:cNvGraphicFramePr>
          <p:nvPr>
            <p:extLst>
              <p:ext uri="{D42A27DB-BD31-4B8C-83A1-F6EECF244321}">
                <p14:modId xmlns:p14="http://schemas.microsoft.com/office/powerpoint/2010/main" val="904191475"/>
              </p:ext>
            </p:extLst>
          </p:nvPr>
        </p:nvGraphicFramePr>
        <p:xfrm>
          <a:off x="152404" y="1066800"/>
          <a:ext cx="11664454" cy="4633151"/>
        </p:xfrm>
        <a:graphic>
          <a:graphicData uri="http://schemas.openxmlformats.org/drawingml/2006/table">
            <a:tbl>
              <a:tblPr>
                <a:tableStyleId>{BC89EF96-8CEA-46FF-86C4-4CE0E7609802}</a:tableStyleId>
              </a:tblPr>
              <a:tblGrid>
                <a:gridCol w="1055707">
                  <a:extLst>
                    <a:ext uri="{9D8B030D-6E8A-4147-A177-3AD203B41FA5}">
                      <a16:colId xmlns="" xmlns:a16="http://schemas.microsoft.com/office/drawing/2014/main" val="20000"/>
                    </a:ext>
                  </a:extLst>
                </a:gridCol>
                <a:gridCol w="3996935">
                  <a:extLst>
                    <a:ext uri="{9D8B030D-6E8A-4147-A177-3AD203B41FA5}">
                      <a16:colId xmlns="" xmlns:a16="http://schemas.microsoft.com/office/drawing/2014/main" val="20001"/>
                    </a:ext>
                  </a:extLst>
                </a:gridCol>
                <a:gridCol w="686332">
                  <a:extLst>
                    <a:ext uri="{9D8B030D-6E8A-4147-A177-3AD203B41FA5}">
                      <a16:colId xmlns="" xmlns:a16="http://schemas.microsoft.com/office/drawing/2014/main" val="20002"/>
                    </a:ext>
                  </a:extLst>
                </a:gridCol>
                <a:gridCol w="592548">
                  <a:extLst>
                    <a:ext uri="{9D8B030D-6E8A-4147-A177-3AD203B41FA5}">
                      <a16:colId xmlns="" xmlns:a16="http://schemas.microsoft.com/office/drawing/2014/main" val="20003"/>
                    </a:ext>
                  </a:extLst>
                </a:gridCol>
                <a:gridCol w="491305">
                  <a:extLst>
                    <a:ext uri="{9D8B030D-6E8A-4147-A177-3AD203B41FA5}">
                      <a16:colId xmlns="" xmlns:a16="http://schemas.microsoft.com/office/drawing/2014/main" val="20004"/>
                    </a:ext>
                  </a:extLst>
                </a:gridCol>
                <a:gridCol w="785446">
                  <a:extLst>
                    <a:ext uri="{9D8B030D-6E8A-4147-A177-3AD203B41FA5}">
                      <a16:colId xmlns="" xmlns:a16="http://schemas.microsoft.com/office/drawing/2014/main" val="20005"/>
                    </a:ext>
                  </a:extLst>
                </a:gridCol>
                <a:gridCol w="797169">
                  <a:extLst>
                    <a:ext uri="{9D8B030D-6E8A-4147-A177-3AD203B41FA5}">
                      <a16:colId xmlns="" xmlns:a16="http://schemas.microsoft.com/office/drawing/2014/main" val="20006"/>
                    </a:ext>
                  </a:extLst>
                </a:gridCol>
                <a:gridCol w="539262">
                  <a:extLst>
                    <a:ext uri="{9D8B030D-6E8A-4147-A177-3AD203B41FA5}">
                      <a16:colId xmlns="" xmlns:a16="http://schemas.microsoft.com/office/drawing/2014/main" val="20007"/>
                    </a:ext>
                  </a:extLst>
                </a:gridCol>
                <a:gridCol w="609598">
                  <a:extLst>
                    <a:ext uri="{9D8B030D-6E8A-4147-A177-3AD203B41FA5}">
                      <a16:colId xmlns="" xmlns:a16="http://schemas.microsoft.com/office/drawing/2014/main" val="20008"/>
                    </a:ext>
                  </a:extLst>
                </a:gridCol>
                <a:gridCol w="527538">
                  <a:extLst>
                    <a:ext uri="{9D8B030D-6E8A-4147-A177-3AD203B41FA5}">
                      <a16:colId xmlns="" xmlns:a16="http://schemas.microsoft.com/office/drawing/2014/main" val="20009"/>
                    </a:ext>
                  </a:extLst>
                </a:gridCol>
                <a:gridCol w="527538">
                  <a:extLst>
                    <a:ext uri="{9D8B030D-6E8A-4147-A177-3AD203B41FA5}">
                      <a16:colId xmlns="" xmlns:a16="http://schemas.microsoft.com/office/drawing/2014/main" val="20010"/>
                    </a:ext>
                  </a:extLst>
                </a:gridCol>
                <a:gridCol w="527538">
                  <a:extLst>
                    <a:ext uri="{9D8B030D-6E8A-4147-A177-3AD203B41FA5}">
                      <a16:colId xmlns="" xmlns:a16="http://schemas.microsoft.com/office/drawing/2014/main" val="20011"/>
                    </a:ext>
                  </a:extLst>
                </a:gridCol>
                <a:gridCol w="527538">
                  <a:extLst>
                    <a:ext uri="{9D8B030D-6E8A-4147-A177-3AD203B41FA5}">
                      <a16:colId xmlns="" xmlns:a16="http://schemas.microsoft.com/office/drawing/2014/main" val="20012"/>
                    </a:ext>
                  </a:extLst>
                </a:gridCol>
              </a:tblGrid>
              <a:tr h="242126">
                <a:tc rowSpan="3">
                  <a:txBody>
                    <a:bodyPr/>
                    <a:lstStyle/>
                    <a:p>
                      <a:pPr algn="l" fontAlgn="ctr"/>
                      <a:r>
                        <a:rPr lang="en-GB" sz="1400" b="1" u="none" strike="noStrike" dirty="0">
                          <a:solidFill>
                            <a:schemeClr val="bg1"/>
                          </a:solidFill>
                          <a:effectLst/>
                          <a:latin typeface="+mn-lt"/>
                        </a:rPr>
                        <a:t>Column</a:t>
                      </a:r>
                      <a:endParaRPr lang="en-GB" sz="1400" b="1" i="0" u="none" strike="noStrike" dirty="0">
                        <a:solidFill>
                          <a:schemeClr val="bg1"/>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8D5BAE"/>
                    </a:solidFill>
                  </a:tcPr>
                </a:tc>
                <a:tc rowSpan="3">
                  <a:txBody>
                    <a:bodyPr/>
                    <a:lstStyle/>
                    <a:p>
                      <a:pPr algn="l" fontAlgn="ctr"/>
                      <a:r>
                        <a:rPr lang="en-GB" sz="1400" b="1" u="none" strike="noStrike" dirty="0">
                          <a:solidFill>
                            <a:schemeClr val="bg1"/>
                          </a:solidFill>
                          <a:effectLst/>
                          <a:latin typeface="+mn-lt"/>
                        </a:rPr>
                        <a:t>Description</a:t>
                      </a:r>
                      <a:endParaRPr lang="en-GB" sz="1400" b="1" i="0" u="none" strike="noStrike" dirty="0">
                        <a:solidFill>
                          <a:schemeClr val="bg1"/>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8D5BAE"/>
                    </a:solidFill>
                  </a:tcPr>
                </a:tc>
                <a:tc gridSpan="3">
                  <a:txBody>
                    <a:bodyPr/>
                    <a:lstStyle/>
                    <a:p>
                      <a:pPr algn="ctr" fontAlgn="b"/>
                      <a:r>
                        <a:rPr lang="en-GB" sz="1200" b="1" u="none" strike="noStrike" dirty="0">
                          <a:solidFill>
                            <a:schemeClr val="bg1"/>
                          </a:solidFill>
                          <a:effectLst/>
                        </a:rPr>
                        <a:t>Data</a:t>
                      </a:r>
                      <a:r>
                        <a:rPr lang="en-GB" sz="1200" b="1" u="none" strike="noStrike" baseline="0" dirty="0">
                          <a:solidFill>
                            <a:schemeClr val="bg1"/>
                          </a:solidFill>
                          <a:effectLst/>
                        </a:rPr>
                        <a:t> source</a:t>
                      </a:r>
                      <a:endParaRPr lang="en-GB" sz="1200" b="1" i="0" u="none" strike="noStrike" dirty="0">
                        <a:solidFill>
                          <a:schemeClr val="bg1"/>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8D5BAE"/>
                    </a:solidFill>
                  </a:tcPr>
                </a:tc>
                <a:tc hMerge="1">
                  <a:txBody>
                    <a:bodyPr/>
                    <a:lstStyle/>
                    <a:p>
                      <a:endParaRPr lang="en-GB"/>
                    </a:p>
                  </a:txBody>
                  <a:tcPr/>
                </a:tc>
                <a:tc hMerge="1">
                  <a:txBody>
                    <a:bodyPr/>
                    <a:lstStyle/>
                    <a:p>
                      <a:pPr algn="ctr" fontAlgn="b"/>
                      <a:endParaRPr lang="en-GB" sz="1100" b="0" i="0" u="sng" strike="noStrike" dirty="0">
                        <a:solidFill>
                          <a:srgbClr val="000000"/>
                        </a:solidFill>
                        <a:effectLst/>
                        <a:latin typeface="Arial" panose="020B0604020202020204" pitchFamily="34" charset="0"/>
                      </a:endParaRPr>
                    </a:p>
                  </a:txBody>
                  <a:tcPr marL="9525" marR="9525" marT="9525" marB="0" anchor="ctr"/>
                </a:tc>
                <a:tc rowSpan="3" gridSpan="2">
                  <a:txBody>
                    <a:bodyPr/>
                    <a:lstStyle/>
                    <a:p>
                      <a:pPr algn="ctr" fontAlgn="b"/>
                      <a:r>
                        <a:rPr lang="en-GB" sz="1400" b="1" u="none" strike="noStrike" dirty="0">
                          <a:solidFill>
                            <a:schemeClr val="bg1"/>
                          </a:solidFill>
                          <a:effectLst/>
                          <a:latin typeface="+mn-lt"/>
                        </a:rPr>
                        <a:t>Data type</a:t>
                      </a:r>
                      <a:endParaRPr lang="en-GB" sz="1400" b="1" i="0" u="none" strike="noStrike" dirty="0">
                        <a:solidFill>
                          <a:schemeClr val="bg1"/>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8D5BAE"/>
                    </a:solidFill>
                  </a:tcPr>
                </a:tc>
                <a:tc rowSpan="3" hMerge="1">
                  <a:txBody>
                    <a:bodyPr/>
                    <a:lstStyle/>
                    <a:p>
                      <a:endParaRPr lang="en-GB"/>
                    </a:p>
                  </a:txBody>
                  <a:tcPr/>
                </a:tc>
                <a:tc rowSpan="2" gridSpan="3">
                  <a:txBody>
                    <a:bodyPr/>
                    <a:lstStyle/>
                    <a:p>
                      <a:pPr algn="ctr" fontAlgn="b"/>
                      <a:r>
                        <a:rPr lang="en-GB" sz="1400" b="1" u="none" strike="noStrike" dirty="0">
                          <a:solidFill>
                            <a:schemeClr val="bg1"/>
                          </a:solidFill>
                          <a:effectLst/>
                          <a:latin typeface="+mn-lt"/>
                        </a:rPr>
                        <a:t>Measures of central tendency </a:t>
                      </a:r>
                      <a:endParaRPr lang="en-GB" sz="1400" b="1" i="0" u="none" strike="noStrike" dirty="0">
                        <a:solidFill>
                          <a:schemeClr val="bg1"/>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8D5BAE"/>
                    </a:solidFill>
                  </a:tcPr>
                </a:tc>
                <a:tc rowSpan="2" hMerge="1">
                  <a:txBody>
                    <a:bodyPr/>
                    <a:lstStyle/>
                    <a:p>
                      <a:pPr algn="ctr" fontAlgn="b"/>
                      <a:endParaRPr lang="en-GB" sz="1100" b="0" i="0" u="sng" strike="noStrike" dirty="0">
                        <a:solidFill>
                          <a:srgbClr val="000000"/>
                        </a:solidFill>
                        <a:effectLst/>
                        <a:latin typeface="Arial" panose="020B0604020202020204" pitchFamily="34" charset="0"/>
                      </a:endParaRPr>
                    </a:p>
                  </a:txBody>
                  <a:tcPr marL="9525" marR="9525" marT="9525" marB="0" anchor="ctr"/>
                </a:tc>
                <a:tc rowSpan="2" hMerge="1">
                  <a:txBody>
                    <a:bodyPr/>
                    <a:lstStyle/>
                    <a:p>
                      <a:pPr algn="ctr" fontAlgn="b"/>
                      <a:endParaRPr lang="en-GB" sz="1100" b="0" i="0" u="sng" strike="noStrike" dirty="0">
                        <a:solidFill>
                          <a:srgbClr val="000000"/>
                        </a:solidFill>
                        <a:effectLst/>
                        <a:latin typeface="Arial" panose="020B0604020202020204" pitchFamily="34" charset="0"/>
                      </a:endParaRPr>
                    </a:p>
                  </a:txBody>
                  <a:tcPr marL="9525" marR="9525" marT="9525" marB="0" anchor="ctr"/>
                </a:tc>
                <a:tc rowSpan="3">
                  <a:txBody>
                    <a:bodyPr/>
                    <a:lstStyle/>
                    <a:p>
                      <a:pPr algn="ctr" fontAlgn="b"/>
                      <a:r>
                        <a:rPr lang="en-GB" sz="1400" b="1" u="none" strike="noStrike" dirty="0">
                          <a:solidFill>
                            <a:schemeClr val="bg1"/>
                          </a:solidFill>
                          <a:effectLst/>
                          <a:latin typeface="+mn-lt"/>
                        </a:rPr>
                        <a:t>Min</a:t>
                      </a:r>
                      <a:endParaRPr lang="en-GB" sz="1400" b="1" i="0" u="none" strike="noStrike" dirty="0">
                        <a:solidFill>
                          <a:schemeClr val="bg1"/>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8D5BAE"/>
                    </a:solidFill>
                  </a:tcPr>
                </a:tc>
                <a:tc rowSpan="3">
                  <a:txBody>
                    <a:bodyPr/>
                    <a:lstStyle/>
                    <a:p>
                      <a:pPr algn="ctr" fontAlgn="b"/>
                      <a:r>
                        <a:rPr lang="en-GB" sz="1400" b="1" u="none" strike="noStrike" dirty="0">
                          <a:solidFill>
                            <a:schemeClr val="bg1"/>
                          </a:solidFill>
                          <a:effectLst/>
                          <a:latin typeface="+mn-lt"/>
                        </a:rPr>
                        <a:t>Max</a:t>
                      </a:r>
                      <a:endParaRPr lang="en-GB" sz="1400" b="1" i="0" u="none" strike="noStrike" dirty="0">
                        <a:solidFill>
                          <a:schemeClr val="bg1"/>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8D5BAE"/>
                    </a:solidFill>
                  </a:tcPr>
                </a:tc>
                <a:tc rowSpan="3">
                  <a:txBody>
                    <a:bodyPr/>
                    <a:lstStyle/>
                    <a:p>
                      <a:pPr algn="ctr" fontAlgn="b"/>
                      <a:r>
                        <a:rPr lang="en-GB" sz="1400" b="1" u="none" strike="noStrike" dirty="0">
                          <a:solidFill>
                            <a:schemeClr val="bg1"/>
                          </a:solidFill>
                          <a:effectLst/>
                          <a:latin typeface="+mn-lt"/>
                        </a:rPr>
                        <a:t>SD</a:t>
                      </a:r>
                      <a:endParaRPr lang="en-GB" sz="1400" b="1" i="0" u="none" strike="noStrike" dirty="0">
                        <a:solidFill>
                          <a:schemeClr val="bg1"/>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8D5BAE"/>
                    </a:solidFill>
                  </a:tcPr>
                </a:tc>
                <a:extLst>
                  <a:ext uri="{0D108BD9-81ED-4DB2-BD59-A6C34878D82A}">
                    <a16:rowId xmlns="" xmlns:a16="http://schemas.microsoft.com/office/drawing/2014/main" val="10000"/>
                  </a:ext>
                </a:extLst>
              </a:tr>
              <a:tr h="0">
                <a:tc vMerge="1">
                  <a:txBody>
                    <a:bodyPr/>
                    <a:lstStyle/>
                    <a:p>
                      <a:endParaRPr lang="en-GB"/>
                    </a:p>
                  </a:txBody>
                  <a:tcPr/>
                </a:tc>
                <a:tc vMerge="1">
                  <a:txBody>
                    <a:bodyPr/>
                    <a:lstStyle/>
                    <a:p>
                      <a:endParaRPr lang="en-GB"/>
                    </a:p>
                  </a:txBody>
                  <a:tcPr/>
                </a:tc>
                <a:tc rowSpan="2">
                  <a:txBody>
                    <a:bodyPr/>
                    <a:lstStyle/>
                    <a:p>
                      <a:pPr algn="ctr" fontAlgn="b"/>
                      <a:r>
                        <a:rPr lang="en-GB" sz="1400" b="0" u="none" strike="noStrike" dirty="0">
                          <a:solidFill>
                            <a:schemeClr val="bg1"/>
                          </a:solidFill>
                          <a:effectLst/>
                          <a:latin typeface="+mn-lt"/>
                        </a:rPr>
                        <a:t>Stores.csv</a:t>
                      </a:r>
                      <a:endParaRPr lang="en-GB" sz="1400" b="0" i="0" u="none" strike="noStrike" dirty="0">
                        <a:solidFill>
                          <a:schemeClr val="bg1"/>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8D5BAE"/>
                    </a:solidFill>
                  </a:tcPr>
                </a:tc>
                <a:tc rowSpan="2">
                  <a:txBody>
                    <a:bodyPr/>
                    <a:lstStyle/>
                    <a:p>
                      <a:pPr algn="ctr" fontAlgn="b"/>
                      <a:r>
                        <a:rPr lang="en-GB" sz="1400" b="0" u="none" strike="noStrike" dirty="0">
                          <a:solidFill>
                            <a:schemeClr val="bg1"/>
                          </a:solidFill>
                          <a:effectLst/>
                          <a:latin typeface="+mn-lt"/>
                        </a:rPr>
                        <a:t>features.csv</a:t>
                      </a:r>
                      <a:endParaRPr lang="en-GB" sz="1400" b="0" i="0" u="none" strike="noStrike" dirty="0">
                        <a:solidFill>
                          <a:schemeClr val="bg1"/>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8D5BAE"/>
                    </a:solidFill>
                  </a:tcPr>
                </a:tc>
                <a:tc rowSpan="2">
                  <a:txBody>
                    <a:bodyPr/>
                    <a:lstStyle/>
                    <a:p>
                      <a:pPr algn="ctr" fontAlgn="b"/>
                      <a:r>
                        <a:rPr lang="en-GB" sz="1400" b="0" u="none" strike="noStrike" dirty="0">
                          <a:solidFill>
                            <a:schemeClr val="bg1"/>
                          </a:solidFill>
                          <a:effectLst/>
                          <a:latin typeface="+mn-lt"/>
                        </a:rPr>
                        <a:t>train.csv</a:t>
                      </a:r>
                      <a:endParaRPr lang="en-GB" sz="1400" b="0" i="0" u="none" strike="noStrike" dirty="0">
                        <a:solidFill>
                          <a:schemeClr val="bg1"/>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8D5BAE"/>
                    </a:solidFill>
                  </a:tcPr>
                </a:tc>
                <a:tc gridSpan="2" vMerge="1">
                  <a:txBody>
                    <a:bodyPr/>
                    <a:lstStyle/>
                    <a:p>
                      <a:endParaRPr lang="en-GB"/>
                    </a:p>
                  </a:txBody>
                  <a:tcPr/>
                </a:tc>
                <a:tc hMerge="1" vMerge="1">
                  <a:txBody>
                    <a:bodyPr/>
                    <a:lstStyle/>
                    <a:p>
                      <a:endParaRPr lang="en-GB"/>
                    </a:p>
                  </a:txBody>
                  <a:tcPr/>
                </a:tc>
                <a:tc gridSpan="3" vMerge="1">
                  <a:txBody>
                    <a:bodyPr/>
                    <a:lstStyle/>
                    <a:p>
                      <a:endParaRPr lang="en-GB"/>
                    </a:p>
                  </a:txBody>
                  <a:tcPr/>
                </a:tc>
                <a:tc hMerge="1" vMerge="1">
                  <a:txBody>
                    <a:bodyPr/>
                    <a:lstStyle/>
                    <a:p>
                      <a:endParaRPr lang="en-GB"/>
                    </a:p>
                  </a:txBody>
                  <a:tcPr/>
                </a:tc>
                <a:tc hMerge="1"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 xmlns:a16="http://schemas.microsoft.com/office/drawing/2014/main" val="10001"/>
                  </a:ext>
                </a:extLst>
              </a:tr>
              <a:tr h="0">
                <a:tc vMerge="1">
                  <a:txBody>
                    <a:bodyPr/>
                    <a:lstStyle/>
                    <a:p>
                      <a:pPr algn="l" fontAlgn="ctr"/>
                      <a:endParaRPr lang="en-GB" sz="1100" b="0" i="0" u="sng" strike="noStrike" dirty="0">
                        <a:solidFill>
                          <a:srgbClr val="000000"/>
                        </a:solidFill>
                        <a:effectLst/>
                        <a:latin typeface="Calibri" panose="020F0502020204030204" pitchFamily="34" charset="0"/>
                      </a:endParaRPr>
                    </a:p>
                  </a:txBody>
                  <a:tcPr marL="9525" marR="9525" marT="9525" marB="0" anchor="ctr"/>
                </a:tc>
                <a:tc vMerge="1">
                  <a:txBody>
                    <a:bodyPr/>
                    <a:lstStyle/>
                    <a:p>
                      <a:pPr algn="l" fontAlgn="ctr"/>
                      <a:endParaRPr lang="en-GB" sz="1100" b="0" i="0" u="sng" strike="noStrike" dirty="0">
                        <a:solidFill>
                          <a:srgbClr val="000000"/>
                        </a:solidFill>
                        <a:effectLst/>
                        <a:latin typeface="Calibri" panose="020F0502020204030204" pitchFamily="34" charset="0"/>
                      </a:endParaRPr>
                    </a:p>
                  </a:txBody>
                  <a:tcPr marL="9525" marR="9525" marT="9525" marB="0" anchor="ctr"/>
                </a:tc>
                <a:tc vMerge="1">
                  <a:txBody>
                    <a:bodyPr/>
                    <a:lstStyle/>
                    <a:p>
                      <a:pPr algn="ctr" fontAlgn="b"/>
                      <a:endParaRPr lang="en-GB" sz="1200" b="0" i="0" u="none" strike="noStrike" dirty="0">
                        <a:solidFill>
                          <a:schemeClr val="bg1"/>
                        </a:solidFill>
                        <a:effectLst/>
                        <a:latin typeface="+mn-lt"/>
                      </a:endParaRPr>
                    </a:p>
                  </a:txBody>
                  <a:tcPr marL="9525" marR="9525" marT="9525" marB="0" anchor="ctr">
                    <a:solidFill>
                      <a:schemeClr val="accent1"/>
                    </a:solidFill>
                  </a:tcPr>
                </a:tc>
                <a:tc vMerge="1">
                  <a:txBody>
                    <a:bodyPr/>
                    <a:lstStyle/>
                    <a:p>
                      <a:endParaRPr lang="en-GB"/>
                    </a:p>
                  </a:txBody>
                  <a:tcPr/>
                </a:tc>
                <a:tc vMerge="1">
                  <a:txBody>
                    <a:bodyPr/>
                    <a:lstStyle/>
                    <a:p>
                      <a:pPr algn="ctr" fontAlgn="b"/>
                      <a:endParaRPr lang="en-GB" sz="1200" b="0" i="0" u="none" strike="noStrike" dirty="0">
                        <a:solidFill>
                          <a:schemeClr val="bg1"/>
                        </a:solidFill>
                        <a:effectLst/>
                        <a:latin typeface="+mn-lt"/>
                      </a:endParaRPr>
                    </a:p>
                  </a:txBody>
                  <a:tcPr marL="9525" marR="9525" marT="9525" marB="0" anchor="ctr">
                    <a:solidFill>
                      <a:schemeClr val="accent1"/>
                    </a:solidFill>
                  </a:tcPr>
                </a:tc>
                <a:tc gridSpan="2" vMerge="1">
                  <a:txBody>
                    <a:bodyPr/>
                    <a:lstStyle/>
                    <a:p>
                      <a:pPr algn="ctr" fontAlgn="b"/>
                      <a:endParaRPr lang="en-GB" sz="1100" b="0" i="0" u="sng" strike="noStrike" dirty="0">
                        <a:solidFill>
                          <a:srgbClr val="000000"/>
                        </a:solidFill>
                        <a:effectLst/>
                        <a:latin typeface="Arial" panose="020B0604020202020204" pitchFamily="34" charset="0"/>
                      </a:endParaRPr>
                    </a:p>
                  </a:txBody>
                  <a:tcPr marL="9525" marR="9525" marT="9525" marB="0" anchor="ctr"/>
                </a:tc>
                <a:tc hMerge="1" vMerge="1">
                  <a:txBody>
                    <a:bodyPr/>
                    <a:lstStyle/>
                    <a:p>
                      <a:endParaRPr lang="en-GB"/>
                    </a:p>
                  </a:txBody>
                  <a:tcPr/>
                </a:tc>
                <a:tc>
                  <a:txBody>
                    <a:bodyPr/>
                    <a:lstStyle/>
                    <a:p>
                      <a:pPr algn="l" fontAlgn="b"/>
                      <a:r>
                        <a:rPr lang="en-GB" sz="1400" b="0" u="none" strike="noStrike" dirty="0">
                          <a:solidFill>
                            <a:schemeClr val="bg1"/>
                          </a:solidFill>
                          <a:effectLst/>
                          <a:latin typeface="+mn-lt"/>
                        </a:rPr>
                        <a:t>mean</a:t>
                      </a:r>
                      <a:endParaRPr lang="en-GB" sz="1400" b="0" i="0" u="none" strike="noStrike" dirty="0">
                        <a:solidFill>
                          <a:schemeClr val="bg1"/>
                        </a:solidFill>
                        <a:effectLst/>
                        <a:latin typeface="+mn-lt"/>
                      </a:endParaRPr>
                    </a:p>
                  </a:txBody>
                  <a:tcPr marL="9525" marR="9525" marT="9525" marB="0" anchor="b">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8D5BAE"/>
                    </a:solidFill>
                  </a:tcPr>
                </a:tc>
                <a:tc>
                  <a:txBody>
                    <a:bodyPr/>
                    <a:lstStyle/>
                    <a:p>
                      <a:pPr algn="l" fontAlgn="b"/>
                      <a:r>
                        <a:rPr lang="en-GB" sz="1400" b="0" u="none" strike="noStrike" dirty="0">
                          <a:solidFill>
                            <a:schemeClr val="bg1"/>
                          </a:solidFill>
                          <a:effectLst/>
                          <a:latin typeface="+mn-lt"/>
                        </a:rPr>
                        <a:t>median</a:t>
                      </a:r>
                      <a:endParaRPr lang="en-GB" sz="1400" b="0" i="0" u="none" strike="noStrike" dirty="0">
                        <a:solidFill>
                          <a:schemeClr val="bg1"/>
                        </a:solidFill>
                        <a:effectLst/>
                        <a:latin typeface="+mn-lt"/>
                      </a:endParaRPr>
                    </a:p>
                  </a:txBody>
                  <a:tcPr marL="9525" marR="9525" marT="9525" marB="0" anchor="b">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8D5BAE"/>
                    </a:solidFill>
                  </a:tcPr>
                </a:tc>
                <a:tc>
                  <a:txBody>
                    <a:bodyPr/>
                    <a:lstStyle/>
                    <a:p>
                      <a:pPr algn="l" fontAlgn="b"/>
                      <a:r>
                        <a:rPr lang="en-GB" sz="1400" b="0" u="none" strike="noStrike" dirty="0">
                          <a:solidFill>
                            <a:schemeClr val="bg1"/>
                          </a:solidFill>
                          <a:effectLst/>
                          <a:latin typeface="+mn-lt"/>
                        </a:rPr>
                        <a:t>mode</a:t>
                      </a:r>
                      <a:endParaRPr lang="en-GB" sz="1400" b="0" i="0" u="none" strike="noStrike" dirty="0">
                        <a:solidFill>
                          <a:schemeClr val="bg1"/>
                        </a:solidFill>
                        <a:effectLst/>
                        <a:latin typeface="+mn-lt"/>
                      </a:endParaRPr>
                    </a:p>
                  </a:txBody>
                  <a:tcPr marL="9525" marR="9525" marT="9525" marB="0" anchor="b">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8D5BAE"/>
                    </a:solidFill>
                  </a:tcPr>
                </a:tc>
                <a:tc vMerge="1">
                  <a:txBody>
                    <a:bodyPr/>
                    <a:lstStyle/>
                    <a:p>
                      <a:pPr algn="l" fontAlgn="b"/>
                      <a:endParaRPr lang="en-GB" sz="1000" b="0" i="0" u="none" strike="noStrike" dirty="0">
                        <a:solidFill>
                          <a:srgbClr val="000000"/>
                        </a:solidFill>
                        <a:effectLst/>
                        <a:latin typeface="Arial" panose="020B0604020202020204" pitchFamily="34" charset="0"/>
                      </a:endParaRPr>
                    </a:p>
                  </a:txBody>
                  <a:tcPr marL="9525" marR="9525" marT="9525" marB="0" anchor="b"/>
                </a:tc>
                <a:tc vMerge="1">
                  <a:txBody>
                    <a:bodyPr/>
                    <a:lstStyle/>
                    <a:p>
                      <a:pPr algn="l" fontAlgn="b"/>
                      <a:endParaRPr lang="en-GB" sz="1000" b="0" i="0" u="none" strike="noStrike" dirty="0">
                        <a:solidFill>
                          <a:srgbClr val="000000"/>
                        </a:solidFill>
                        <a:effectLst/>
                        <a:latin typeface="Arial" panose="020B0604020202020204" pitchFamily="34" charset="0"/>
                      </a:endParaRPr>
                    </a:p>
                  </a:txBody>
                  <a:tcPr marL="9525" marR="9525" marT="9525" marB="0" anchor="b"/>
                </a:tc>
                <a:tc vMerge="1">
                  <a:txBody>
                    <a:bodyPr/>
                    <a:lstStyle/>
                    <a:p>
                      <a:endParaRPr lang="en-GB"/>
                    </a:p>
                  </a:txBody>
                  <a:tcPr/>
                </a:tc>
                <a:extLst>
                  <a:ext uri="{0D108BD9-81ED-4DB2-BD59-A6C34878D82A}">
                    <a16:rowId xmlns="" xmlns:a16="http://schemas.microsoft.com/office/drawing/2014/main" val="10002"/>
                  </a:ext>
                </a:extLst>
              </a:tr>
              <a:tr h="0">
                <a:tc>
                  <a:txBody>
                    <a:bodyPr/>
                    <a:lstStyle/>
                    <a:p>
                      <a:pPr algn="l" fontAlgn="ctr"/>
                      <a:r>
                        <a:rPr lang="en-GB" sz="1400" u="none" strike="noStrike" dirty="0">
                          <a:solidFill>
                            <a:schemeClr val="accent3">
                              <a:lumMod val="50000"/>
                            </a:schemeClr>
                          </a:solidFill>
                          <a:effectLst/>
                          <a:latin typeface="+mn-lt"/>
                        </a:rPr>
                        <a:t>Store </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chemeClr val="bg1"/>
                    </a:solidFill>
                  </a:tcPr>
                </a:tc>
                <a:tc>
                  <a:txBody>
                    <a:bodyPr/>
                    <a:lstStyle/>
                    <a:p>
                      <a:pPr algn="l" fontAlgn="ctr"/>
                      <a:r>
                        <a:rPr lang="en-GB" sz="1400" u="none" strike="noStrike" dirty="0">
                          <a:solidFill>
                            <a:schemeClr val="accent3">
                              <a:lumMod val="50000"/>
                            </a:schemeClr>
                          </a:solidFill>
                          <a:effectLst/>
                          <a:latin typeface="+mn-lt"/>
                        </a:rPr>
                        <a:t>the anonymised store number</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Y</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Y</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Y</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Numeric</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Interval </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extLst>
                  <a:ext uri="{0D108BD9-81ED-4DB2-BD59-A6C34878D82A}">
                    <a16:rowId xmlns="" xmlns:a16="http://schemas.microsoft.com/office/drawing/2014/main" val="10003"/>
                  </a:ext>
                </a:extLst>
              </a:tr>
              <a:tr h="0">
                <a:tc>
                  <a:txBody>
                    <a:bodyPr/>
                    <a:lstStyle/>
                    <a:p>
                      <a:pPr algn="l" fontAlgn="ctr"/>
                      <a:r>
                        <a:rPr lang="en-GB" sz="1400" u="none" strike="noStrike" dirty="0">
                          <a:solidFill>
                            <a:schemeClr val="accent3">
                              <a:lumMod val="50000"/>
                            </a:schemeClr>
                          </a:solidFill>
                          <a:effectLst/>
                          <a:latin typeface="+mn-lt"/>
                        </a:rPr>
                        <a:t>Type</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chemeClr val="bg1"/>
                    </a:solidFill>
                  </a:tcPr>
                </a:tc>
                <a:tc>
                  <a:txBody>
                    <a:bodyPr/>
                    <a:lstStyle/>
                    <a:p>
                      <a:pPr algn="l" fontAlgn="ctr"/>
                      <a:r>
                        <a:rPr lang="en-GB" sz="1400" u="none" strike="noStrike" dirty="0">
                          <a:solidFill>
                            <a:schemeClr val="accent3">
                              <a:lumMod val="50000"/>
                            </a:schemeClr>
                          </a:solidFill>
                          <a:effectLst/>
                          <a:latin typeface="+mn-lt"/>
                        </a:rPr>
                        <a:t>store type, A: supercentre, B: superstore, C: supermarket</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Y</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N</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N</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err="1">
                          <a:solidFill>
                            <a:schemeClr val="accent3">
                              <a:lumMod val="50000"/>
                            </a:schemeClr>
                          </a:solidFill>
                          <a:effectLst/>
                          <a:latin typeface="+mn-lt"/>
                        </a:rPr>
                        <a:t>Categoric</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nominal </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extLst>
                  <a:ext uri="{0D108BD9-81ED-4DB2-BD59-A6C34878D82A}">
                    <a16:rowId xmlns="" xmlns:a16="http://schemas.microsoft.com/office/drawing/2014/main" val="10004"/>
                  </a:ext>
                </a:extLst>
              </a:tr>
              <a:tr h="0">
                <a:tc>
                  <a:txBody>
                    <a:bodyPr/>
                    <a:lstStyle/>
                    <a:p>
                      <a:pPr algn="l" fontAlgn="ctr"/>
                      <a:r>
                        <a:rPr lang="en-GB" sz="1400" u="none" strike="noStrike" dirty="0">
                          <a:solidFill>
                            <a:schemeClr val="accent3">
                              <a:lumMod val="50000"/>
                            </a:schemeClr>
                          </a:solidFill>
                          <a:effectLst/>
                          <a:latin typeface="+mn-lt"/>
                        </a:rPr>
                        <a:t>Size </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chemeClr val="bg1"/>
                    </a:solidFill>
                  </a:tcPr>
                </a:tc>
                <a:tc>
                  <a:txBody>
                    <a:bodyPr/>
                    <a:lstStyle/>
                    <a:p>
                      <a:pPr algn="l" fontAlgn="ctr"/>
                      <a:r>
                        <a:rPr lang="en-GB" sz="1400" u="none" strike="noStrike" dirty="0">
                          <a:solidFill>
                            <a:schemeClr val="accent3">
                              <a:lumMod val="50000"/>
                            </a:schemeClr>
                          </a:solidFill>
                          <a:effectLst/>
                          <a:latin typeface="+mn-lt"/>
                        </a:rPr>
                        <a:t>store size (in square feet)</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Y</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N</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N</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a:solidFill>
                            <a:schemeClr val="accent3">
                              <a:lumMod val="50000"/>
                            </a:schemeClr>
                          </a:solidFill>
                          <a:effectLst/>
                          <a:latin typeface="+mn-lt"/>
                        </a:rPr>
                        <a:t>Numeric</a:t>
                      </a:r>
                      <a:endParaRPr lang="en-GB" sz="1400" b="0" i="0" u="none" strike="noStrike">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Interval </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800" b="0" i="0" u="none" strike="noStrike" dirty="0">
                          <a:solidFill>
                            <a:schemeClr val="accent3">
                              <a:lumMod val="50000"/>
                            </a:schemeClr>
                          </a:solidFill>
                          <a:effectLst/>
                          <a:latin typeface="+mn-lt"/>
                        </a:rPr>
                        <a:t>130287.60</a:t>
                      </a: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800" b="0" i="0" u="none" strike="noStrike" dirty="0">
                          <a:solidFill>
                            <a:schemeClr val="accent3">
                              <a:lumMod val="50000"/>
                            </a:schemeClr>
                          </a:solidFill>
                          <a:effectLst/>
                          <a:latin typeface="+mn-lt"/>
                        </a:rPr>
                        <a:t>126512.00</a:t>
                      </a: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800" b="0" i="0" u="none" strike="noStrike" dirty="0">
                          <a:solidFill>
                            <a:schemeClr val="accent3">
                              <a:lumMod val="50000"/>
                            </a:schemeClr>
                          </a:solidFill>
                          <a:effectLst/>
                          <a:latin typeface="+mn-lt"/>
                        </a:rPr>
                        <a:t>39690.00</a:t>
                      </a: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800" b="0" i="0" u="none" strike="noStrike" dirty="0">
                          <a:solidFill>
                            <a:schemeClr val="accent3">
                              <a:lumMod val="50000"/>
                            </a:schemeClr>
                          </a:solidFill>
                          <a:effectLst/>
                          <a:latin typeface="+mn-lt"/>
                        </a:rPr>
                        <a:t>34875.00</a:t>
                      </a: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800" b="0" i="0" u="none" strike="noStrike" dirty="0">
                          <a:solidFill>
                            <a:schemeClr val="accent3">
                              <a:lumMod val="50000"/>
                            </a:schemeClr>
                          </a:solidFill>
                          <a:effectLst/>
                          <a:latin typeface="+mn-lt"/>
                        </a:rPr>
                        <a:t>219622.00</a:t>
                      </a: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800" b="0" i="0" u="none" strike="noStrike" dirty="0">
                          <a:solidFill>
                            <a:schemeClr val="accent3">
                              <a:lumMod val="50000"/>
                            </a:schemeClr>
                          </a:solidFill>
                          <a:effectLst/>
                          <a:latin typeface="+mn-lt"/>
                        </a:rPr>
                        <a:t>63825.27</a:t>
                      </a: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extLst>
                  <a:ext uri="{0D108BD9-81ED-4DB2-BD59-A6C34878D82A}">
                    <a16:rowId xmlns="" xmlns:a16="http://schemas.microsoft.com/office/drawing/2014/main" val="10005"/>
                  </a:ext>
                </a:extLst>
              </a:tr>
              <a:tr h="0">
                <a:tc>
                  <a:txBody>
                    <a:bodyPr/>
                    <a:lstStyle/>
                    <a:p>
                      <a:pPr algn="l" fontAlgn="ctr"/>
                      <a:r>
                        <a:rPr lang="en-GB" sz="1400" u="none" strike="noStrike" dirty="0">
                          <a:solidFill>
                            <a:schemeClr val="accent3">
                              <a:lumMod val="50000"/>
                            </a:schemeClr>
                          </a:solidFill>
                          <a:effectLst/>
                          <a:latin typeface="+mn-lt"/>
                        </a:rPr>
                        <a:t>Date</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chemeClr val="bg1"/>
                    </a:solidFill>
                  </a:tcPr>
                </a:tc>
                <a:tc>
                  <a:txBody>
                    <a:bodyPr/>
                    <a:lstStyle/>
                    <a:p>
                      <a:pPr algn="l" fontAlgn="ctr"/>
                      <a:r>
                        <a:rPr lang="en-GB" sz="1400" u="none" strike="noStrike">
                          <a:solidFill>
                            <a:schemeClr val="accent3">
                              <a:lumMod val="50000"/>
                            </a:schemeClr>
                          </a:solidFill>
                          <a:effectLst/>
                          <a:latin typeface="+mn-lt"/>
                        </a:rPr>
                        <a:t>the week with the dated Friday</a:t>
                      </a:r>
                      <a:endParaRPr lang="en-GB" sz="1400" b="0" i="0" u="none" strike="noStrike">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N</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Y</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Y</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a:solidFill>
                            <a:schemeClr val="accent3">
                              <a:lumMod val="50000"/>
                            </a:schemeClr>
                          </a:solidFill>
                          <a:effectLst/>
                          <a:latin typeface="+mn-lt"/>
                        </a:rPr>
                        <a:t>Numeric</a:t>
                      </a:r>
                      <a:endParaRPr lang="en-GB" sz="1400" b="0" i="0" u="none" strike="noStrike">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Ordinal</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extLst>
                  <a:ext uri="{0D108BD9-81ED-4DB2-BD59-A6C34878D82A}">
                    <a16:rowId xmlns="" xmlns:a16="http://schemas.microsoft.com/office/drawing/2014/main" val="10006"/>
                  </a:ext>
                </a:extLst>
              </a:tr>
              <a:tr h="0">
                <a:tc>
                  <a:txBody>
                    <a:bodyPr/>
                    <a:lstStyle/>
                    <a:p>
                      <a:pPr algn="l" fontAlgn="ctr"/>
                      <a:r>
                        <a:rPr lang="en-GB" sz="1400" u="none" strike="noStrike" dirty="0">
                          <a:solidFill>
                            <a:schemeClr val="accent3">
                              <a:lumMod val="50000"/>
                            </a:schemeClr>
                          </a:solidFill>
                          <a:effectLst/>
                          <a:latin typeface="+mn-lt"/>
                        </a:rPr>
                        <a:t>Temperature </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chemeClr val="bg1"/>
                    </a:solidFill>
                  </a:tcPr>
                </a:tc>
                <a:tc>
                  <a:txBody>
                    <a:bodyPr/>
                    <a:lstStyle/>
                    <a:p>
                      <a:pPr algn="l" fontAlgn="ctr"/>
                      <a:r>
                        <a:rPr lang="en-GB" sz="1400" u="none" strike="noStrike">
                          <a:solidFill>
                            <a:schemeClr val="accent3">
                              <a:lumMod val="50000"/>
                            </a:schemeClr>
                          </a:solidFill>
                          <a:effectLst/>
                          <a:latin typeface="+mn-lt"/>
                        </a:rPr>
                        <a:t>average temperature in the region</a:t>
                      </a:r>
                      <a:endParaRPr lang="en-GB" sz="1400" b="0" i="0" u="none" strike="noStrike">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400" u="none" strike="noStrike" dirty="0">
                          <a:solidFill>
                            <a:schemeClr val="accent3">
                              <a:lumMod val="50000"/>
                            </a:schemeClr>
                          </a:solidFill>
                          <a:effectLst/>
                          <a:latin typeface="+mn-lt"/>
                        </a:rPr>
                        <a:t>N</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Y</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N</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Numeric</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Interval </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200" b="0" i="0" u="none" strike="noStrike" dirty="0">
                          <a:solidFill>
                            <a:schemeClr val="accent3">
                              <a:lumMod val="50000"/>
                            </a:schemeClr>
                          </a:solidFill>
                          <a:effectLst/>
                          <a:latin typeface="+mn-lt"/>
                        </a:rPr>
                        <a:t>59.36</a:t>
                      </a: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200" b="0" i="0" u="none" strike="noStrike" dirty="0">
                          <a:solidFill>
                            <a:schemeClr val="accent3">
                              <a:lumMod val="50000"/>
                            </a:schemeClr>
                          </a:solidFill>
                          <a:effectLst/>
                          <a:latin typeface="+mn-lt"/>
                        </a:rPr>
                        <a:t>60.71</a:t>
                      </a: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200" b="0" i="0" u="none" strike="noStrike" dirty="0">
                          <a:solidFill>
                            <a:schemeClr val="accent3">
                              <a:lumMod val="50000"/>
                            </a:schemeClr>
                          </a:solidFill>
                          <a:effectLst/>
                          <a:latin typeface="+mn-lt"/>
                        </a:rPr>
                        <a:t>70.28</a:t>
                      </a: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200" b="0" i="0" u="none" strike="noStrike" dirty="0">
                          <a:solidFill>
                            <a:schemeClr val="accent3">
                              <a:lumMod val="50000"/>
                            </a:schemeClr>
                          </a:solidFill>
                          <a:effectLst/>
                          <a:latin typeface="+mn-lt"/>
                        </a:rPr>
                        <a:t>-7.29</a:t>
                      </a: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200" b="0" i="0" u="none" strike="noStrike" dirty="0">
                          <a:solidFill>
                            <a:schemeClr val="accent3">
                              <a:lumMod val="50000"/>
                            </a:schemeClr>
                          </a:solidFill>
                          <a:effectLst/>
                          <a:latin typeface="+mn-lt"/>
                        </a:rPr>
                        <a:t>101.95</a:t>
                      </a: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200" b="0" i="0" u="none" strike="noStrike" dirty="0">
                          <a:solidFill>
                            <a:schemeClr val="accent3">
                              <a:lumMod val="50000"/>
                            </a:schemeClr>
                          </a:solidFill>
                          <a:effectLst/>
                          <a:latin typeface="+mn-lt"/>
                        </a:rPr>
                        <a:t>18.68</a:t>
                      </a: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extLst>
                  <a:ext uri="{0D108BD9-81ED-4DB2-BD59-A6C34878D82A}">
                    <a16:rowId xmlns="" xmlns:a16="http://schemas.microsoft.com/office/drawing/2014/main" val="10007"/>
                  </a:ext>
                </a:extLst>
              </a:tr>
              <a:tr h="0">
                <a:tc>
                  <a:txBody>
                    <a:bodyPr/>
                    <a:lstStyle/>
                    <a:p>
                      <a:pPr algn="l" fontAlgn="ctr"/>
                      <a:r>
                        <a:rPr lang="en-GB" sz="1400" u="none" strike="noStrike" dirty="0" err="1">
                          <a:solidFill>
                            <a:schemeClr val="accent3">
                              <a:lumMod val="50000"/>
                            </a:schemeClr>
                          </a:solidFill>
                          <a:effectLst/>
                          <a:latin typeface="+mn-lt"/>
                        </a:rPr>
                        <a:t>Fuel_Price</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chemeClr val="bg1"/>
                    </a:solidFill>
                  </a:tcPr>
                </a:tc>
                <a:tc>
                  <a:txBody>
                    <a:bodyPr/>
                    <a:lstStyle/>
                    <a:p>
                      <a:pPr algn="l" fontAlgn="ctr"/>
                      <a:r>
                        <a:rPr lang="en-GB" sz="1400" u="none" strike="noStrike" dirty="0">
                          <a:solidFill>
                            <a:schemeClr val="accent3">
                              <a:lumMod val="50000"/>
                            </a:schemeClr>
                          </a:solidFill>
                          <a:effectLst/>
                          <a:latin typeface="+mn-lt"/>
                        </a:rPr>
                        <a:t>cost of fuel in the region</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400" u="none" strike="noStrike" dirty="0">
                          <a:solidFill>
                            <a:schemeClr val="accent3">
                              <a:lumMod val="50000"/>
                            </a:schemeClr>
                          </a:solidFill>
                          <a:effectLst/>
                          <a:latin typeface="+mn-lt"/>
                        </a:rPr>
                        <a:t>N</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Y</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N</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Numeric</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Interval </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200" b="0" i="0" u="none" strike="noStrike" dirty="0">
                          <a:solidFill>
                            <a:schemeClr val="accent3">
                              <a:lumMod val="50000"/>
                            </a:schemeClr>
                          </a:solidFill>
                          <a:effectLst/>
                          <a:latin typeface="+mn-lt"/>
                        </a:rPr>
                        <a:t>3.41</a:t>
                      </a: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200" b="0" i="0" u="none" strike="noStrike" dirty="0">
                          <a:solidFill>
                            <a:schemeClr val="accent3">
                              <a:lumMod val="50000"/>
                            </a:schemeClr>
                          </a:solidFill>
                          <a:effectLst/>
                          <a:latin typeface="+mn-lt"/>
                        </a:rPr>
                        <a:t>3.51</a:t>
                      </a: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200" b="0" i="0" u="none" strike="noStrike" dirty="0">
                          <a:solidFill>
                            <a:schemeClr val="accent3">
                              <a:lumMod val="50000"/>
                            </a:schemeClr>
                          </a:solidFill>
                          <a:effectLst/>
                          <a:latin typeface="+mn-lt"/>
                        </a:rPr>
                        <a:t>3.64</a:t>
                      </a: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200" b="0" i="0" u="none" strike="noStrike" dirty="0">
                          <a:solidFill>
                            <a:schemeClr val="accent3">
                              <a:lumMod val="50000"/>
                            </a:schemeClr>
                          </a:solidFill>
                          <a:effectLst/>
                          <a:latin typeface="+mn-lt"/>
                        </a:rPr>
                        <a:t>2.47</a:t>
                      </a: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200" b="0" i="0" u="none" strike="noStrike" dirty="0">
                          <a:solidFill>
                            <a:schemeClr val="accent3">
                              <a:lumMod val="50000"/>
                            </a:schemeClr>
                          </a:solidFill>
                          <a:effectLst/>
                          <a:latin typeface="+mn-lt"/>
                        </a:rPr>
                        <a:t>4.47</a:t>
                      </a: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200" b="0" i="0" u="none" strike="noStrike" dirty="0">
                          <a:solidFill>
                            <a:schemeClr val="accent3">
                              <a:lumMod val="50000"/>
                            </a:schemeClr>
                          </a:solidFill>
                          <a:effectLst/>
                          <a:latin typeface="+mn-lt"/>
                        </a:rPr>
                        <a:t>0.43</a:t>
                      </a: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extLst>
                  <a:ext uri="{0D108BD9-81ED-4DB2-BD59-A6C34878D82A}">
                    <a16:rowId xmlns="" xmlns:a16="http://schemas.microsoft.com/office/drawing/2014/main" val="10008"/>
                  </a:ext>
                </a:extLst>
              </a:tr>
              <a:tr h="0">
                <a:tc>
                  <a:txBody>
                    <a:bodyPr/>
                    <a:lstStyle/>
                    <a:p>
                      <a:pPr algn="l" fontAlgn="ctr"/>
                      <a:r>
                        <a:rPr lang="en-GB" sz="1400" u="none" strike="noStrike" dirty="0">
                          <a:solidFill>
                            <a:schemeClr val="accent3">
                              <a:lumMod val="50000"/>
                            </a:schemeClr>
                          </a:solidFill>
                          <a:effectLst/>
                          <a:latin typeface="+mn-lt"/>
                        </a:rPr>
                        <a:t>Promotions</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chemeClr val="bg1"/>
                    </a:solidFill>
                  </a:tcPr>
                </a:tc>
                <a:tc>
                  <a:txBody>
                    <a:bodyPr/>
                    <a:lstStyle/>
                    <a:p>
                      <a:pPr algn="l" fontAlgn="ctr"/>
                      <a:r>
                        <a:rPr lang="en-GB" sz="1400" u="none" strike="noStrike" dirty="0">
                          <a:solidFill>
                            <a:schemeClr val="accent3">
                              <a:lumMod val="50000"/>
                            </a:schemeClr>
                          </a:solidFill>
                          <a:effectLst/>
                          <a:latin typeface="+mn-lt"/>
                        </a:rPr>
                        <a:t>anonymised data related to promotions, mainly price reductions that the retailer is running. Promotion data is only available after Nov. 2011, and is not available for all stores all the time. Any missing value is marked with an NA.</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400" u="none" strike="noStrike" dirty="0">
                          <a:solidFill>
                            <a:schemeClr val="accent3">
                              <a:lumMod val="50000"/>
                            </a:schemeClr>
                          </a:solidFill>
                          <a:effectLst/>
                          <a:latin typeface="+mn-lt"/>
                        </a:rPr>
                        <a:t>N</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Y</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N</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gridSpan="2">
                  <a:txBody>
                    <a:bodyPr/>
                    <a:lstStyle/>
                    <a:p>
                      <a:pPr algn="ctr" fontAlgn="b"/>
                      <a:r>
                        <a:rPr lang="en-GB" sz="1400" u="none" strike="noStrike" dirty="0">
                          <a:solidFill>
                            <a:schemeClr val="accent3">
                              <a:lumMod val="50000"/>
                            </a:schemeClr>
                          </a:solidFill>
                          <a:effectLst/>
                          <a:latin typeface="+mn-lt"/>
                        </a:rPr>
                        <a:t>Boolean</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hMerge="1">
                  <a:txBody>
                    <a:bodyPr/>
                    <a:lstStyle/>
                    <a:p>
                      <a:endParaRPr lang="en-GB"/>
                    </a:p>
                  </a:txBody>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extLst>
                  <a:ext uri="{0D108BD9-81ED-4DB2-BD59-A6C34878D82A}">
                    <a16:rowId xmlns="" xmlns:a16="http://schemas.microsoft.com/office/drawing/2014/main" val="10009"/>
                  </a:ext>
                </a:extLst>
              </a:tr>
              <a:tr h="0">
                <a:tc>
                  <a:txBody>
                    <a:bodyPr/>
                    <a:lstStyle/>
                    <a:p>
                      <a:pPr algn="l" fontAlgn="ctr"/>
                      <a:r>
                        <a:rPr lang="en-GB" sz="1400" u="none" strike="noStrike" dirty="0">
                          <a:solidFill>
                            <a:schemeClr val="accent3">
                              <a:lumMod val="50000"/>
                            </a:schemeClr>
                          </a:solidFill>
                          <a:effectLst/>
                          <a:latin typeface="+mn-lt"/>
                        </a:rPr>
                        <a:t>CPI </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chemeClr val="bg1"/>
                    </a:solidFill>
                  </a:tcPr>
                </a:tc>
                <a:tc>
                  <a:txBody>
                    <a:bodyPr/>
                    <a:lstStyle/>
                    <a:p>
                      <a:pPr algn="l" fontAlgn="ctr"/>
                      <a:r>
                        <a:rPr lang="en-GB" sz="1400" u="none" strike="noStrike">
                          <a:solidFill>
                            <a:schemeClr val="accent3">
                              <a:lumMod val="50000"/>
                            </a:schemeClr>
                          </a:solidFill>
                          <a:effectLst/>
                          <a:latin typeface="+mn-lt"/>
                        </a:rPr>
                        <a:t>the consumer price index</a:t>
                      </a:r>
                      <a:endParaRPr lang="en-GB" sz="1400" b="0" i="0" u="none" strike="noStrike">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400" u="none" strike="noStrike" dirty="0">
                          <a:solidFill>
                            <a:schemeClr val="accent3">
                              <a:lumMod val="50000"/>
                            </a:schemeClr>
                          </a:solidFill>
                          <a:effectLst/>
                          <a:latin typeface="+mn-lt"/>
                        </a:rPr>
                        <a:t>N</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Y</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N</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Numeric</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Interval </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200" b="0" i="0" u="none" strike="noStrike" dirty="0">
                          <a:solidFill>
                            <a:schemeClr val="accent3">
                              <a:lumMod val="50000"/>
                            </a:schemeClr>
                          </a:solidFill>
                          <a:effectLst/>
                          <a:latin typeface="+mn-lt"/>
                        </a:rPr>
                        <a:t>172.46</a:t>
                      </a: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200" b="0" i="0" u="none" strike="noStrike" dirty="0">
                          <a:solidFill>
                            <a:schemeClr val="accent3">
                              <a:lumMod val="50000"/>
                            </a:schemeClr>
                          </a:solidFill>
                          <a:effectLst/>
                          <a:latin typeface="+mn-lt"/>
                        </a:rPr>
                        <a:t>182.76</a:t>
                      </a: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200" b="0" i="0" u="none" strike="noStrike" dirty="0">
                          <a:solidFill>
                            <a:schemeClr val="accent3">
                              <a:lumMod val="50000"/>
                            </a:schemeClr>
                          </a:solidFill>
                          <a:effectLst/>
                          <a:latin typeface="+mn-lt"/>
                        </a:rPr>
                        <a:t>132.72</a:t>
                      </a: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200" b="0" i="0" u="none" strike="noStrike" dirty="0">
                          <a:solidFill>
                            <a:schemeClr val="accent3">
                              <a:lumMod val="50000"/>
                            </a:schemeClr>
                          </a:solidFill>
                          <a:effectLst/>
                          <a:latin typeface="+mn-lt"/>
                        </a:rPr>
                        <a:t>126.06</a:t>
                      </a: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200" b="0" i="0" u="none" strike="noStrike" dirty="0">
                          <a:solidFill>
                            <a:schemeClr val="accent3">
                              <a:lumMod val="50000"/>
                            </a:schemeClr>
                          </a:solidFill>
                          <a:effectLst/>
                          <a:latin typeface="+mn-lt"/>
                        </a:rPr>
                        <a:t>228.98</a:t>
                      </a: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200" b="0" i="0" u="none" strike="noStrike" dirty="0">
                          <a:solidFill>
                            <a:schemeClr val="accent3">
                              <a:lumMod val="50000"/>
                            </a:schemeClr>
                          </a:solidFill>
                          <a:effectLst/>
                          <a:latin typeface="+mn-lt"/>
                        </a:rPr>
                        <a:t>39.74</a:t>
                      </a: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extLst>
                  <a:ext uri="{0D108BD9-81ED-4DB2-BD59-A6C34878D82A}">
                    <a16:rowId xmlns="" xmlns:a16="http://schemas.microsoft.com/office/drawing/2014/main" val="10010"/>
                  </a:ext>
                </a:extLst>
              </a:tr>
              <a:tr h="0">
                <a:tc>
                  <a:txBody>
                    <a:bodyPr/>
                    <a:lstStyle/>
                    <a:p>
                      <a:pPr algn="l" fontAlgn="ctr"/>
                      <a:r>
                        <a:rPr lang="en-GB" sz="1400" u="none" strike="noStrike" dirty="0">
                          <a:solidFill>
                            <a:schemeClr val="accent3">
                              <a:lumMod val="50000"/>
                            </a:schemeClr>
                          </a:solidFill>
                          <a:effectLst/>
                          <a:latin typeface="+mn-lt"/>
                        </a:rPr>
                        <a:t>Unemployment</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chemeClr val="bg1"/>
                    </a:solidFill>
                  </a:tcPr>
                </a:tc>
                <a:tc>
                  <a:txBody>
                    <a:bodyPr/>
                    <a:lstStyle/>
                    <a:p>
                      <a:pPr algn="l" fontAlgn="ctr"/>
                      <a:r>
                        <a:rPr lang="en-GB" sz="1400" u="none" strike="noStrike">
                          <a:solidFill>
                            <a:schemeClr val="accent3">
                              <a:lumMod val="50000"/>
                            </a:schemeClr>
                          </a:solidFill>
                          <a:effectLst/>
                          <a:latin typeface="+mn-lt"/>
                        </a:rPr>
                        <a:t>the unemployment rate</a:t>
                      </a:r>
                      <a:endParaRPr lang="en-GB" sz="1400" b="0" i="0" u="none" strike="noStrike">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400" u="none" strike="noStrike" dirty="0">
                          <a:solidFill>
                            <a:schemeClr val="accent3">
                              <a:lumMod val="50000"/>
                            </a:schemeClr>
                          </a:solidFill>
                          <a:effectLst/>
                          <a:latin typeface="+mn-lt"/>
                        </a:rPr>
                        <a:t>N</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Y</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a:solidFill>
                            <a:schemeClr val="accent3">
                              <a:lumMod val="50000"/>
                            </a:schemeClr>
                          </a:solidFill>
                          <a:effectLst/>
                          <a:latin typeface="+mn-lt"/>
                        </a:rPr>
                        <a:t>N</a:t>
                      </a:r>
                      <a:endParaRPr lang="en-GB" sz="1400" b="0" i="0" u="none" strike="noStrike">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Numeric</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Interval </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extLst>
                  <a:ext uri="{0D108BD9-81ED-4DB2-BD59-A6C34878D82A}">
                    <a16:rowId xmlns="" xmlns:a16="http://schemas.microsoft.com/office/drawing/2014/main" val="10011"/>
                  </a:ext>
                </a:extLst>
              </a:tr>
              <a:tr h="0">
                <a:tc>
                  <a:txBody>
                    <a:bodyPr/>
                    <a:lstStyle/>
                    <a:p>
                      <a:pPr algn="l" fontAlgn="ctr"/>
                      <a:r>
                        <a:rPr lang="en-GB" sz="1400" u="none" strike="noStrike" dirty="0" err="1">
                          <a:solidFill>
                            <a:schemeClr val="accent3">
                              <a:lumMod val="50000"/>
                            </a:schemeClr>
                          </a:solidFill>
                          <a:effectLst/>
                          <a:latin typeface="+mn-lt"/>
                        </a:rPr>
                        <a:t>IsHoliday</a:t>
                      </a:r>
                      <a:r>
                        <a:rPr lang="en-GB" sz="1400" u="none" strike="noStrike" dirty="0">
                          <a:solidFill>
                            <a:schemeClr val="accent3">
                              <a:lumMod val="50000"/>
                            </a:schemeClr>
                          </a:solidFill>
                          <a:effectLst/>
                          <a:latin typeface="+mn-lt"/>
                        </a:rPr>
                        <a:t> </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chemeClr val="bg1"/>
                    </a:solidFill>
                  </a:tcPr>
                </a:tc>
                <a:tc>
                  <a:txBody>
                    <a:bodyPr/>
                    <a:lstStyle/>
                    <a:p>
                      <a:pPr algn="l" fontAlgn="ctr"/>
                      <a:r>
                        <a:rPr lang="en-GB" sz="1400" u="none" strike="noStrike">
                          <a:solidFill>
                            <a:schemeClr val="accent3">
                              <a:lumMod val="50000"/>
                            </a:schemeClr>
                          </a:solidFill>
                          <a:effectLst/>
                          <a:latin typeface="+mn-lt"/>
                        </a:rPr>
                        <a:t>whether the week is a special holiday week</a:t>
                      </a:r>
                      <a:endParaRPr lang="en-GB" sz="1400" b="0" i="0" u="none" strike="noStrike">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400" u="none" strike="noStrike" dirty="0">
                          <a:solidFill>
                            <a:schemeClr val="accent3">
                              <a:lumMod val="50000"/>
                            </a:schemeClr>
                          </a:solidFill>
                          <a:effectLst/>
                          <a:latin typeface="+mn-lt"/>
                        </a:rPr>
                        <a:t>N</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Y</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Y</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gridSpan="2">
                  <a:txBody>
                    <a:bodyPr/>
                    <a:lstStyle/>
                    <a:p>
                      <a:pPr algn="ctr" fontAlgn="b"/>
                      <a:r>
                        <a:rPr lang="en-GB" sz="1400" u="none" strike="noStrike" dirty="0">
                          <a:solidFill>
                            <a:schemeClr val="accent3">
                              <a:lumMod val="50000"/>
                            </a:schemeClr>
                          </a:solidFill>
                          <a:effectLst/>
                          <a:latin typeface="+mn-lt"/>
                        </a:rPr>
                        <a:t>Binary</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hMerge="1">
                  <a:txBody>
                    <a:bodyPr/>
                    <a:lstStyle/>
                    <a:p>
                      <a:endParaRPr lang="en-GB" sz="1400" dirty="0">
                        <a:solidFill>
                          <a:schemeClr val="accent3">
                            <a:lumMod val="50000"/>
                          </a:schemeClr>
                        </a:solidFill>
                        <a:latin typeface="+mn-lt"/>
                      </a:endParaRPr>
                    </a:p>
                  </a:txBody>
                  <a:tcPr marL="9525" marR="9525" marT="9525" marB="0" anchor="ct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extLst>
                  <a:ext uri="{0D108BD9-81ED-4DB2-BD59-A6C34878D82A}">
                    <a16:rowId xmlns="" xmlns:a16="http://schemas.microsoft.com/office/drawing/2014/main" val="10012"/>
                  </a:ext>
                </a:extLst>
              </a:tr>
              <a:tr h="0">
                <a:tc>
                  <a:txBody>
                    <a:bodyPr/>
                    <a:lstStyle/>
                    <a:p>
                      <a:pPr algn="l" fontAlgn="ctr"/>
                      <a:r>
                        <a:rPr lang="en-GB" sz="1400" u="none" strike="noStrike" dirty="0">
                          <a:solidFill>
                            <a:schemeClr val="accent3">
                              <a:lumMod val="50000"/>
                            </a:schemeClr>
                          </a:solidFill>
                          <a:effectLst/>
                          <a:latin typeface="+mn-lt"/>
                        </a:rPr>
                        <a:t>Department</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chemeClr val="bg1"/>
                    </a:solidFill>
                  </a:tcPr>
                </a:tc>
                <a:tc>
                  <a:txBody>
                    <a:bodyPr/>
                    <a:lstStyle/>
                    <a:p>
                      <a:pPr algn="l" fontAlgn="ctr"/>
                      <a:r>
                        <a:rPr lang="en-GB" sz="1400" u="none" strike="noStrike">
                          <a:solidFill>
                            <a:schemeClr val="accent3">
                              <a:lumMod val="50000"/>
                            </a:schemeClr>
                          </a:solidFill>
                          <a:effectLst/>
                          <a:latin typeface="+mn-lt"/>
                        </a:rPr>
                        <a:t>the anonymised department number</a:t>
                      </a:r>
                      <a:endParaRPr lang="en-GB" sz="1400" b="0" i="0" u="none" strike="noStrike">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400" u="none" strike="noStrike" dirty="0">
                          <a:solidFill>
                            <a:schemeClr val="accent3">
                              <a:lumMod val="50000"/>
                            </a:schemeClr>
                          </a:solidFill>
                          <a:effectLst/>
                          <a:latin typeface="+mn-lt"/>
                        </a:rPr>
                        <a:t>N</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N</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Y</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Numeric</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Interval </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tc>
                  <a:txBody>
                    <a:bodyPr/>
                    <a:lstStyle/>
                    <a:p>
                      <a:pPr algn="ctr" fontAlgn="b"/>
                      <a:endParaRPr lang="en-GB" sz="1000" b="0" i="0" u="none" strike="noStrike" dirty="0">
                        <a:solidFill>
                          <a:schemeClr val="accent3">
                            <a:lumMod val="50000"/>
                          </a:schemeClr>
                        </a:solidFill>
                        <a:effectLst/>
                        <a:latin typeface="Arial" panose="020B0604020202020204" pitchFamily="34" charset="0"/>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rgbClr val="917DE1"/>
                    </a:solidFill>
                  </a:tcPr>
                </a:tc>
                <a:extLst>
                  <a:ext uri="{0D108BD9-81ED-4DB2-BD59-A6C34878D82A}">
                    <a16:rowId xmlns="" xmlns:a16="http://schemas.microsoft.com/office/drawing/2014/main" val="10013"/>
                  </a:ext>
                </a:extLst>
              </a:tr>
              <a:tr h="0">
                <a:tc>
                  <a:txBody>
                    <a:bodyPr/>
                    <a:lstStyle/>
                    <a:p>
                      <a:pPr algn="l" fontAlgn="ctr"/>
                      <a:r>
                        <a:rPr lang="en-GB" sz="1400" u="none" strike="noStrike" dirty="0" err="1">
                          <a:solidFill>
                            <a:schemeClr val="accent3">
                              <a:lumMod val="50000"/>
                            </a:schemeClr>
                          </a:solidFill>
                          <a:effectLst/>
                          <a:latin typeface="+mn-lt"/>
                        </a:rPr>
                        <a:t>Weekly_Sales</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solidFill>
                      <a:schemeClr val="bg1"/>
                    </a:solidFill>
                  </a:tcPr>
                </a:tc>
                <a:tc>
                  <a:txBody>
                    <a:bodyPr/>
                    <a:lstStyle/>
                    <a:p>
                      <a:pPr algn="l" fontAlgn="ctr"/>
                      <a:r>
                        <a:rPr lang="en-GB" sz="1400" u="none" strike="noStrike" dirty="0">
                          <a:solidFill>
                            <a:schemeClr val="accent3">
                              <a:lumMod val="50000"/>
                            </a:schemeClr>
                          </a:solidFill>
                          <a:effectLst/>
                          <a:latin typeface="+mn-lt"/>
                        </a:rPr>
                        <a:t>sales for the given department in the given store</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400" u="none" strike="noStrike" dirty="0">
                          <a:solidFill>
                            <a:schemeClr val="accent3">
                              <a:lumMod val="50000"/>
                            </a:schemeClr>
                          </a:solidFill>
                          <a:effectLst/>
                          <a:latin typeface="+mn-lt"/>
                        </a:rPr>
                        <a:t>N</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N</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Y</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a:solidFill>
                            <a:schemeClr val="accent3">
                              <a:lumMod val="50000"/>
                            </a:schemeClr>
                          </a:solidFill>
                          <a:effectLst/>
                          <a:latin typeface="+mn-lt"/>
                        </a:rPr>
                        <a:t>Numeric</a:t>
                      </a:r>
                      <a:endParaRPr lang="en-GB" sz="1400" b="0" i="0" u="none" strike="noStrike">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en-GB" sz="1400" u="none" strike="noStrike" dirty="0">
                          <a:solidFill>
                            <a:schemeClr val="accent3">
                              <a:lumMod val="50000"/>
                            </a:schemeClr>
                          </a:solidFill>
                          <a:effectLst/>
                          <a:latin typeface="+mn-lt"/>
                        </a:rPr>
                        <a:t>Interval </a:t>
                      </a:r>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fr-FR" sz="800" b="0" i="0" u="none" strike="noStrike" dirty="0">
                          <a:solidFill>
                            <a:schemeClr val="accent3">
                              <a:lumMod val="50000"/>
                            </a:schemeClr>
                          </a:solidFill>
                          <a:effectLst/>
                          <a:latin typeface="+mn-lt"/>
                        </a:rPr>
                        <a:t>15981.26</a:t>
                      </a:r>
                      <a:endParaRPr lang="en-GB" sz="8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fr-FR" sz="800" b="0" i="0" u="none" strike="noStrike" dirty="0">
                          <a:solidFill>
                            <a:schemeClr val="accent3">
                              <a:lumMod val="50000"/>
                            </a:schemeClr>
                          </a:solidFill>
                          <a:effectLst/>
                          <a:latin typeface="+mn-lt"/>
                        </a:rPr>
                        <a:t>7612.03</a:t>
                      </a:r>
                      <a:endParaRPr lang="en-GB" sz="8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endParaRPr lang="en-GB" sz="14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fr-FR" sz="800" b="0" i="0" u="none" strike="noStrike" dirty="0">
                          <a:solidFill>
                            <a:schemeClr val="accent3">
                              <a:lumMod val="50000"/>
                            </a:schemeClr>
                          </a:solidFill>
                          <a:effectLst/>
                          <a:latin typeface="+mn-lt"/>
                        </a:rPr>
                        <a:t>-4988.94</a:t>
                      </a:r>
                      <a:endParaRPr lang="en-GB" sz="8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fr-FR" sz="800" b="0" i="0" u="none" strike="noStrike" dirty="0">
                          <a:solidFill>
                            <a:schemeClr val="accent3">
                              <a:lumMod val="50000"/>
                            </a:schemeClr>
                          </a:solidFill>
                          <a:effectLst/>
                          <a:latin typeface="+mn-lt"/>
                        </a:rPr>
                        <a:t>693099.4</a:t>
                      </a:r>
                      <a:endParaRPr lang="en-GB" sz="8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tc>
                  <a:txBody>
                    <a:bodyPr/>
                    <a:lstStyle/>
                    <a:p>
                      <a:pPr algn="ctr" fontAlgn="b"/>
                      <a:r>
                        <a:rPr lang="fr-FR" sz="800" b="0" i="0" u="none" strike="noStrike" dirty="0">
                          <a:solidFill>
                            <a:schemeClr val="accent3">
                              <a:lumMod val="50000"/>
                            </a:schemeClr>
                          </a:solidFill>
                          <a:effectLst/>
                          <a:latin typeface="+mn-lt"/>
                        </a:rPr>
                        <a:t>22712.16</a:t>
                      </a:r>
                      <a:endParaRPr lang="en-GB" sz="800" b="0" i="0" u="none" strike="noStrike" dirty="0">
                        <a:solidFill>
                          <a:schemeClr val="accent3">
                            <a:lumMod val="50000"/>
                          </a:schemeClr>
                        </a:solidFill>
                        <a:effectLst/>
                        <a:latin typeface="+mn-lt"/>
                      </a:endParaRPr>
                    </a:p>
                  </a:txBody>
                  <a:tcPr marL="9525" marR="9525" marT="9525" marB="0" anchor="ctr">
                    <a:lnL w="12700" cap="flat" cmpd="sng" algn="ctr">
                      <a:solidFill>
                        <a:srgbClr val="8D5BAE"/>
                      </a:solidFill>
                      <a:prstDash val="solid"/>
                      <a:round/>
                      <a:headEnd type="none" w="med" len="med"/>
                      <a:tailEnd type="none" w="med" len="med"/>
                    </a:lnL>
                    <a:lnR w="12700" cap="flat" cmpd="sng" algn="ctr">
                      <a:solidFill>
                        <a:srgbClr val="8D5BAE"/>
                      </a:solid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solidFill>
                        <a:srgbClr val="8D5BAE"/>
                      </a:solidFill>
                      <a:prstDash val="solid"/>
                      <a:round/>
                      <a:headEnd type="none" w="med" len="med"/>
                      <a:tailEnd type="none" w="med" len="med"/>
                    </a:lnB>
                  </a:tcPr>
                </a:tc>
                <a:extLst>
                  <a:ext uri="{0D108BD9-81ED-4DB2-BD59-A6C34878D82A}">
                    <a16:rowId xmlns="" xmlns:a16="http://schemas.microsoft.com/office/drawing/2014/main" val="10014"/>
                  </a:ext>
                </a:extLst>
              </a:tr>
            </a:tbl>
          </a:graphicData>
        </a:graphic>
      </p:graphicFrame>
    </p:spTree>
    <p:extLst>
      <p:ext uri="{BB962C8B-B14F-4D97-AF65-F5344CB8AC3E}">
        <p14:creationId xmlns:p14="http://schemas.microsoft.com/office/powerpoint/2010/main" val="2426874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365760"/>
            <a:ext cx="10027920" cy="548640"/>
          </a:xfrm>
        </p:spPr>
        <p:txBody>
          <a:bodyPr/>
          <a:lstStyle/>
          <a:p>
            <a:r>
              <a:rPr lang="en-GB" dirty="0"/>
              <a:t>Data description, visualisation and summarisation</a:t>
            </a:r>
          </a:p>
        </p:txBody>
      </p:sp>
      <p:graphicFrame>
        <p:nvGraphicFramePr>
          <p:cNvPr id="4" name="Table 3"/>
          <p:cNvGraphicFramePr>
            <a:graphicFrameLocks noGrp="1"/>
          </p:cNvGraphicFramePr>
          <p:nvPr>
            <p:extLst>
              <p:ext uri="{D42A27DB-BD31-4B8C-83A1-F6EECF244321}">
                <p14:modId xmlns:p14="http://schemas.microsoft.com/office/powerpoint/2010/main" val="3049447664"/>
              </p:ext>
            </p:extLst>
          </p:nvPr>
        </p:nvGraphicFramePr>
        <p:xfrm>
          <a:off x="323898" y="1054886"/>
          <a:ext cx="11574684" cy="3535871"/>
        </p:xfrm>
        <a:graphic>
          <a:graphicData uri="http://schemas.openxmlformats.org/drawingml/2006/table">
            <a:tbl>
              <a:tblPr>
                <a:tableStyleId>{BC89EF96-8CEA-46FF-86C4-4CE0E7609802}</a:tableStyleId>
              </a:tblPr>
              <a:tblGrid>
                <a:gridCol w="1412112">
                  <a:extLst>
                    <a:ext uri="{9D8B030D-6E8A-4147-A177-3AD203B41FA5}">
                      <a16:colId xmlns="" xmlns:a16="http://schemas.microsoft.com/office/drawing/2014/main" val="20000"/>
                    </a:ext>
                  </a:extLst>
                </a:gridCol>
                <a:gridCol w="5104435">
                  <a:extLst>
                    <a:ext uri="{9D8B030D-6E8A-4147-A177-3AD203B41FA5}">
                      <a16:colId xmlns="" xmlns:a16="http://schemas.microsoft.com/office/drawing/2014/main" val="20001"/>
                    </a:ext>
                  </a:extLst>
                </a:gridCol>
                <a:gridCol w="1018572">
                  <a:extLst>
                    <a:ext uri="{9D8B030D-6E8A-4147-A177-3AD203B41FA5}">
                      <a16:colId xmlns="" xmlns:a16="http://schemas.microsoft.com/office/drawing/2014/main" val="20002"/>
                    </a:ext>
                  </a:extLst>
                </a:gridCol>
                <a:gridCol w="1226917">
                  <a:extLst>
                    <a:ext uri="{9D8B030D-6E8A-4147-A177-3AD203B41FA5}">
                      <a16:colId xmlns="" xmlns:a16="http://schemas.microsoft.com/office/drawing/2014/main" val="20003"/>
                    </a:ext>
                  </a:extLst>
                </a:gridCol>
                <a:gridCol w="856526">
                  <a:extLst>
                    <a:ext uri="{9D8B030D-6E8A-4147-A177-3AD203B41FA5}">
                      <a16:colId xmlns="" xmlns:a16="http://schemas.microsoft.com/office/drawing/2014/main" val="20004"/>
                    </a:ext>
                  </a:extLst>
                </a:gridCol>
                <a:gridCol w="858384">
                  <a:extLst>
                    <a:ext uri="{9D8B030D-6E8A-4147-A177-3AD203B41FA5}">
                      <a16:colId xmlns="" xmlns:a16="http://schemas.microsoft.com/office/drawing/2014/main" val="20005"/>
                    </a:ext>
                  </a:extLst>
                </a:gridCol>
                <a:gridCol w="1097738">
                  <a:extLst>
                    <a:ext uri="{9D8B030D-6E8A-4147-A177-3AD203B41FA5}">
                      <a16:colId xmlns="" xmlns:a16="http://schemas.microsoft.com/office/drawing/2014/main" val="20006"/>
                    </a:ext>
                  </a:extLst>
                </a:gridCol>
              </a:tblGrid>
              <a:tr h="242126">
                <a:tc rowSpan="2">
                  <a:txBody>
                    <a:bodyPr/>
                    <a:lstStyle/>
                    <a:p>
                      <a:pPr algn="l" fontAlgn="ctr"/>
                      <a:r>
                        <a:rPr lang="en-GB" sz="1600" b="1" u="none" strike="noStrike" dirty="0">
                          <a:solidFill>
                            <a:schemeClr val="bg1"/>
                          </a:solidFill>
                          <a:effectLst/>
                          <a:latin typeface="+mn-lt"/>
                        </a:rPr>
                        <a:t>Column</a:t>
                      </a:r>
                      <a:endParaRPr lang="en-GB" sz="1600" b="1" i="0" u="none" strike="noStrike" dirty="0">
                        <a:solidFill>
                          <a:schemeClr val="bg1"/>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D5BAE"/>
                    </a:solidFill>
                  </a:tcPr>
                </a:tc>
                <a:tc rowSpan="2">
                  <a:txBody>
                    <a:bodyPr/>
                    <a:lstStyle/>
                    <a:p>
                      <a:pPr algn="l" fontAlgn="ctr"/>
                      <a:r>
                        <a:rPr lang="en-GB" sz="1600" b="1" u="none" strike="noStrike" dirty="0">
                          <a:solidFill>
                            <a:schemeClr val="bg1"/>
                          </a:solidFill>
                          <a:effectLst/>
                          <a:latin typeface="+mn-lt"/>
                        </a:rPr>
                        <a:t>Description</a:t>
                      </a:r>
                      <a:endParaRPr lang="en-GB" sz="1600" b="1" i="0" u="none" strike="noStrike" dirty="0">
                        <a:solidFill>
                          <a:schemeClr val="bg1"/>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D5BAE"/>
                    </a:solidFill>
                  </a:tcPr>
                </a:tc>
                <a:tc gridSpan="3">
                  <a:txBody>
                    <a:bodyPr/>
                    <a:lstStyle/>
                    <a:p>
                      <a:pPr algn="ctr" fontAlgn="b"/>
                      <a:r>
                        <a:rPr lang="en-GB" sz="1200" b="1" u="none" strike="noStrike" dirty="0">
                          <a:solidFill>
                            <a:schemeClr val="bg1"/>
                          </a:solidFill>
                          <a:effectLst/>
                        </a:rPr>
                        <a:t>Data</a:t>
                      </a:r>
                      <a:r>
                        <a:rPr lang="en-GB" sz="1200" b="1" u="none" strike="noStrike" baseline="0" dirty="0">
                          <a:solidFill>
                            <a:schemeClr val="bg1"/>
                          </a:solidFill>
                          <a:effectLst/>
                        </a:rPr>
                        <a:t> source</a:t>
                      </a:r>
                      <a:endParaRPr lang="en-GB" sz="1200" b="1" i="0" u="none" strike="noStrike" dirty="0">
                        <a:solidFill>
                          <a:schemeClr val="bg1"/>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8D5BAE"/>
                      </a:solidFill>
                      <a:prstDash val="solid"/>
                      <a:round/>
                      <a:headEnd type="none" w="med" len="med"/>
                      <a:tailEnd type="none" w="med" len="med"/>
                    </a:lnT>
                    <a:lnB w="12700" cap="flat" cmpd="sng" algn="ctr">
                      <a:noFill/>
                      <a:prstDash val="solid"/>
                      <a:round/>
                      <a:headEnd type="none" w="med" len="med"/>
                      <a:tailEnd type="none" w="med" len="med"/>
                    </a:lnB>
                    <a:solidFill>
                      <a:srgbClr val="8D5BAE"/>
                    </a:solidFill>
                  </a:tcPr>
                </a:tc>
                <a:tc hMerge="1">
                  <a:txBody>
                    <a:bodyPr/>
                    <a:lstStyle/>
                    <a:p>
                      <a:endParaRPr lang="en-GB"/>
                    </a:p>
                  </a:txBody>
                  <a:tcPr/>
                </a:tc>
                <a:tc hMerge="1">
                  <a:txBody>
                    <a:bodyPr/>
                    <a:lstStyle/>
                    <a:p>
                      <a:pPr algn="ctr" fontAlgn="b"/>
                      <a:endParaRPr lang="en-GB" sz="1100" b="0" i="0" u="sng" strike="noStrike" dirty="0">
                        <a:solidFill>
                          <a:srgbClr val="000000"/>
                        </a:solidFill>
                        <a:effectLst/>
                        <a:latin typeface="Arial" panose="020B0604020202020204" pitchFamily="34" charset="0"/>
                      </a:endParaRPr>
                    </a:p>
                  </a:txBody>
                  <a:tcPr marL="9525" marR="9525" marT="9525" marB="0" anchor="ctr"/>
                </a:tc>
                <a:tc rowSpan="2" gridSpan="2">
                  <a:txBody>
                    <a:bodyPr/>
                    <a:lstStyle/>
                    <a:p>
                      <a:pPr algn="ctr" fontAlgn="b"/>
                      <a:r>
                        <a:rPr lang="en-GB" sz="1600" b="1" u="none" strike="noStrike" dirty="0">
                          <a:solidFill>
                            <a:schemeClr val="bg1"/>
                          </a:solidFill>
                          <a:effectLst/>
                          <a:latin typeface="+mn-lt"/>
                        </a:rPr>
                        <a:t>Data type</a:t>
                      </a:r>
                      <a:endParaRPr lang="en-GB" sz="1600" b="1" i="0" u="none" strike="noStrike" dirty="0">
                        <a:solidFill>
                          <a:schemeClr val="bg1"/>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D5BAE"/>
                    </a:solidFill>
                  </a:tcPr>
                </a:tc>
                <a:tc rowSpan="2" hMerge="1">
                  <a:txBody>
                    <a:bodyPr/>
                    <a:lstStyle/>
                    <a:p>
                      <a:endParaRPr lang="en-GB"/>
                    </a:p>
                  </a:txBody>
                  <a:tcPr/>
                </a:tc>
                <a:extLst>
                  <a:ext uri="{0D108BD9-81ED-4DB2-BD59-A6C34878D82A}">
                    <a16:rowId xmlns="" xmlns:a16="http://schemas.microsoft.com/office/drawing/2014/main" val="10000"/>
                  </a:ext>
                </a:extLst>
              </a:tr>
              <a:tr h="0">
                <a:tc vMerge="1">
                  <a:txBody>
                    <a:bodyPr/>
                    <a:lstStyle/>
                    <a:p>
                      <a:endParaRPr lang="en-GB"/>
                    </a:p>
                  </a:txBody>
                  <a:tcPr/>
                </a:tc>
                <a:tc vMerge="1">
                  <a:txBody>
                    <a:bodyPr/>
                    <a:lstStyle/>
                    <a:p>
                      <a:endParaRPr lang="en-GB"/>
                    </a:p>
                  </a:txBody>
                  <a:tcPr/>
                </a:tc>
                <a:tc>
                  <a:txBody>
                    <a:bodyPr/>
                    <a:lstStyle/>
                    <a:p>
                      <a:pPr algn="ctr" fontAlgn="b"/>
                      <a:r>
                        <a:rPr lang="en-GB" sz="1600" b="0" u="none" strike="noStrike" dirty="0">
                          <a:solidFill>
                            <a:schemeClr val="bg1"/>
                          </a:solidFill>
                          <a:effectLst/>
                          <a:latin typeface="+mn-lt"/>
                        </a:rPr>
                        <a:t>Stores.csv</a:t>
                      </a:r>
                      <a:endParaRPr lang="en-GB" sz="1600" b="0" i="0" u="none" strike="noStrike" dirty="0">
                        <a:solidFill>
                          <a:schemeClr val="bg1"/>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D5BAE"/>
                    </a:solidFill>
                  </a:tcPr>
                </a:tc>
                <a:tc>
                  <a:txBody>
                    <a:bodyPr/>
                    <a:lstStyle/>
                    <a:p>
                      <a:pPr algn="ctr" fontAlgn="b"/>
                      <a:r>
                        <a:rPr lang="en-GB" sz="1600" b="0" u="none" strike="noStrike" dirty="0">
                          <a:solidFill>
                            <a:schemeClr val="bg1"/>
                          </a:solidFill>
                          <a:effectLst/>
                          <a:latin typeface="+mn-lt"/>
                        </a:rPr>
                        <a:t>features.csv</a:t>
                      </a:r>
                      <a:endParaRPr lang="en-GB" sz="1600" b="0" i="0" u="none" strike="noStrike" dirty="0">
                        <a:solidFill>
                          <a:schemeClr val="bg1"/>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D5BAE"/>
                    </a:solidFill>
                  </a:tcPr>
                </a:tc>
                <a:tc>
                  <a:txBody>
                    <a:bodyPr/>
                    <a:lstStyle/>
                    <a:p>
                      <a:pPr algn="ctr" fontAlgn="b"/>
                      <a:r>
                        <a:rPr lang="en-GB" sz="1600" b="0" u="none" strike="noStrike" dirty="0">
                          <a:solidFill>
                            <a:schemeClr val="bg1"/>
                          </a:solidFill>
                          <a:effectLst/>
                          <a:latin typeface="+mn-lt"/>
                        </a:rPr>
                        <a:t>train.csv</a:t>
                      </a:r>
                      <a:endParaRPr lang="en-GB" sz="1600" b="0" i="0" u="none" strike="noStrike" dirty="0">
                        <a:solidFill>
                          <a:schemeClr val="bg1"/>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D5BAE"/>
                    </a:solidFill>
                  </a:tcPr>
                </a:tc>
                <a:tc gridSpan="2" vMerge="1">
                  <a:txBody>
                    <a:bodyPr/>
                    <a:lstStyle/>
                    <a:p>
                      <a:endParaRPr lang="en-GB"/>
                    </a:p>
                  </a:txBody>
                  <a:tcPr/>
                </a:tc>
                <a:tc hMerge="1" vMerge="1">
                  <a:txBody>
                    <a:bodyPr/>
                    <a:lstStyle/>
                    <a:p>
                      <a:endParaRPr lang="en-GB"/>
                    </a:p>
                  </a:txBody>
                  <a:tcPr/>
                </a:tc>
                <a:extLst>
                  <a:ext uri="{0D108BD9-81ED-4DB2-BD59-A6C34878D82A}">
                    <a16:rowId xmlns="" xmlns:a16="http://schemas.microsoft.com/office/drawing/2014/main" val="10001"/>
                  </a:ext>
                </a:extLst>
              </a:tr>
              <a:tr h="0">
                <a:tc>
                  <a:txBody>
                    <a:bodyPr/>
                    <a:lstStyle/>
                    <a:p>
                      <a:pPr algn="l" fontAlgn="ctr"/>
                      <a:r>
                        <a:rPr lang="en-GB" sz="1600" u="none" strike="noStrike" dirty="0">
                          <a:solidFill>
                            <a:schemeClr val="accent3">
                              <a:lumMod val="50000"/>
                            </a:schemeClr>
                          </a:solidFill>
                          <a:effectLst/>
                          <a:latin typeface="+mn-lt"/>
                        </a:rPr>
                        <a:t>Store </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en-GB" sz="1600" u="none" strike="noStrike" dirty="0">
                          <a:solidFill>
                            <a:schemeClr val="accent3">
                              <a:lumMod val="50000"/>
                            </a:schemeClr>
                          </a:solidFill>
                          <a:effectLst/>
                          <a:latin typeface="+mn-lt"/>
                        </a:rPr>
                        <a:t>the anonymised store number</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Y</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Y</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Y</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Numeric</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Interval </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3"/>
                  </a:ext>
                </a:extLst>
              </a:tr>
              <a:tr h="0">
                <a:tc>
                  <a:txBody>
                    <a:bodyPr/>
                    <a:lstStyle/>
                    <a:p>
                      <a:pPr algn="l" fontAlgn="ctr"/>
                      <a:r>
                        <a:rPr lang="en-GB" sz="1600" u="none" strike="noStrike" dirty="0">
                          <a:solidFill>
                            <a:schemeClr val="accent3">
                              <a:lumMod val="50000"/>
                            </a:schemeClr>
                          </a:solidFill>
                          <a:effectLst/>
                          <a:latin typeface="+mn-lt"/>
                        </a:rPr>
                        <a:t>Type</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en-GB" sz="1600" u="none" strike="noStrike" dirty="0">
                          <a:solidFill>
                            <a:schemeClr val="accent3">
                              <a:lumMod val="50000"/>
                            </a:schemeClr>
                          </a:solidFill>
                          <a:effectLst/>
                          <a:latin typeface="+mn-lt"/>
                        </a:rPr>
                        <a:t>store type, A: supercentre, B: superstore, C: supermarket</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Y</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N</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N</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err="1">
                          <a:solidFill>
                            <a:schemeClr val="accent3">
                              <a:lumMod val="50000"/>
                            </a:schemeClr>
                          </a:solidFill>
                          <a:effectLst/>
                          <a:latin typeface="+mn-lt"/>
                        </a:rPr>
                        <a:t>Categoric</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nominal </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4"/>
                  </a:ext>
                </a:extLst>
              </a:tr>
              <a:tr h="0">
                <a:tc>
                  <a:txBody>
                    <a:bodyPr/>
                    <a:lstStyle/>
                    <a:p>
                      <a:pPr algn="l" fontAlgn="ctr"/>
                      <a:r>
                        <a:rPr lang="en-GB" sz="1600" u="none" strike="noStrike" dirty="0">
                          <a:solidFill>
                            <a:schemeClr val="accent3">
                              <a:lumMod val="50000"/>
                            </a:schemeClr>
                          </a:solidFill>
                          <a:effectLst/>
                          <a:latin typeface="+mn-lt"/>
                        </a:rPr>
                        <a:t>Size </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en-GB" sz="1600" u="none" strike="noStrike" dirty="0">
                          <a:solidFill>
                            <a:schemeClr val="accent3">
                              <a:lumMod val="50000"/>
                            </a:schemeClr>
                          </a:solidFill>
                          <a:effectLst/>
                          <a:latin typeface="+mn-lt"/>
                        </a:rPr>
                        <a:t>store size (in square feet)</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Y</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N</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N</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Numeric</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Interval </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5"/>
                  </a:ext>
                </a:extLst>
              </a:tr>
              <a:tr h="0">
                <a:tc>
                  <a:txBody>
                    <a:bodyPr/>
                    <a:lstStyle/>
                    <a:p>
                      <a:pPr algn="l" fontAlgn="ctr"/>
                      <a:r>
                        <a:rPr lang="en-GB" sz="1600" u="none" strike="noStrike" dirty="0">
                          <a:solidFill>
                            <a:schemeClr val="accent3">
                              <a:lumMod val="50000"/>
                            </a:schemeClr>
                          </a:solidFill>
                          <a:effectLst/>
                          <a:latin typeface="+mn-lt"/>
                        </a:rPr>
                        <a:t>Date</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en-GB" sz="1600" u="none" strike="noStrike" dirty="0">
                          <a:solidFill>
                            <a:schemeClr val="accent3">
                              <a:lumMod val="50000"/>
                            </a:schemeClr>
                          </a:solidFill>
                          <a:effectLst/>
                          <a:latin typeface="+mn-lt"/>
                        </a:rPr>
                        <a:t>the week with the dated Friday</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N</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Y</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Y</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a:solidFill>
                            <a:schemeClr val="accent3">
                              <a:lumMod val="50000"/>
                            </a:schemeClr>
                          </a:solidFill>
                          <a:effectLst/>
                          <a:latin typeface="+mn-lt"/>
                        </a:rPr>
                        <a:t>Numeric</a:t>
                      </a:r>
                      <a:endParaRPr lang="en-GB" sz="1600" b="0" i="0" u="none" strike="noStrike">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Ordinal</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6"/>
                  </a:ext>
                </a:extLst>
              </a:tr>
              <a:tr h="0">
                <a:tc>
                  <a:txBody>
                    <a:bodyPr/>
                    <a:lstStyle/>
                    <a:p>
                      <a:pPr algn="l" fontAlgn="ctr"/>
                      <a:r>
                        <a:rPr lang="en-GB" sz="1600" u="none" strike="noStrike" dirty="0">
                          <a:solidFill>
                            <a:schemeClr val="accent3">
                              <a:lumMod val="50000"/>
                            </a:schemeClr>
                          </a:solidFill>
                          <a:effectLst/>
                          <a:latin typeface="+mn-lt"/>
                        </a:rPr>
                        <a:t>Temperature </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en-GB" sz="1600" u="none" strike="noStrike" dirty="0">
                          <a:solidFill>
                            <a:schemeClr val="accent3">
                              <a:lumMod val="50000"/>
                            </a:schemeClr>
                          </a:solidFill>
                          <a:effectLst/>
                          <a:latin typeface="+mn-lt"/>
                        </a:rPr>
                        <a:t>average temperature in the region</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600" u="none" strike="noStrike" dirty="0">
                          <a:solidFill>
                            <a:schemeClr val="accent3">
                              <a:lumMod val="50000"/>
                            </a:schemeClr>
                          </a:solidFill>
                          <a:effectLst/>
                          <a:latin typeface="+mn-lt"/>
                        </a:rPr>
                        <a:t>N</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Y</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N</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Numeric</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Interval </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7"/>
                  </a:ext>
                </a:extLst>
              </a:tr>
              <a:tr h="0">
                <a:tc>
                  <a:txBody>
                    <a:bodyPr/>
                    <a:lstStyle/>
                    <a:p>
                      <a:pPr algn="l" fontAlgn="ctr"/>
                      <a:r>
                        <a:rPr lang="en-GB" sz="1600" u="none" strike="noStrike" dirty="0" err="1">
                          <a:solidFill>
                            <a:schemeClr val="accent3">
                              <a:lumMod val="50000"/>
                            </a:schemeClr>
                          </a:solidFill>
                          <a:effectLst/>
                          <a:latin typeface="+mn-lt"/>
                        </a:rPr>
                        <a:t>Fuel_Price</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en-GB" sz="1600" u="none" strike="noStrike" dirty="0">
                          <a:solidFill>
                            <a:schemeClr val="accent3">
                              <a:lumMod val="50000"/>
                            </a:schemeClr>
                          </a:solidFill>
                          <a:effectLst/>
                          <a:latin typeface="+mn-lt"/>
                        </a:rPr>
                        <a:t>cost of fuel in the region</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600" u="none" strike="noStrike" dirty="0">
                          <a:solidFill>
                            <a:schemeClr val="accent3">
                              <a:lumMod val="50000"/>
                            </a:schemeClr>
                          </a:solidFill>
                          <a:effectLst/>
                          <a:latin typeface="+mn-lt"/>
                        </a:rPr>
                        <a:t>N</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Y</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N</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Numeric</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Interval </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8"/>
                  </a:ext>
                </a:extLst>
              </a:tr>
              <a:tr h="0">
                <a:tc>
                  <a:txBody>
                    <a:bodyPr/>
                    <a:lstStyle/>
                    <a:p>
                      <a:pPr algn="l" fontAlgn="ctr"/>
                      <a:r>
                        <a:rPr lang="en-GB" sz="1600" u="none" strike="noStrike" dirty="0">
                          <a:solidFill>
                            <a:schemeClr val="accent3">
                              <a:lumMod val="50000"/>
                            </a:schemeClr>
                          </a:solidFill>
                          <a:effectLst/>
                          <a:latin typeface="+mn-lt"/>
                        </a:rPr>
                        <a:t>Promotions **</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fr-FR" sz="1600" b="0" i="0" u="none" strike="noStrike" dirty="0">
                          <a:solidFill>
                            <a:schemeClr val="accent3">
                              <a:lumMod val="50000"/>
                            </a:schemeClr>
                          </a:solidFill>
                          <a:effectLst/>
                          <a:latin typeface="+mn-lt"/>
                        </a:rPr>
                        <a:t>Price Reduction Promotion </a:t>
                      </a:r>
                      <a:r>
                        <a:rPr lang="fr-FR" sz="1600" b="0" i="0" u="none" strike="noStrike" dirty="0" err="1">
                          <a:solidFill>
                            <a:schemeClr val="accent3">
                              <a:lumMod val="50000"/>
                            </a:schemeClr>
                          </a:solidFill>
                          <a:effectLst/>
                          <a:latin typeface="+mn-lt"/>
                        </a:rPr>
                        <a:t>Held</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600" u="none" strike="noStrike" dirty="0">
                          <a:solidFill>
                            <a:schemeClr val="accent3">
                              <a:lumMod val="50000"/>
                            </a:schemeClr>
                          </a:solidFill>
                          <a:effectLst/>
                          <a:latin typeface="+mn-lt"/>
                        </a:rPr>
                        <a:t>N</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Y</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N</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fontAlgn="b"/>
                      <a:r>
                        <a:rPr lang="en-GB" sz="1600" u="none" strike="noStrike" dirty="0">
                          <a:solidFill>
                            <a:schemeClr val="accent3">
                              <a:lumMod val="50000"/>
                            </a:schemeClr>
                          </a:solidFill>
                          <a:effectLst/>
                          <a:latin typeface="+mn-lt"/>
                        </a:rPr>
                        <a:t>Boolean</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T>
                      <a:noFill/>
                    </a:lnT>
                  </a:tcPr>
                </a:tc>
                <a:extLst>
                  <a:ext uri="{0D108BD9-81ED-4DB2-BD59-A6C34878D82A}">
                    <a16:rowId xmlns="" xmlns:a16="http://schemas.microsoft.com/office/drawing/2014/main" val="10009"/>
                  </a:ext>
                </a:extLst>
              </a:tr>
              <a:tr h="0">
                <a:tc>
                  <a:txBody>
                    <a:bodyPr/>
                    <a:lstStyle/>
                    <a:p>
                      <a:pPr algn="l" fontAlgn="ctr"/>
                      <a:r>
                        <a:rPr lang="en-GB" sz="1600" u="none" strike="noStrike" dirty="0">
                          <a:solidFill>
                            <a:schemeClr val="accent3">
                              <a:lumMod val="50000"/>
                            </a:schemeClr>
                          </a:solidFill>
                          <a:effectLst/>
                          <a:latin typeface="+mn-lt"/>
                        </a:rPr>
                        <a:t>CPI </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en-GB" sz="1600" u="none" strike="noStrike">
                          <a:solidFill>
                            <a:schemeClr val="accent3">
                              <a:lumMod val="50000"/>
                            </a:schemeClr>
                          </a:solidFill>
                          <a:effectLst/>
                          <a:latin typeface="+mn-lt"/>
                        </a:rPr>
                        <a:t>the consumer price index</a:t>
                      </a:r>
                      <a:endParaRPr lang="en-GB" sz="1600" b="0" i="0" u="none" strike="noStrike">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600" u="none" strike="noStrike" dirty="0">
                          <a:solidFill>
                            <a:schemeClr val="accent3">
                              <a:lumMod val="50000"/>
                            </a:schemeClr>
                          </a:solidFill>
                          <a:effectLst/>
                          <a:latin typeface="+mn-lt"/>
                        </a:rPr>
                        <a:t>N</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Y</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N</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Numeric</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Interval </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10"/>
                  </a:ext>
                </a:extLst>
              </a:tr>
              <a:tr h="0">
                <a:tc>
                  <a:txBody>
                    <a:bodyPr/>
                    <a:lstStyle/>
                    <a:p>
                      <a:pPr algn="l" fontAlgn="ctr"/>
                      <a:r>
                        <a:rPr lang="en-GB" sz="1600" u="none" strike="noStrike" dirty="0">
                          <a:solidFill>
                            <a:schemeClr val="accent3">
                              <a:lumMod val="50000"/>
                            </a:schemeClr>
                          </a:solidFill>
                          <a:effectLst/>
                          <a:latin typeface="+mn-lt"/>
                        </a:rPr>
                        <a:t>Unemployment</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en-GB" sz="1600" u="none" strike="noStrike" dirty="0">
                          <a:solidFill>
                            <a:schemeClr val="accent3">
                              <a:lumMod val="50000"/>
                            </a:schemeClr>
                          </a:solidFill>
                          <a:effectLst/>
                          <a:latin typeface="+mn-lt"/>
                        </a:rPr>
                        <a:t>the unemployment rate</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600" u="none" strike="noStrike" dirty="0">
                          <a:solidFill>
                            <a:schemeClr val="accent3">
                              <a:lumMod val="50000"/>
                            </a:schemeClr>
                          </a:solidFill>
                          <a:effectLst/>
                          <a:latin typeface="+mn-lt"/>
                        </a:rPr>
                        <a:t>N</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Y</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a:solidFill>
                            <a:schemeClr val="accent3">
                              <a:lumMod val="50000"/>
                            </a:schemeClr>
                          </a:solidFill>
                          <a:effectLst/>
                          <a:latin typeface="+mn-lt"/>
                        </a:rPr>
                        <a:t>N</a:t>
                      </a:r>
                      <a:endParaRPr lang="en-GB" sz="1600" b="0" i="0" u="none" strike="noStrike">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Numeric</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Interval </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11"/>
                  </a:ext>
                </a:extLst>
              </a:tr>
              <a:tr h="0">
                <a:tc>
                  <a:txBody>
                    <a:bodyPr/>
                    <a:lstStyle/>
                    <a:p>
                      <a:pPr algn="l" fontAlgn="ctr"/>
                      <a:r>
                        <a:rPr lang="en-GB" sz="1600" u="none" strike="noStrike" dirty="0" err="1">
                          <a:solidFill>
                            <a:schemeClr val="accent3">
                              <a:lumMod val="50000"/>
                            </a:schemeClr>
                          </a:solidFill>
                          <a:effectLst/>
                          <a:latin typeface="+mn-lt"/>
                        </a:rPr>
                        <a:t>IsHoliday</a:t>
                      </a:r>
                      <a:r>
                        <a:rPr lang="en-GB" sz="1600" u="none" strike="noStrike" dirty="0">
                          <a:solidFill>
                            <a:schemeClr val="accent3">
                              <a:lumMod val="50000"/>
                            </a:schemeClr>
                          </a:solidFill>
                          <a:effectLst/>
                          <a:latin typeface="+mn-lt"/>
                        </a:rPr>
                        <a:t> </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en-GB" sz="1600" u="none" strike="noStrike">
                          <a:solidFill>
                            <a:schemeClr val="accent3">
                              <a:lumMod val="50000"/>
                            </a:schemeClr>
                          </a:solidFill>
                          <a:effectLst/>
                          <a:latin typeface="+mn-lt"/>
                        </a:rPr>
                        <a:t>whether the week is a special holiday week</a:t>
                      </a:r>
                      <a:endParaRPr lang="en-GB" sz="1600" b="0" i="0" u="none" strike="noStrike">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600" u="none" strike="noStrike" dirty="0">
                          <a:solidFill>
                            <a:schemeClr val="accent3">
                              <a:lumMod val="50000"/>
                            </a:schemeClr>
                          </a:solidFill>
                          <a:effectLst/>
                          <a:latin typeface="+mn-lt"/>
                        </a:rPr>
                        <a:t>N</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Y</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Y</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fontAlgn="b"/>
                      <a:r>
                        <a:rPr lang="en-GB" sz="1600" u="none" strike="noStrike" dirty="0">
                          <a:solidFill>
                            <a:schemeClr val="accent3">
                              <a:lumMod val="50000"/>
                            </a:schemeClr>
                          </a:solidFill>
                          <a:effectLst/>
                          <a:latin typeface="+mn-lt"/>
                        </a:rPr>
                        <a:t>Binary</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sz="1400" dirty="0">
                        <a:solidFill>
                          <a:schemeClr val="accent3">
                            <a:lumMod val="50000"/>
                          </a:schemeClr>
                        </a:solidFill>
                        <a:latin typeface="+mn-lt"/>
                      </a:endParaRPr>
                    </a:p>
                  </a:txBody>
                  <a:tcPr marL="9525" marR="9525" marT="9525" marB="0" anchor="ctr">
                    <a:lnT>
                      <a:noFill/>
                    </a:lnT>
                  </a:tcPr>
                </a:tc>
                <a:extLst>
                  <a:ext uri="{0D108BD9-81ED-4DB2-BD59-A6C34878D82A}">
                    <a16:rowId xmlns="" xmlns:a16="http://schemas.microsoft.com/office/drawing/2014/main" val="10012"/>
                  </a:ext>
                </a:extLst>
              </a:tr>
              <a:tr h="0">
                <a:tc>
                  <a:txBody>
                    <a:bodyPr/>
                    <a:lstStyle/>
                    <a:p>
                      <a:pPr algn="l" fontAlgn="ctr"/>
                      <a:r>
                        <a:rPr lang="en-GB" sz="1600" u="none" strike="noStrike" dirty="0">
                          <a:solidFill>
                            <a:schemeClr val="accent3">
                              <a:lumMod val="50000"/>
                            </a:schemeClr>
                          </a:solidFill>
                          <a:effectLst/>
                          <a:latin typeface="+mn-lt"/>
                        </a:rPr>
                        <a:t>Department</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en-GB" sz="1600" u="none" strike="noStrike">
                          <a:solidFill>
                            <a:schemeClr val="accent3">
                              <a:lumMod val="50000"/>
                            </a:schemeClr>
                          </a:solidFill>
                          <a:effectLst/>
                          <a:latin typeface="+mn-lt"/>
                        </a:rPr>
                        <a:t>the anonymised department number</a:t>
                      </a:r>
                      <a:endParaRPr lang="en-GB" sz="1600" b="0" i="0" u="none" strike="noStrike">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600" u="none" strike="noStrike" dirty="0">
                          <a:solidFill>
                            <a:schemeClr val="accent3">
                              <a:lumMod val="50000"/>
                            </a:schemeClr>
                          </a:solidFill>
                          <a:effectLst/>
                          <a:latin typeface="+mn-lt"/>
                        </a:rPr>
                        <a:t>N</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N</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Y</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Numeric</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Interval </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13"/>
                  </a:ext>
                </a:extLst>
              </a:tr>
              <a:tr h="0">
                <a:tc>
                  <a:txBody>
                    <a:bodyPr/>
                    <a:lstStyle/>
                    <a:p>
                      <a:pPr algn="l" fontAlgn="ctr"/>
                      <a:r>
                        <a:rPr lang="en-GB" sz="1600" u="none" strike="noStrike" dirty="0" err="1">
                          <a:solidFill>
                            <a:schemeClr val="accent3">
                              <a:lumMod val="50000"/>
                            </a:schemeClr>
                          </a:solidFill>
                          <a:effectLst/>
                          <a:latin typeface="+mn-lt"/>
                        </a:rPr>
                        <a:t>Weekly_Sales</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en-GB" sz="1600" u="none" strike="noStrike" dirty="0">
                          <a:solidFill>
                            <a:schemeClr val="accent3">
                              <a:lumMod val="50000"/>
                            </a:schemeClr>
                          </a:solidFill>
                          <a:effectLst/>
                          <a:latin typeface="+mn-lt"/>
                        </a:rPr>
                        <a:t>sales for the given department in the given store</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600" u="none" strike="noStrike" dirty="0">
                          <a:solidFill>
                            <a:schemeClr val="accent3">
                              <a:lumMod val="50000"/>
                            </a:schemeClr>
                          </a:solidFill>
                          <a:effectLst/>
                          <a:latin typeface="+mn-lt"/>
                        </a:rPr>
                        <a:t>N</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N</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Y</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a:solidFill>
                            <a:schemeClr val="accent3">
                              <a:lumMod val="50000"/>
                            </a:schemeClr>
                          </a:solidFill>
                          <a:effectLst/>
                          <a:latin typeface="+mn-lt"/>
                        </a:rPr>
                        <a:t>Numeric</a:t>
                      </a:r>
                      <a:endParaRPr lang="en-GB" sz="1600" b="0" i="0" u="none" strike="noStrike">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600" u="none" strike="noStrike" dirty="0">
                          <a:solidFill>
                            <a:schemeClr val="accent3">
                              <a:lumMod val="50000"/>
                            </a:schemeClr>
                          </a:solidFill>
                          <a:effectLst/>
                          <a:latin typeface="+mn-lt"/>
                        </a:rPr>
                        <a:t>Interval </a:t>
                      </a:r>
                      <a:endParaRPr lang="en-GB" sz="16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14"/>
                  </a:ext>
                </a:extLst>
              </a:tr>
            </a:tbl>
          </a:graphicData>
        </a:graphic>
      </p:graphicFrame>
      <p:sp>
        <p:nvSpPr>
          <p:cNvPr id="5" name="Rectangle 4">
            <a:extLst>
              <a:ext uri="{FF2B5EF4-FFF2-40B4-BE49-F238E27FC236}">
                <a16:creationId xmlns="" xmlns:a16="http://schemas.microsoft.com/office/drawing/2014/main" id="{048A8BAA-5216-4D3E-90F0-5B40C8D44140}"/>
              </a:ext>
            </a:extLst>
          </p:cNvPr>
          <p:cNvSpPr/>
          <p:nvPr/>
        </p:nvSpPr>
        <p:spPr>
          <a:xfrm>
            <a:off x="323897" y="5136355"/>
            <a:ext cx="11574683" cy="646331"/>
          </a:xfrm>
          <a:prstGeom prst="rect">
            <a:avLst/>
          </a:prstGeom>
        </p:spPr>
        <p:txBody>
          <a:bodyPr wrap="square">
            <a:spAutoFit/>
          </a:bodyPr>
          <a:lstStyle/>
          <a:p>
            <a:pPr fontAlgn="ctr"/>
            <a:r>
              <a:rPr lang="en-GB" dirty="0">
                <a:solidFill>
                  <a:schemeClr val="accent3">
                    <a:lumMod val="50000"/>
                  </a:schemeClr>
                </a:solidFill>
              </a:rPr>
              <a:t>** anonymised data related to promotions, mainly price reductions that the retailer is running. Promotion data is only available after Nov. 2011, and is not available for all stores all the time. Any missing value is marked with an NA.</a:t>
            </a:r>
          </a:p>
        </p:txBody>
      </p:sp>
    </p:spTree>
    <p:extLst>
      <p:ext uri="{BB962C8B-B14F-4D97-AF65-F5344CB8AC3E}">
        <p14:creationId xmlns:p14="http://schemas.microsoft.com/office/powerpoint/2010/main" val="15752440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365760"/>
            <a:ext cx="10027920" cy="548640"/>
          </a:xfrm>
        </p:spPr>
        <p:txBody>
          <a:bodyPr/>
          <a:lstStyle/>
          <a:p>
            <a:r>
              <a:rPr lang="en-GB" dirty="0"/>
              <a:t>Data description, visualisation and summarisation</a:t>
            </a:r>
          </a:p>
        </p:txBody>
      </p:sp>
      <p:graphicFrame>
        <p:nvGraphicFramePr>
          <p:cNvPr id="4" name="Table 3"/>
          <p:cNvGraphicFramePr>
            <a:graphicFrameLocks noGrp="1"/>
          </p:cNvGraphicFramePr>
          <p:nvPr>
            <p:extLst>
              <p:ext uri="{D42A27DB-BD31-4B8C-83A1-F6EECF244321}">
                <p14:modId xmlns:p14="http://schemas.microsoft.com/office/powerpoint/2010/main" val="3226621698"/>
              </p:ext>
            </p:extLst>
          </p:nvPr>
        </p:nvGraphicFramePr>
        <p:xfrm>
          <a:off x="1097280" y="2172441"/>
          <a:ext cx="9792184" cy="2167432"/>
        </p:xfrm>
        <a:graphic>
          <a:graphicData uri="http://schemas.openxmlformats.org/drawingml/2006/table">
            <a:tbl>
              <a:tblPr>
                <a:tableStyleId>{BC89EF96-8CEA-46FF-86C4-4CE0E7609802}</a:tableStyleId>
              </a:tblPr>
              <a:tblGrid>
                <a:gridCol w="2395909">
                  <a:extLst>
                    <a:ext uri="{9D8B030D-6E8A-4147-A177-3AD203B41FA5}">
                      <a16:colId xmlns="" xmlns:a16="http://schemas.microsoft.com/office/drawing/2014/main" val="20000"/>
                    </a:ext>
                  </a:extLst>
                </a:gridCol>
                <a:gridCol w="1223846">
                  <a:extLst>
                    <a:ext uri="{9D8B030D-6E8A-4147-A177-3AD203B41FA5}">
                      <a16:colId xmlns="" xmlns:a16="http://schemas.microsoft.com/office/drawing/2014/main" val="20007"/>
                    </a:ext>
                  </a:extLst>
                </a:gridCol>
                <a:gridCol w="1383473">
                  <a:extLst>
                    <a:ext uri="{9D8B030D-6E8A-4147-A177-3AD203B41FA5}">
                      <a16:colId xmlns="" xmlns:a16="http://schemas.microsoft.com/office/drawing/2014/main" val="20008"/>
                    </a:ext>
                  </a:extLst>
                </a:gridCol>
                <a:gridCol w="1197239">
                  <a:extLst>
                    <a:ext uri="{9D8B030D-6E8A-4147-A177-3AD203B41FA5}">
                      <a16:colId xmlns="" xmlns:a16="http://schemas.microsoft.com/office/drawing/2014/main" val="20009"/>
                    </a:ext>
                  </a:extLst>
                </a:gridCol>
                <a:gridCol w="1197239">
                  <a:extLst>
                    <a:ext uri="{9D8B030D-6E8A-4147-A177-3AD203B41FA5}">
                      <a16:colId xmlns="" xmlns:a16="http://schemas.microsoft.com/office/drawing/2014/main" val="20010"/>
                    </a:ext>
                  </a:extLst>
                </a:gridCol>
                <a:gridCol w="1197239">
                  <a:extLst>
                    <a:ext uri="{9D8B030D-6E8A-4147-A177-3AD203B41FA5}">
                      <a16:colId xmlns="" xmlns:a16="http://schemas.microsoft.com/office/drawing/2014/main" val="20011"/>
                    </a:ext>
                  </a:extLst>
                </a:gridCol>
                <a:gridCol w="1197239">
                  <a:extLst>
                    <a:ext uri="{9D8B030D-6E8A-4147-A177-3AD203B41FA5}">
                      <a16:colId xmlns="" xmlns:a16="http://schemas.microsoft.com/office/drawing/2014/main" val="20012"/>
                    </a:ext>
                  </a:extLst>
                </a:gridCol>
              </a:tblGrid>
              <a:tr h="609757">
                <a:tc rowSpan="2">
                  <a:txBody>
                    <a:bodyPr/>
                    <a:lstStyle/>
                    <a:p>
                      <a:pPr algn="l" fontAlgn="ctr"/>
                      <a:r>
                        <a:rPr lang="en-GB" sz="1800" b="1" u="none" strike="noStrike" dirty="0">
                          <a:solidFill>
                            <a:schemeClr val="bg1"/>
                          </a:solidFill>
                          <a:effectLst/>
                          <a:latin typeface="+mn-lt"/>
                        </a:rPr>
                        <a:t>Column</a:t>
                      </a:r>
                      <a:endParaRPr lang="en-GB" sz="1800" b="1" i="0" u="none" strike="noStrike" dirty="0">
                        <a:solidFill>
                          <a:schemeClr val="bg1"/>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D5BAE"/>
                    </a:solidFill>
                  </a:tcPr>
                </a:tc>
                <a:tc gridSpan="3">
                  <a:txBody>
                    <a:bodyPr/>
                    <a:lstStyle/>
                    <a:p>
                      <a:pPr algn="ctr" fontAlgn="b"/>
                      <a:r>
                        <a:rPr lang="en-GB" sz="1800" b="1" u="none" strike="noStrike" dirty="0">
                          <a:solidFill>
                            <a:schemeClr val="bg1"/>
                          </a:solidFill>
                          <a:effectLst/>
                          <a:latin typeface="+mn-lt"/>
                        </a:rPr>
                        <a:t>Measures of central tendency </a:t>
                      </a:r>
                      <a:endParaRPr lang="en-GB" sz="1800" b="1" i="0" u="none" strike="noStrike" dirty="0">
                        <a:solidFill>
                          <a:schemeClr val="bg1"/>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D5BAE"/>
                    </a:solidFill>
                  </a:tcPr>
                </a:tc>
                <a:tc hMerge="1">
                  <a:txBody>
                    <a:bodyPr/>
                    <a:lstStyle/>
                    <a:p>
                      <a:pPr algn="ctr" fontAlgn="b"/>
                      <a:endParaRPr lang="en-GB" sz="1100" b="0" i="0" u="sng" strike="noStrike" dirty="0">
                        <a:solidFill>
                          <a:srgbClr val="000000"/>
                        </a:solidFill>
                        <a:effectLst/>
                        <a:latin typeface="Arial" panose="020B0604020202020204" pitchFamily="34" charset="0"/>
                      </a:endParaRPr>
                    </a:p>
                  </a:txBody>
                  <a:tcPr marL="9525" marR="9525" marT="9525" marB="0" anchor="ctr"/>
                </a:tc>
                <a:tc hMerge="1">
                  <a:txBody>
                    <a:bodyPr/>
                    <a:lstStyle/>
                    <a:p>
                      <a:pPr algn="ctr" fontAlgn="b"/>
                      <a:endParaRPr lang="en-GB" sz="1100" b="0" i="0" u="sng" strike="noStrike" dirty="0">
                        <a:solidFill>
                          <a:srgbClr val="000000"/>
                        </a:solidFill>
                        <a:effectLst/>
                        <a:latin typeface="Arial" panose="020B0604020202020204" pitchFamily="34" charset="0"/>
                      </a:endParaRPr>
                    </a:p>
                  </a:txBody>
                  <a:tcPr marL="9525" marR="9525" marT="9525" marB="0" anchor="ctr"/>
                </a:tc>
                <a:tc rowSpan="2">
                  <a:txBody>
                    <a:bodyPr/>
                    <a:lstStyle/>
                    <a:p>
                      <a:pPr algn="ctr" fontAlgn="b"/>
                      <a:r>
                        <a:rPr lang="en-GB" sz="1800" b="1" u="none" strike="noStrike" dirty="0">
                          <a:solidFill>
                            <a:schemeClr val="bg1"/>
                          </a:solidFill>
                          <a:effectLst/>
                          <a:latin typeface="+mn-lt"/>
                        </a:rPr>
                        <a:t>Min</a:t>
                      </a:r>
                      <a:endParaRPr lang="en-GB" sz="1800" b="1" i="0" u="none" strike="noStrike" dirty="0">
                        <a:solidFill>
                          <a:schemeClr val="bg1"/>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D5BAE"/>
                    </a:solidFill>
                  </a:tcPr>
                </a:tc>
                <a:tc rowSpan="2">
                  <a:txBody>
                    <a:bodyPr/>
                    <a:lstStyle/>
                    <a:p>
                      <a:pPr algn="ctr" fontAlgn="b"/>
                      <a:r>
                        <a:rPr lang="en-GB" sz="1800" b="1" u="none" strike="noStrike" dirty="0">
                          <a:solidFill>
                            <a:schemeClr val="bg1"/>
                          </a:solidFill>
                          <a:effectLst/>
                          <a:latin typeface="+mn-lt"/>
                        </a:rPr>
                        <a:t>Max</a:t>
                      </a:r>
                      <a:endParaRPr lang="en-GB" sz="1800" b="1" i="0" u="none" strike="noStrike" dirty="0">
                        <a:solidFill>
                          <a:schemeClr val="bg1"/>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D5BAE"/>
                    </a:solidFill>
                  </a:tcPr>
                </a:tc>
                <a:tc rowSpan="2">
                  <a:txBody>
                    <a:bodyPr/>
                    <a:lstStyle/>
                    <a:p>
                      <a:pPr algn="ctr" fontAlgn="b"/>
                      <a:r>
                        <a:rPr lang="en-GB" sz="1800" b="1" u="none" strike="noStrike" dirty="0">
                          <a:solidFill>
                            <a:schemeClr val="bg1"/>
                          </a:solidFill>
                          <a:effectLst/>
                          <a:latin typeface="+mn-lt"/>
                        </a:rPr>
                        <a:t>SD</a:t>
                      </a:r>
                      <a:endParaRPr lang="en-GB" sz="1800" b="1" i="0" u="none" strike="noStrike" dirty="0">
                        <a:solidFill>
                          <a:schemeClr val="bg1"/>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D5BAE"/>
                    </a:solidFill>
                  </a:tcPr>
                </a:tc>
                <a:extLst>
                  <a:ext uri="{0D108BD9-81ED-4DB2-BD59-A6C34878D82A}">
                    <a16:rowId xmlns="" xmlns:a16="http://schemas.microsoft.com/office/drawing/2014/main" val="10000"/>
                  </a:ext>
                </a:extLst>
              </a:tr>
              <a:tr h="311535">
                <a:tc vMerge="1">
                  <a:txBody>
                    <a:bodyPr/>
                    <a:lstStyle/>
                    <a:p>
                      <a:pPr algn="l" fontAlgn="ctr"/>
                      <a:endParaRPr lang="en-GB" sz="1100" b="0" i="0" u="sng"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800" b="0" u="none" strike="noStrike" dirty="0">
                          <a:solidFill>
                            <a:schemeClr val="bg1"/>
                          </a:solidFill>
                          <a:effectLst/>
                          <a:latin typeface="+mn-lt"/>
                        </a:rPr>
                        <a:t>mean</a:t>
                      </a:r>
                      <a:endParaRPr lang="en-GB" sz="1800" b="0" i="0" u="none" strike="noStrike" dirty="0">
                        <a:solidFill>
                          <a:schemeClr val="bg1"/>
                        </a:solidFill>
                        <a:effectLst/>
                        <a:latin typeface="+mn-lt"/>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D5BAE"/>
                    </a:solidFill>
                  </a:tcPr>
                </a:tc>
                <a:tc>
                  <a:txBody>
                    <a:bodyPr/>
                    <a:lstStyle/>
                    <a:p>
                      <a:pPr algn="ctr" fontAlgn="b"/>
                      <a:r>
                        <a:rPr lang="en-GB" sz="1800" b="0" u="none" strike="noStrike" dirty="0">
                          <a:solidFill>
                            <a:schemeClr val="bg1"/>
                          </a:solidFill>
                          <a:effectLst/>
                          <a:latin typeface="+mn-lt"/>
                        </a:rPr>
                        <a:t>median</a:t>
                      </a:r>
                      <a:endParaRPr lang="en-GB" sz="1800" b="0" i="0" u="none" strike="noStrike" dirty="0">
                        <a:solidFill>
                          <a:schemeClr val="bg1"/>
                        </a:solidFill>
                        <a:effectLst/>
                        <a:latin typeface="+mn-lt"/>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D5BAE"/>
                    </a:solidFill>
                  </a:tcPr>
                </a:tc>
                <a:tc>
                  <a:txBody>
                    <a:bodyPr/>
                    <a:lstStyle/>
                    <a:p>
                      <a:pPr algn="ctr" fontAlgn="b"/>
                      <a:r>
                        <a:rPr lang="en-GB" sz="1800" b="0" u="none" strike="noStrike" dirty="0">
                          <a:solidFill>
                            <a:schemeClr val="bg1"/>
                          </a:solidFill>
                          <a:effectLst/>
                          <a:latin typeface="+mn-lt"/>
                        </a:rPr>
                        <a:t>mode</a:t>
                      </a:r>
                      <a:endParaRPr lang="en-GB" sz="1800" b="0" i="0" u="none" strike="noStrike" dirty="0">
                        <a:solidFill>
                          <a:schemeClr val="bg1"/>
                        </a:solidFill>
                        <a:effectLst/>
                        <a:latin typeface="+mn-lt"/>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D5BAE"/>
                    </a:solidFill>
                  </a:tcPr>
                </a:tc>
                <a:tc vMerge="1">
                  <a:txBody>
                    <a:bodyPr/>
                    <a:lstStyle/>
                    <a:p>
                      <a:pPr algn="l" fontAlgn="b"/>
                      <a:endParaRPr lang="en-GB" sz="1000" b="0" i="0" u="none" strike="noStrike" dirty="0">
                        <a:solidFill>
                          <a:srgbClr val="000000"/>
                        </a:solidFill>
                        <a:effectLst/>
                        <a:latin typeface="Arial" panose="020B0604020202020204" pitchFamily="34" charset="0"/>
                      </a:endParaRPr>
                    </a:p>
                  </a:txBody>
                  <a:tcPr marL="9525" marR="9525" marT="9525" marB="0" anchor="b"/>
                </a:tc>
                <a:tc vMerge="1">
                  <a:txBody>
                    <a:bodyPr/>
                    <a:lstStyle/>
                    <a:p>
                      <a:pPr algn="l" fontAlgn="b"/>
                      <a:endParaRPr lang="en-GB" sz="1000" b="0" i="0" u="none" strike="noStrike" dirty="0">
                        <a:solidFill>
                          <a:srgbClr val="000000"/>
                        </a:solidFill>
                        <a:effectLst/>
                        <a:latin typeface="Arial" panose="020B0604020202020204" pitchFamily="34" charset="0"/>
                      </a:endParaRPr>
                    </a:p>
                  </a:txBody>
                  <a:tcPr marL="9525" marR="9525" marT="9525" marB="0" anchor="b"/>
                </a:tc>
                <a:tc vMerge="1">
                  <a:txBody>
                    <a:bodyPr/>
                    <a:lstStyle/>
                    <a:p>
                      <a:endParaRPr lang="en-GB"/>
                    </a:p>
                  </a:txBody>
                  <a:tcPr/>
                </a:tc>
                <a:extLst>
                  <a:ext uri="{0D108BD9-81ED-4DB2-BD59-A6C34878D82A}">
                    <a16:rowId xmlns="" xmlns:a16="http://schemas.microsoft.com/office/drawing/2014/main" val="10002"/>
                  </a:ext>
                </a:extLst>
              </a:tr>
              <a:tr h="311535">
                <a:tc>
                  <a:txBody>
                    <a:bodyPr/>
                    <a:lstStyle/>
                    <a:p>
                      <a:pPr algn="l" fontAlgn="ctr"/>
                      <a:r>
                        <a:rPr lang="en-GB" sz="1800" u="none" strike="noStrike" dirty="0">
                          <a:solidFill>
                            <a:schemeClr val="accent3">
                              <a:lumMod val="50000"/>
                            </a:schemeClr>
                          </a:solidFill>
                          <a:effectLst/>
                          <a:latin typeface="+mn-lt"/>
                        </a:rPr>
                        <a:t>Size </a:t>
                      </a:r>
                      <a:endParaRPr lang="en-GB" sz="18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GB" sz="1800" b="0" i="0" u="none" strike="noStrike" dirty="0">
                          <a:solidFill>
                            <a:schemeClr val="accent3">
                              <a:lumMod val="50000"/>
                            </a:schemeClr>
                          </a:solidFill>
                          <a:effectLst/>
                          <a:latin typeface="+mn-lt"/>
                        </a:rPr>
                        <a:t>130287.60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800" b="0" i="0" u="none" strike="noStrike" dirty="0">
                          <a:solidFill>
                            <a:schemeClr val="accent3">
                              <a:lumMod val="50000"/>
                            </a:schemeClr>
                          </a:solidFill>
                          <a:effectLst/>
                          <a:latin typeface="+mn-lt"/>
                        </a:rPr>
                        <a:t>126512.00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800" b="0" i="0" u="none" strike="noStrike" dirty="0">
                          <a:solidFill>
                            <a:schemeClr val="accent3">
                              <a:lumMod val="50000"/>
                            </a:schemeClr>
                          </a:solidFill>
                          <a:effectLst/>
                          <a:latin typeface="+mn-lt"/>
                        </a:rPr>
                        <a:t>39690.00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800" b="0" i="0" u="none" strike="noStrike" dirty="0">
                          <a:solidFill>
                            <a:schemeClr val="accent3">
                              <a:lumMod val="50000"/>
                            </a:schemeClr>
                          </a:solidFill>
                          <a:effectLst/>
                          <a:latin typeface="+mn-lt"/>
                        </a:rPr>
                        <a:t>34875.00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800" b="0" i="0" u="none" strike="noStrike" dirty="0">
                          <a:solidFill>
                            <a:schemeClr val="accent3">
                              <a:lumMod val="50000"/>
                            </a:schemeClr>
                          </a:solidFill>
                          <a:effectLst/>
                          <a:latin typeface="+mn-lt"/>
                        </a:rPr>
                        <a:t>219622.00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800" b="0" i="0" u="none" strike="noStrike" dirty="0">
                          <a:solidFill>
                            <a:schemeClr val="accent3">
                              <a:lumMod val="50000"/>
                            </a:schemeClr>
                          </a:solidFill>
                          <a:effectLst/>
                          <a:latin typeface="+mn-lt"/>
                        </a:rPr>
                        <a:t>63825.27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5"/>
                  </a:ext>
                </a:extLst>
              </a:tr>
              <a:tr h="311535">
                <a:tc>
                  <a:txBody>
                    <a:bodyPr/>
                    <a:lstStyle/>
                    <a:p>
                      <a:pPr algn="l" fontAlgn="ctr"/>
                      <a:r>
                        <a:rPr lang="en-GB" sz="1800" u="none" strike="noStrike" dirty="0">
                          <a:solidFill>
                            <a:schemeClr val="accent3">
                              <a:lumMod val="50000"/>
                            </a:schemeClr>
                          </a:solidFill>
                          <a:effectLst/>
                          <a:latin typeface="+mn-lt"/>
                        </a:rPr>
                        <a:t>Temperature </a:t>
                      </a:r>
                      <a:endParaRPr lang="en-GB" sz="18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GB" sz="1800" b="0" i="0" u="none" strike="noStrike" dirty="0">
                          <a:solidFill>
                            <a:schemeClr val="accent3">
                              <a:lumMod val="50000"/>
                            </a:schemeClr>
                          </a:solidFill>
                          <a:effectLst/>
                          <a:latin typeface="+mn-lt"/>
                        </a:rPr>
                        <a:t>59.36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800" b="0" i="0" u="none" strike="noStrike" dirty="0">
                          <a:solidFill>
                            <a:schemeClr val="accent3">
                              <a:lumMod val="50000"/>
                            </a:schemeClr>
                          </a:solidFill>
                          <a:effectLst/>
                          <a:latin typeface="+mn-lt"/>
                        </a:rPr>
                        <a:t>60.71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800" b="0" i="0" u="none" strike="noStrike" dirty="0">
                          <a:solidFill>
                            <a:schemeClr val="accent3">
                              <a:lumMod val="50000"/>
                            </a:schemeClr>
                          </a:solidFill>
                          <a:effectLst/>
                          <a:latin typeface="+mn-lt"/>
                        </a:rPr>
                        <a:t>70.28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800" b="0" i="0" u="none" strike="noStrike" dirty="0">
                          <a:solidFill>
                            <a:schemeClr val="accent3">
                              <a:lumMod val="50000"/>
                            </a:schemeClr>
                          </a:solidFill>
                          <a:effectLst/>
                          <a:latin typeface="+mn-lt"/>
                        </a:rPr>
                        <a:t>-7.29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800" b="0" i="0" u="none" strike="noStrike" dirty="0">
                          <a:solidFill>
                            <a:schemeClr val="accent3">
                              <a:lumMod val="50000"/>
                            </a:schemeClr>
                          </a:solidFill>
                          <a:effectLst/>
                          <a:latin typeface="+mn-lt"/>
                        </a:rPr>
                        <a:t>101.95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800" b="0" i="0" u="none" strike="noStrike" dirty="0">
                          <a:solidFill>
                            <a:schemeClr val="accent3">
                              <a:lumMod val="50000"/>
                            </a:schemeClr>
                          </a:solidFill>
                          <a:effectLst/>
                          <a:latin typeface="+mn-lt"/>
                        </a:rPr>
                        <a:t>18.68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7"/>
                  </a:ext>
                </a:extLst>
              </a:tr>
              <a:tr h="311535">
                <a:tc>
                  <a:txBody>
                    <a:bodyPr/>
                    <a:lstStyle/>
                    <a:p>
                      <a:pPr algn="l" fontAlgn="ctr"/>
                      <a:r>
                        <a:rPr lang="en-GB" sz="1800" u="none" strike="noStrike" dirty="0" err="1">
                          <a:solidFill>
                            <a:schemeClr val="accent3">
                              <a:lumMod val="50000"/>
                            </a:schemeClr>
                          </a:solidFill>
                          <a:effectLst/>
                          <a:latin typeface="+mn-lt"/>
                        </a:rPr>
                        <a:t>Fuel_Price</a:t>
                      </a:r>
                      <a:endParaRPr lang="en-GB" sz="18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GB" sz="1800" b="0" i="0" u="none" strike="noStrike" dirty="0">
                          <a:solidFill>
                            <a:schemeClr val="accent3">
                              <a:lumMod val="50000"/>
                            </a:schemeClr>
                          </a:solidFill>
                          <a:effectLst/>
                          <a:latin typeface="+mn-lt"/>
                        </a:rPr>
                        <a:t>3.41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800" b="0" i="0" u="none" strike="noStrike" dirty="0">
                          <a:solidFill>
                            <a:schemeClr val="accent3">
                              <a:lumMod val="50000"/>
                            </a:schemeClr>
                          </a:solidFill>
                          <a:effectLst/>
                          <a:latin typeface="+mn-lt"/>
                        </a:rPr>
                        <a:t>3.51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800" b="0" i="0" u="none" strike="noStrike" dirty="0">
                          <a:solidFill>
                            <a:schemeClr val="accent3">
                              <a:lumMod val="50000"/>
                            </a:schemeClr>
                          </a:solidFill>
                          <a:effectLst/>
                          <a:latin typeface="+mn-lt"/>
                        </a:rPr>
                        <a:t>3.64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800" b="0" i="0" u="none" strike="noStrike" dirty="0">
                          <a:solidFill>
                            <a:schemeClr val="accent3">
                              <a:lumMod val="50000"/>
                            </a:schemeClr>
                          </a:solidFill>
                          <a:effectLst/>
                          <a:latin typeface="+mn-lt"/>
                        </a:rPr>
                        <a:t>2.47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800" b="0" i="0" u="none" strike="noStrike" dirty="0">
                          <a:solidFill>
                            <a:schemeClr val="accent3">
                              <a:lumMod val="50000"/>
                            </a:schemeClr>
                          </a:solidFill>
                          <a:effectLst/>
                          <a:latin typeface="+mn-lt"/>
                        </a:rPr>
                        <a:t>4.47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800" b="0" i="0" u="none" strike="noStrike" dirty="0">
                          <a:solidFill>
                            <a:schemeClr val="accent3">
                              <a:lumMod val="50000"/>
                            </a:schemeClr>
                          </a:solidFill>
                          <a:effectLst/>
                          <a:latin typeface="+mn-lt"/>
                        </a:rPr>
                        <a:t>0.43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8"/>
                  </a:ext>
                </a:extLst>
              </a:tr>
              <a:tr h="311535">
                <a:tc>
                  <a:txBody>
                    <a:bodyPr/>
                    <a:lstStyle/>
                    <a:p>
                      <a:pPr algn="l" fontAlgn="ctr"/>
                      <a:r>
                        <a:rPr lang="en-GB" sz="1800" u="none" strike="noStrike" dirty="0">
                          <a:solidFill>
                            <a:schemeClr val="accent3">
                              <a:lumMod val="50000"/>
                            </a:schemeClr>
                          </a:solidFill>
                          <a:effectLst/>
                          <a:latin typeface="+mn-lt"/>
                        </a:rPr>
                        <a:t>CPI </a:t>
                      </a:r>
                      <a:endParaRPr lang="en-GB" sz="1800" b="0" i="0" u="none" strike="noStrike" dirty="0">
                        <a:solidFill>
                          <a:schemeClr val="accent3">
                            <a:lumMod val="50000"/>
                          </a:schemeClr>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GB" sz="1800" b="0" i="0" u="none" strike="noStrike" dirty="0">
                          <a:solidFill>
                            <a:schemeClr val="accent3">
                              <a:lumMod val="50000"/>
                            </a:schemeClr>
                          </a:solidFill>
                          <a:effectLst/>
                          <a:latin typeface="+mn-lt"/>
                        </a:rPr>
                        <a:t>172.46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800" b="0" i="0" u="none" strike="noStrike" dirty="0">
                          <a:solidFill>
                            <a:schemeClr val="accent3">
                              <a:lumMod val="50000"/>
                            </a:schemeClr>
                          </a:solidFill>
                          <a:effectLst/>
                          <a:latin typeface="+mn-lt"/>
                        </a:rPr>
                        <a:t>182.76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800" b="0" i="0" u="none" strike="noStrike" dirty="0">
                          <a:solidFill>
                            <a:schemeClr val="accent3">
                              <a:lumMod val="50000"/>
                            </a:schemeClr>
                          </a:solidFill>
                          <a:effectLst/>
                          <a:latin typeface="+mn-lt"/>
                        </a:rPr>
                        <a:t>132.72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800" b="0" i="0" u="none" strike="noStrike" dirty="0">
                          <a:solidFill>
                            <a:schemeClr val="accent3">
                              <a:lumMod val="50000"/>
                            </a:schemeClr>
                          </a:solidFill>
                          <a:effectLst/>
                          <a:latin typeface="+mn-lt"/>
                        </a:rPr>
                        <a:t>126.06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800" b="0" i="0" u="none" strike="noStrike" dirty="0">
                          <a:solidFill>
                            <a:schemeClr val="accent3">
                              <a:lumMod val="50000"/>
                            </a:schemeClr>
                          </a:solidFill>
                          <a:effectLst/>
                          <a:latin typeface="+mn-lt"/>
                        </a:rPr>
                        <a:t>228.98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800" b="0" i="0" u="none" strike="noStrike" dirty="0">
                          <a:solidFill>
                            <a:schemeClr val="accent3">
                              <a:lumMod val="50000"/>
                            </a:schemeClr>
                          </a:solidFill>
                          <a:effectLst/>
                          <a:latin typeface="+mn-lt"/>
                        </a:rPr>
                        <a:t>39.74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10"/>
                  </a:ext>
                </a:extLst>
              </a:tr>
            </a:tbl>
          </a:graphicData>
        </a:graphic>
      </p:graphicFrame>
      <p:sp>
        <p:nvSpPr>
          <p:cNvPr id="7" name="Content Placeholder 2">
            <a:extLst>
              <a:ext uri="{FF2B5EF4-FFF2-40B4-BE49-F238E27FC236}">
                <a16:creationId xmlns="" xmlns:a16="http://schemas.microsoft.com/office/drawing/2014/main" id="{62FC7400-0CD4-4DB8-9754-024EB357D173}"/>
              </a:ext>
            </a:extLst>
          </p:cNvPr>
          <p:cNvSpPr>
            <a:spLocks noGrp="1"/>
          </p:cNvSpPr>
          <p:nvPr>
            <p:ph idx="1"/>
          </p:nvPr>
        </p:nvSpPr>
        <p:spPr>
          <a:xfrm>
            <a:off x="1097280" y="1100628"/>
            <a:ext cx="10027920" cy="948091"/>
          </a:xfrm>
        </p:spPr>
        <p:txBody>
          <a:bodyPr>
            <a:normAutofit/>
          </a:bodyPr>
          <a:lstStyle/>
          <a:p>
            <a:r>
              <a:rPr lang="fr-FR" dirty="0" err="1"/>
              <a:t>Some</a:t>
            </a:r>
            <a:r>
              <a:rPr lang="fr-FR" dirty="0"/>
              <a:t> values have been </a:t>
            </a:r>
            <a:r>
              <a:rPr lang="fr-FR" dirty="0" err="1"/>
              <a:t>evaluated</a:t>
            </a:r>
            <a:r>
              <a:rPr lang="fr-FR" dirty="0"/>
              <a:t> in the </a:t>
            </a:r>
            <a:r>
              <a:rPr lang="fr-FR" dirty="0" err="1"/>
              <a:t>overall</a:t>
            </a:r>
            <a:r>
              <a:rPr lang="fr-FR" dirty="0"/>
              <a:t> situation</a:t>
            </a:r>
          </a:p>
        </p:txBody>
      </p:sp>
      <p:sp>
        <p:nvSpPr>
          <p:cNvPr id="8" name="Content Placeholder 2">
            <a:extLst>
              <a:ext uri="{FF2B5EF4-FFF2-40B4-BE49-F238E27FC236}">
                <a16:creationId xmlns="" xmlns:a16="http://schemas.microsoft.com/office/drawing/2014/main" id="{84B2FD82-91E0-4FCE-B739-F3CCEB2A2CBF}"/>
              </a:ext>
            </a:extLst>
          </p:cNvPr>
          <p:cNvSpPr txBox="1">
            <a:spLocks/>
          </p:cNvSpPr>
          <p:nvPr/>
        </p:nvSpPr>
        <p:spPr>
          <a:xfrm>
            <a:off x="1082039" y="4570845"/>
            <a:ext cx="10027920" cy="948091"/>
          </a:xfrm>
          <a:prstGeom prst="rect">
            <a:avLst/>
          </a:prstGeom>
        </p:spPr>
        <p:txBody>
          <a:bodyPr vert="horz" lIns="91440" tIns="45720" rIns="91440" bIns="45720" rtlCol="0">
            <a:normAutofit/>
          </a:bodyPr>
          <a:lstStyle>
            <a:lvl1pPr marL="180000" indent="-180000" algn="l" defTabSz="914400" rtl="0" eaLnBrk="1" latinLnBrk="0" hangingPunct="1">
              <a:spcBef>
                <a:spcPts val="800"/>
              </a:spcBef>
              <a:buClr>
                <a:srgbClr val="ED5501"/>
              </a:buClr>
              <a:buFont typeface="Arial" panose="020B0604020202020204" pitchFamily="34" charset="0"/>
              <a:buChar char="•"/>
              <a:defRPr sz="2800" b="0" kern="1200">
                <a:solidFill>
                  <a:schemeClr val="tx1"/>
                </a:solidFill>
                <a:latin typeface="Meiryo UI" panose="020B0604030504040204" pitchFamily="34" charset="-128"/>
                <a:ea typeface="Meiryo UI" panose="020B0604030504040204" pitchFamily="34" charset="-128"/>
                <a:cs typeface="Meiryo UI" panose="020B0604030504040204" pitchFamily="34" charset="-128"/>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eiryo UI" panose="020B0604030504040204" pitchFamily="34" charset="-128"/>
                <a:ea typeface="Meiryo UI" panose="020B0604030504040204" pitchFamily="34" charset="-128"/>
                <a:cs typeface="Meiryo UI" panose="020B0604030504040204" pitchFamily="34" charset="-128"/>
              </a:defRPr>
            </a:lvl2pPr>
            <a:lvl3pPr marL="402336" indent="-164592" algn="l" defTabSz="914400" rtl="0" eaLnBrk="1" latinLnBrk="0" hangingPunct="1">
              <a:spcBef>
                <a:spcPts val="300"/>
              </a:spcBef>
              <a:buClr>
                <a:schemeClr val="accent2"/>
              </a:buClr>
              <a:buFont typeface="Arial" panose="020B0604020202020204" pitchFamily="34" charset="0"/>
              <a:buChar char="•"/>
              <a:defRPr sz="2400" kern="1200">
                <a:solidFill>
                  <a:schemeClr val="tx1"/>
                </a:solidFill>
                <a:latin typeface="Meiryo UI" panose="020B0604030504040204" pitchFamily="34" charset="-128"/>
                <a:ea typeface="Meiryo UI" panose="020B0604030504040204" pitchFamily="34" charset="-128"/>
                <a:cs typeface="Meiryo UI" panose="020B0604030504040204" pitchFamily="34" charset="-128"/>
              </a:defRPr>
            </a:lvl3pPr>
            <a:lvl4pPr marL="630936" indent="-164592" algn="l" defTabSz="914400" rtl="0" eaLnBrk="1" latinLnBrk="0" hangingPunct="1">
              <a:spcBef>
                <a:spcPts val="300"/>
              </a:spcBef>
              <a:buClr>
                <a:schemeClr val="accent2"/>
              </a:buClr>
              <a:buFont typeface="Arial" panose="020B0604020202020204" pitchFamily="34" charset="0"/>
              <a:buChar char="•"/>
              <a:defRPr sz="2000" kern="1200">
                <a:solidFill>
                  <a:schemeClr val="tx1"/>
                </a:solidFill>
                <a:latin typeface="Meiryo UI" panose="020B0604030504040204" pitchFamily="34" charset="-128"/>
                <a:ea typeface="Meiryo UI" panose="020B0604030504040204" pitchFamily="34" charset="-128"/>
                <a:cs typeface="Meiryo UI" panose="020B0604030504040204" pitchFamily="34" charset="-128"/>
              </a:defRPr>
            </a:lvl4pPr>
            <a:lvl5pPr marL="859536" indent="-173736" algn="l" defTabSz="914400" rtl="0" eaLnBrk="1" latinLnBrk="0" hangingPunct="1">
              <a:spcBef>
                <a:spcPts val="300"/>
              </a:spcBef>
              <a:buClr>
                <a:schemeClr val="accent2"/>
              </a:buClr>
              <a:buFont typeface="Arial" panose="020B0604020202020204" pitchFamily="34" charset="0"/>
              <a:buChar char="•"/>
              <a:defRPr sz="1800" kern="1200">
                <a:solidFill>
                  <a:schemeClr val="tx1"/>
                </a:solidFill>
                <a:latin typeface="Meiryo UI" panose="020B0604030504040204" pitchFamily="34" charset="-128"/>
                <a:ea typeface="Meiryo UI" panose="020B0604030504040204" pitchFamily="34" charset="-128"/>
                <a:cs typeface="Meiryo UI" panose="020B0604030504040204" pitchFamily="34" charset="-128"/>
              </a:defRPr>
            </a:lvl5pPr>
            <a:lvl6pPr marL="1097280" indent="-173736" algn="l" defTabSz="914400" rtl="0" eaLnBrk="1" latinLnBrk="0" hangingPunct="1">
              <a:spcBef>
                <a:spcPts val="3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r>
              <a:rPr lang="fr-FR" dirty="0" err="1"/>
              <a:t>Similar</a:t>
            </a:r>
            <a:r>
              <a:rPr lang="fr-FR" dirty="0"/>
              <a:t> Work </a:t>
            </a:r>
            <a:r>
              <a:rPr lang="fr-FR" dirty="0" err="1"/>
              <a:t>will</a:t>
            </a:r>
            <a:r>
              <a:rPr lang="fr-FR" dirty="0"/>
              <a:t> </a:t>
            </a:r>
            <a:r>
              <a:rPr lang="fr-FR" dirty="0" err="1"/>
              <a:t>be</a:t>
            </a:r>
            <a:r>
              <a:rPr lang="fr-FR" dirty="0"/>
              <a:t> </a:t>
            </a:r>
            <a:r>
              <a:rPr lang="fr-FR" dirty="0" err="1"/>
              <a:t>performed</a:t>
            </a:r>
            <a:r>
              <a:rPr lang="fr-FR" dirty="0"/>
              <a:t> </a:t>
            </a:r>
            <a:r>
              <a:rPr lang="fr-FR" dirty="0" err="1"/>
              <a:t>with</a:t>
            </a:r>
            <a:r>
              <a:rPr lang="fr-FR" dirty="0"/>
              <a:t> </a:t>
            </a:r>
            <a:r>
              <a:rPr lang="fr-FR" dirty="0" err="1"/>
              <a:t>individual</a:t>
            </a:r>
            <a:r>
              <a:rPr lang="fr-FR" dirty="0"/>
              <a:t> store type</a:t>
            </a:r>
          </a:p>
        </p:txBody>
      </p:sp>
    </p:spTree>
    <p:extLst>
      <p:ext uri="{BB962C8B-B14F-4D97-AF65-F5344CB8AC3E}">
        <p14:creationId xmlns:p14="http://schemas.microsoft.com/office/powerpoint/2010/main" val="14742252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1000"/>
                                        <p:tgtEl>
                                          <p:spTgt spid="7">
                                            <p:txEl>
                                              <p:pRg st="0" end="0"/>
                                            </p:txEl>
                                          </p:spTgt>
                                        </p:tgtEl>
                                      </p:cBhvr>
                                    </p:animEffect>
                                    <p:anim calcmode="lin" valueType="num">
                                      <p:cBhvr>
                                        <p:cTn id="13"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animEffect transition="in" filter="fade">
                                      <p:cBhvr>
                                        <p:cTn id="19" dur="1000"/>
                                        <p:tgtEl>
                                          <p:spTgt spid="8">
                                            <p:txEl>
                                              <p:pRg st="0" end="0"/>
                                            </p:txEl>
                                          </p:spTgt>
                                        </p:tgtEl>
                                      </p:cBhvr>
                                    </p:animEffect>
                                    <p:anim calcmode="lin" valueType="num">
                                      <p:cBhvr>
                                        <p:cTn id="20"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9597877">
            <a:off x="1737989" y="1640677"/>
            <a:ext cx="7534656" cy="1207509"/>
          </a:xfrm>
        </p:spPr>
        <p:txBody>
          <a:bodyPr/>
          <a:lstStyle/>
          <a:p>
            <a:r>
              <a:rPr lang="en-GB" dirty="0">
                <a:solidFill>
                  <a:srgbClr val="E25400"/>
                </a:solidFill>
              </a:rPr>
              <a:t>Data Cleaning</a:t>
            </a:r>
          </a:p>
        </p:txBody>
      </p:sp>
    </p:spTree>
    <p:extLst>
      <p:ext uri="{BB962C8B-B14F-4D97-AF65-F5344CB8AC3E}">
        <p14:creationId xmlns:p14="http://schemas.microsoft.com/office/powerpoint/2010/main" val="20536255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a:t>
            </a:r>
            <a:r>
              <a:rPr lang="en-GB" dirty="0">
                <a:solidFill>
                  <a:srgbClr val="E25400"/>
                </a:solidFill>
              </a:rPr>
              <a:t>visualisation</a:t>
            </a:r>
            <a:r>
              <a:rPr lang="en-GB" dirty="0"/>
              <a:t> -&gt; Data cleaning</a:t>
            </a:r>
          </a:p>
        </p:txBody>
      </p:sp>
      <p:pic>
        <p:nvPicPr>
          <p:cNvPr id="8" name="Picture 10">
            <a:extLst>
              <a:ext uri="{FF2B5EF4-FFF2-40B4-BE49-F238E27FC236}">
                <a16:creationId xmlns="" xmlns:a16="http://schemas.microsoft.com/office/drawing/2014/main" id="{D07BF740-9004-4F99-8602-D0912254509B}"/>
              </a:ext>
            </a:extLst>
          </p:cNvPr>
          <p:cNvPicPr>
            <a:picLocks noChangeAspect="1"/>
          </p:cNvPicPr>
          <p:nvPr/>
        </p:nvPicPr>
        <p:blipFill rotWithShape="1">
          <a:blip r:embed="rId3"/>
          <a:srcRect l="11283" t="23742" r="61918" b="15184"/>
          <a:stretch/>
        </p:blipFill>
        <p:spPr>
          <a:xfrm>
            <a:off x="2332493" y="1038597"/>
            <a:ext cx="7784922" cy="4989830"/>
          </a:xfrm>
          <a:prstGeom prst="rect">
            <a:avLst/>
          </a:prstGeom>
        </p:spPr>
      </p:pic>
    </p:spTree>
    <p:extLst>
      <p:ext uri="{BB962C8B-B14F-4D97-AF65-F5344CB8AC3E}">
        <p14:creationId xmlns:p14="http://schemas.microsoft.com/office/powerpoint/2010/main" val="346354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a:t>
            </a:r>
            <a:r>
              <a:rPr lang="en-GB" dirty="0">
                <a:solidFill>
                  <a:srgbClr val="E25400"/>
                </a:solidFill>
              </a:rPr>
              <a:t>visualisation</a:t>
            </a:r>
            <a:r>
              <a:rPr lang="en-GB" dirty="0"/>
              <a:t> -&gt; Data cleaning</a:t>
            </a:r>
          </a:p>
        </p:txBody>
      </p:sp>
      <p:pic>
        <p:nvPicPr>
          <p:cNvPr id="3" name="Picture 2"/>
          <p:cNvPicPr>
            <a:picLocks noChangeAspect="1"/>
          </p:cNvPicPr>
          <p:nvPr/>
        </p:nvPicPr>
        <p:blipFill rotWithShape="1">
          <a:blip r:embed="rId3"/>
          <a:srcRect l="5577" t="18599" r="63164" b="10932"/>
          <a:stretch/>
        </p:blipFill>
        <p:spPr>
          <a:xfrm>
            <a:off x="2024575" y="874471"/>
            <a:ext cx="8142850" cy="5162914"/>
          </a:xfrm>
          <a:prstGeom prst="rect">
            <a:avLst/>
          </a:prstGeom>
        </p:spPr>
      </p:pic>
    </p:spTree>
    <p:extLst>
      <p:ext uri="{BB962C8B-B14F-4D97-AF65-F5344CB8AC3E}">
        <p14:creationId xmlns:p14="http://schemas.microsoft.com/office/powerpoint/2010/main" val="1214543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9597877">
            <a:off x="1737989" y="1640677"/>
            <a:ext cx="7534656" cy="1207509"/>
          </a:xfrm>
        </p:spPr>
        <p:txBody>
          <a:bodyPr/>
          <a:lstStyle/>
          <a:p>
            <a:r>
              <a:rPr lang="en-GB" dirty="0">
                <a:solidFill>
                  <a:srgbClr val="E25400"/>
                </a:solidFill>
              </a:rPr>
              <a:t>Data Reduction</a:t>
            </a:r>
          </a:p>
        </p:txBody>
      </p:sp>
    </p:spTree>
    <p:extLst>
      <p:ext uri="{BB962C8B-B14F-4D97-AF65-F5344CB8AC3E}">
        <p14:creationId xmlns:p14="http://schemas.microsoft.com/office/powerpoint/2010/main" val="1318715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Image result for dendrogram"/>
          <p:cNvPicPr>
            <a:picLocks noChangeAspect="1" noChangeArrowheads="1"/>
          </p:cNvPicPr>
          <p:nvPr/>
        </p:nvPicPr>
        <p:blipFill rotWithShape="1">
          <a:blip r:embed="rId3">
            <a:extLst>
              <a:ext uri="{28A0092B-C50C-407E-A947-70E740481C1C}">
                <a14:useLocalDpi xmlns:a14="http://schemas.microsoft.com/office/drawing/2010/main" val="0"/>
              </a:ext>
            </a:extLst>
          </a:blip>
          <a:srcRect t="2056" b="1943"/>
          <a:stretch/>
        </p:blipFill>
        <p:spPr bwMode="auto">
          <a:xfrm>
            <a:off x="2817133" y="1557738"/>
            <a:ext cx="6343650" cy="4572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GB" dirty="0"/>
              <a:t>Data Reduction - Clustering</a:t>
            </a:r>
          </a:p>
        </p:txBody>
      </p:sp>
      <p:sp>
        <p:nvSpPr>
          <p:cNvPr id="3" name="Content Placeholder 2"/>
          <p:cNvSpPr>
            <a:spLocks noGrp="1"/>
          </p:cNvSpPr>
          <p:nvPr>
            <p:ph idx="1"/>
          </p:nvPr>
        </p:nvSpPr>
        <p:spPr/>
        <p:txBody>
          <a:bodyPr/>
          <a:lstStyle/>
          <a:p>
            <a:r>
              <a:rPr lang="en-GB" dirty="0"/>
              <a:t>Clustering - </a:t>
            </a:r>
            <a:r>
              <a:rPr lang="en-GB" dirty="0" err="1"/>
              <a:t>Dendrogram</a:t>
            </a:r>
            <a:endParaRPr lang="en-GB" dirty="0"/>
          </a:p>
          <a:p>
            <a:endParaRPr lang="en-GB" dirty="0"/>
          </a:p>
          <a:p>
            <a:endParaRPr lang="en-GB" dirty="0"/>
          </a:p>
          <a:p>
            <a:endParaRPr lang="en-GB" dirty="0"/>
          </a:p>
        </p:txBody>
      </p:sp>
    </p:spTree>
    <p:extLst>
      <p:ext uri="{BB962C8B-B14F-4D97-AF65-F5344CB8AC3E}">
        <p14:creationId xmlns:p14="http://schemas.microsoft.com/office/powerpoint/2010/main" val="3396515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8"/>
                                        </p:tgtEl>
                                        <p:attrNameLst>
                                          <p:attrName>style.visibility</p:attrName>
                                        </p:attrNameLst>
                                      </p:cBhvr>
                                      <p:to>
                                        <p:strVal val="visible"/>
                                      </p:to>
                                    </p:set>
                                    <p:animEffect transition="in" filter="fade">
                                      <p:cBhvr>
                                        <p:cTn id="12"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Reduction – Variable Selection</a:t>
            </a:r>
          </a:p>
        </p:txBody>
      </p:sp>
      <p:sp>
        <p:nvSpPr>
          <p:cNvPr id="3" name="Content Placeholder 2"/>
          <p:cNvSpPr>
            <a:spLocks noGrp="1"/>
          </p:cNvSpPr>
          <p:nvPr>
            <p:ph idx="1"/>
          </p:nvPr>
        </p:nvSpPr>
        <p:spPr/>
        <p:txBody>
          <a:bodyPr/>
          <a:lstStyle/>
          <a:p>
            <a:endParaRPr lang="en-GB" dirty="0"/>
          </a:p>
          <a:p>
            <a:r>
              <a:rPr lang="en-GB" dirty="0"/>
              <a:t>Variable Selection – ANOVA </a:t>
            </a:r>
          </a:p>
          <a:p>
            <a:endParaRPr lang="en-GB" dirty="0"/>
          </a:p>
          <a:p>
            <a:r>
              <a:rPr lang="en-GB" dirty="0"/>
              <a:t>Variable Redundancy &amp; Irrelevancy – Correlational Analysis</a:t>
            </a:r>
          </a:p>
          <a:p>
            <a:endParaRPr lang="en-GB" dirty="0"/>
          </a:p>
          <a:p>
            <a:r>
              <a:rPr lang="en-GB" dirty="0"/>
              <a:t>Sample </a:t>
            </a:r>
          </a:p>
          <a:p>
            <a:endParaRPr lang="en-GB" dirty="0"/>
          </a:p>
          <a:p>
            <a:endParaRPr lang="en-GB" dirty="0"/>
          </a:p>
          <a:p>
            <a:endParaRPr lang="en-GB" dirty="0"/>
          </a:p>
        </p:txBody>
      </p:sp>
    </p:spTree>
    <p:extLst>
      <p:ext uri="{BB962C8B-B14F-4D97-AF65-F5344CB8AC3E}">
        <p14:creationId xmlns:p14="http://schemas.microsoft.com/office/powerpoint/2010/main" val="4132872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9597877">
            <a:off x="1737989" y="1640677"/>
            <a:ext cx="7534656" cy="1207509"/>
          </a:xfrm>
        </p:spPr>
        <p:txBody>
          <a:bodyPr/>
          <a:lstStyle/>
          <a:p>
            <a:r>
              <a:rPr lang="en-GB" dirty="0">
                <a:solidFill>
                  <a:srgbClr val="E25400"/>
                </a:solidFill>
              </a:rPr>
              <a:t>Data Transformation</a:t>
            </a:r>
          </a:p>
        </p:txBody>
      </p:sp>
    </p:spTree>
    <p:extLst>
      <p:ext uri="{BB962C8B-B14F-4D97-AF65-F5344CB8AC3E}">
        <p14:creationId xmlns:p14="http://schemas.microsoft.com/office/powerpoint/2010/main" val="34633167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Data Transformation</a:t>
            </a:r>
            <a:endParaRPr lang="en-GB" dirty="0"/>
          </a:p>
        </p:txBody>
      </p:sp>
      <p:sp>
        <p:nvSpPr>
          <p:cNvPr id="3" name="Content Placeholder 2"/>
          <p:cNvSpPr>
            <a:spLocks noGrp="1"/>
          </p:cNvSpPr>
          <p:nvPr>
            <p:ph idx="1"/>
          </p:nvPr>
        </p:nvSpPr>
        <p:spPr/>
        <p:txBody>
          <a:bodyPr/>
          <a:lstStyle/>
          <a:p>
            <a:pPr marL="0" indent="0">
              <a:buNone/>
            </a:pPr>
            <a:r>
              <a:rPr lang="fr-FR" b="1" u="sng" dirty="0" err="1"/>
              <a:t>Mainly</a:t>
            </a:r>
            <a:r>
              <a:rPr lang="fr-FR" b="1" u="sng" dirty="0"/>
              <a:t> </a:t>
            </a:r>
            <a:r>
              <a:rPr lang="fr-FR" b="1" u="sng" dirty="0" err="1"/>
              <a:t>Considering</a:t>
            </a:r>
            <a:r>
              <a:rPr lang="fr-FR" b="1" u="sng" dirty="0"/>
              <a:t> 3 parts</a:t>
            </a:r>
          </a:p>
          <a:p>
            <a:endParaRPr lang="fr-FR" dirty="0"/>
          </a:p>
          <a:p>
            <a:r>
              <a:rPr lang="fr-FR" dirty="0" err="1"/>
              <a:t>Filtering</a:t>
            </a:r>
            <a:endParaRPr lang="fr-FR" dirty="0"/>
          </a:p>
          <a:p>
            <a:endParaRPr lang="fr-FR" dirty="0"/>
          </a:p>
          <a:p>
            <a:r>
              <a:rPr lang="fr-FR" dirty="0"/>
              <a:t>Standardisation</a:t>
            </a:r>
          </a:p>
          <a:p>
            <a:endParaRPr lang="fr-FR" dirty="0"/>
          </a:p>
          <a:p>
            <a:r>
              <a:rPr lang="fr-FR" dirty="0"/>
              <a:t>Date-Duration Transformation</a:t>
            </a:r>
          </a:p>
        </p:txBody>
      </p:sp>
    </p:spTree>
    <p:extLst>
      <p:ext uri="{BB962C8B-B14F-4D97-AF65-F5344CB8AC3E}">
        <p14:creationId xmlns:p14="http://schemas.microsoft.com/office/powerpoint/2010/main" val="1826733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1000"/>
                                        <p:tgtEl>
                                          <p:spTgt spid="3">
                                            <p:txEl>
                                              <p:pRg st="4" end="4"/>
                                            </p:txEl>
                                          </p:spTgt>
                                        </p:tgtEl>
                                      </p:cBhvr>
                                    </p:animEffect>
                                    <p:anim calcmode="lin" valueType="num">
                                      <p:cBhvr>
                                        <p:cTn id="2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1000"/>
                                        <p:tgtEl>
                                          <p:spTgt spid="3">
                                            <p:txEl>
                                              <p:pRg st="6" end="6"/>
                                            </p:txEl>
                                          </p:spTgt>
                                        </p:tgtEl>
                                      </p:cBhvr>
                                    </p:animEffect>
                                    <p:anim calcmode="lin" valueType="num">
                                      <p:cBhvr>
                                        <p:cTn id="2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Data Transformation - </a:t>
            </a:r>
            <a:r>
              <a:rPr lang="fr-FR" dirty="0" err="1"/>
              <a:t>Filtering</a:t>
            </a:r>
            <a:endParaRPr lang="en-GB" dirty="0"/>
          </a:p>
        </p:txBody>
      </p:sp>
      <p:sp>
        <p:nvSpPr>
          <p:cNvPr id="3" name="Content Placeholder 2"/>
          <p:cNvSpPr>
            <a:spLocks noGrp="1"/>
          </p:cNvSpPr>
          <p:nvPr>
            <p:ph idx="1"/>
          </p:nvPr>
        </p:nvSpPr>
        <p:spPr/>
        <p:txBody>
          <a:bodyPr/>
          <a:lstStyle/>
          <a:p>
            <a:pPr marL="0" indent="0">
              <a:buNone/>
            </a:pPr>
            <a:r>
              <a:rPr lang="fr-FR" u="sng" dirty="0"/>
              <a:t>1. </a:t>
            </a:r>
            <a:r>
              <a:rPr lang="fr-FR" u="sng" dirty="0" err="1"/>
              <a:t>Correlation</a:t>
            </a:r>
            <a:endParaRPr lang="fr-FR" u="sng" dirty="0"/>
          </a:p>
          <a:p>
            <a:r>
              <a:rPr lang="fr-FR" dirty="0" err="1"/>
              <a:t>From</a:t>
            </a:r>
            <a:r>
              <a:rPr lang="fr-FR" dirty="0"/>
              <a:t> </a:t>
            </a:r>
            <a:r>
              <a:rPr lang="fr-FR" dirty="0" err="1"/>
              <a:t>correlation</a:t>
            </a:r>
            <a:r>
              <a:rPr lang="fr-FR" dirty="0"/>
              <a:t> coefficient </a:t>
            </a:r>
            <a:r>
              <a:rPr lang="fr-FR" dirty="0" err="1"/>
              <a:t>from</a:t>
            </a:r>
            <a:r>
              <a:rPr lang="fr-FR" dirty="0"/>
              <a:t> 0 to 1</a:t>
            </a:r>
          </a:p>
          <a:p>
            <a:pPr marL="0" indent="0">
              <a:buNone/>
            </a:pPr>
            <a:r>
              <a:rPr lang="fr-FR" u="sng" dirty="0"/>
              <a:t>2. </a:t>
            </a:r>
            <a:r>
              <a:rPr lang="fr-FR" u="sng" dirty="0" err="1"/>
              <a:t>Truncation</a:t>
            </a:r>
            <a:endParaRPr lang="fr-FR" u="sng" dirty="0"/>
          </a:p>
          <a:p>
            <a:r>
              <a:rPr lang="fr-FR" dirty="0"/>
              <a:t>Minimum</a:t>
            </a:r>
          </a:p>
          <a:p>
            <a:endParaRPr lang="fr-FR" dirty="0"/>
          </a:p>
          <a:p>
            <a:endParaRPr lang="fr-FR" dirty="0"/>
          </a:p>
          <a:p>
            <a:r>
              <a:rPr lang="fr-FR" dirty="0"/>
              <a:t>Maximum</a:t>
            </a:r>
          </a:p>
        </p:txBody>
      </p:sp>
      <p:pic>
        <p:nvPicPr>
          <p:cNvPr id="6" name="Graphique 5">
            <a:extLst>
              <a:ext uri="{FF2B5EF4-FFF2-40B4-BE49-F238E27FC236}">
                <a16:creationId xmlns="" xmlns:a16="http://schemas.microsoft.com/office/drawing/2014/main" id="{792C3121-7416-4DEA-AF6D-61736B2594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3822700" y="4806664"/>
            <a:ext cx="3600000" cy="893618"/>
          </a:xfrm>
          <a:prstGeom prst="rect">
            <a:avLst/>
          </a:prstGeom>
        </p:spPr>
      </p:pic>
      <p:pic>
        <p:nvPicPr>
          <p:cNvPr id="8" name="Graphique 7">
            <a:extLst>
              <a:ext uri="{FF2B5EF4-FFF2-40B4-BE49-F238E27FC236}">
                <a16:creationId xmlns="" xmlns:a16="http://schemas.microsoft.com/office/drawing/2014/main" id="{936DA00F-08E1-4D0D-9A97-5D74E7A31D4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3822700" y="3286964"/>
            <a:ext cx="3600000" cy="868966"/>
          </a:xfrm>
          <a:prstGeom prst="rect">
            <a:avLst/>
          </a:prstGeom>
        </p:spPr>
      </p:pic>
    </p:spTree>
    <p:extLst>
      <p:ext uri="{BB962C8B-B14F-4D97-AF65-F5344CB8AC3E}">
        <p14:creationId xmlns:p14="http://schemas.microsoft.com/office/powerpoint/2010/main" val="35467337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Data Transformation - </a:t>
            </a:r>
            <a:r>
              <a:rPr lang="fr-FR" dirty="0" err="1"/>
              <a:t>Filtering</a:t>
            </a:r>
            <a:endParaRPr lang="en-GB" dirty="0"/>
          </a:p>
        </p:txBody>
      </p:sp>
      <p:sp>
        <p:nvSpPr>
          <p:cNvPr id="3" name="Content Placeholder 2"/>
          <p:cNvSpPr>
            <a:spLocks noGrp="1"/>
          </p:cNvSpPr>
          <p:nvPr>
            <p:ph idx="1"/>
          </p:nvPr>
        </p:nvSpPr>
        <p:spPr/>
        <p:txBody>
          <a:bodyPr/>
          <a:lstStyle/>
          <a:p>
            <a:r>
              <a:rPr lang="en-GB" dirty="0"/>
              <a:t>Filtering by Truncate</a:t>
            </a:r>
          </a:p>
          <a:p>
            <a:endParaRPr lang="en-GB" dirty="0"/>
          </a:p>
          <a:p>
            <a:r>
              <a:rPr lang="en-GB" dirty="0"/>
              <a:t>Coherent with Data Cleaning</a:t>
            </a:r>
          </a:p>
          <a:p>
            <a:endParaRPr lang="en-GB" dirty="0"/>
          </a:p>
          <a:p>
            <a:r>
              <a:rPr lang="fr-FR" dirty="0"/>
              <a:t>U</a:t>
            </a:r>
            <a:r>
              <a:rPr lang="en-GB" dirty="0"/>
              <a:t>se Correlation to find</a:t>
            </a:r>
          </a:p>
          <a:p>
            <a:endParaRPr lang="en-GB" dirty="0"/>
          </a:p>
          <a:p>
            <a:r>
              <a:rPr lang="fr-FR" dirty="0" err="1"/>
              <a:t>Detect</a:t>
            </a:r>
            <a:r>
              <a:rPr lang="fr-FR" dirty="0"/>
              <a:t> </a:t>
            </a:r>
            <a:r>
              <a:rPr lang="fr-FR" dirty="0" err="1"/>
              <a:t>Correlation</a:t>
            </a:r>
            <a:r>
              <a:rPr lang="fr-FR" dirty="0"/>
              <a:t> &gt; 1 Case </a:t>
            </a:r>
            <a:r>
              <a:rPr lang="fr-FR" dirty="0">
                <a:sym typeface="Wingdings" panose="05000000000000000000" pitchFamily="2" charset="2"/>
              </a:rPr>
              <a:t> </a:t>
            </a:r>
            <a:r>
              <a:rPr lang="fr-FR" dirty="0" err="1">
                <a:sym typeface="Wingdings" panose="05000000000000000000" pitchFamily="2" charset="2"/>
              </a:rPr>
              <a:t>Debug</a:t>
            </a:r>
            <a:r>
              <a:rPr lang="fr-FR" dirty="0">
                <a:sym typeface="Wingdings" panose="05000000000000000000" pitchFamily="2" charset="2"/>
              </a:rPr>
              <a:t> </a:t>
            </a:r>
            <a:r>
              <a:rPr lang="fr-FR" dirty="0" err="1">
                <a:sym typeface="Wingdings" panose="05000000000000000000" pitchFamily="2" charset="2"/>
              </a:rPr>
              <a:t>work</a:t>
            </a:r>
            <a:r>
              <a:rPr lang="fr-FR" dirty="0">
                <a:sym typeface="Wingdings" panose="05000000000000000000" pitchFamily="2" charset="2"/>
              </a:rPr>
              <a:t> </a:t>
            </a:r>
            <a:r>
              <a:rPr lang="fr-FR" dirty="0" err="1">
                <a:sym typeface="Wingdings" panose="05000000000000000000" pitchFamily="2" charset="2"/>
              </a:rPr>
              <a:t>required</a:t>
            </a:r>
            <a:endParaRPr lang="en-GB" dirty="0"/>
          </a:p>
        </p:txBody>
      </p:sp>
    </p:spTree>
    <p:extLst>
      <p:ext uri="{BB962C8B-B14F-4D97-AF65-F5344CB8AC3E}">
        <p14:creationId xmlns:p14="http://schemas.microsoft.com/office/powerpoint/2010/main" val="4224255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1000"/>
                                        <p:tgtEl>
                                          <p:spTgt spid="3">
                                            <p:txEl>
                                              <p:pRg st="4" end="4"/>
                                            </p:txEl>
                                          </p:spTgt>
                                        </p:tgtEl>
                                      </p:cBhvr>
                                    </p:animEffect>
                                    <p:anim calcmode="lin" valueType="num">
                                      <p:cBhvr>
                                        <p:cTn id="2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1000"/>
                                        <p:tgtEl>
                                          <p:spTgt spid="3">
                                            <p:txEl>
                                              <p:pRg st="6" end="6"/>
                                            </p:txEl>
                                          </p:spTgt>
                                        </p:tgtEl>
                                      </p:cBhvr>
                                    </p:animEffect>
                                    <p:anim calcmode="lin" valueType="num">
                                      <p:cBhvr>
                                        <p:cTn id="2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Data Transformation - Standardisation</a:t>
            </a:r>
            <a:endParaRPr lang="en-GB" dirty="0"/>
          </a:p>
        </p:txBody>
      </p:sp>
      <p:sp>
        <p:nvSpPr>
          <p:cNvPr id="3" name="Content Placeholder 2"/>
          <p:cNvSpPr>
            <a:spLocks noGrp="1"/>
          </p:cNvSpPr>
          <p:nvPr>
            <p:ph idx="1"/>
          </p:nvPr>
        </p:nvSpPr>
        <p:spPr/>
        <p:txBody>
          <a:bodyPr/>
          <a:lstStyle/>
          <a:p>
            <a:r>
              <a:rPr lang="fr-FR" dirty="0"/>
              <a:t>Setting score</a:t>
            </a:r>
          </a:p>
          <a:p>
            <a:r>
              <a:rPr lang="fr-FR" dirty="0"/>
              <a:t>Use </a:t>
            </a:r>
            <a:r>
              <a:rPr lang="fr-FR" dirty="0" err="1"/>
              <a:t>min-max</a:t>
            </a:r>
            <a:r>
              <a:rPr lang="fr-FR" dirty="0"/>
              <a:t> normalisation</a:t>
            </a:r>
          </a:p>
          <a:p>
            <a:endParaRPr lang="fr-FR" dirty="0"/>
          </a:p>
          <a:p>
            <a:pPr marL="0" indent="0">
              <a:buNone/>
            </a:pPr>
            <a:r>
              <a:rPr lang="en-GB" u="sng" dirty="0"/>
              <a:t>Advantage</a:t>
            </a:r>
          </a:p>
          <a:p>
            <a:r>
              <a:rPr lang="en-GB" dirty="0"/>
              <a:t>Access from different dimension</a:t>
            </a:r>
          </a:p>
          <a:p>
            <a:r>
              <a:rPr lang="en-GB" dirty="0"/>
              <a:t>Outline the causality in different dimensions</a:t>
            </a:r>
          </a:p>
          <a:p>
            <a:endParaRPr lang="en-GB" dirty="0"/>
          </a:p>
        </p:txBody>
      </p:sp>
    </p:spTree>
    <p:extLst>
      <p:ext uri="{BB962C8B-B14F-4D97-AF65-F5344CB8AC3E}">
        <p14:creationId xmlns:p14="http://schemas.microsoft.com/office/powerpoint/2010/main" val="2335063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1000"/>
                                        <p:tgtEl>
                                          <p:spTgt spid="3">
                                            <p:txEl>
                                              <p:pRg st="3" end="3"/>
                                            </p:txEl>
                                          </p:spTgt>
                                        </p:tgtEl>
                                      </p:cBhvr>
                                    </p:animEffect>
                                    <p:anim calcmode="lin" valueType="num">
                                      <p:cBhvr>
                                        <p:cTn id="1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7"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1000"/>
                                        <p:tgtEl>
                                          <p:spTgt spid="3">
                                            <p:txEl>
                                              <p:pRg st="4" end="4"/>
                                            </p:txEl>
                                          </p:spTgt>
                                        </p:tgtEl>
                                      </p:cBhvr>
                                    </p:animEffect>
                                    <p:anim calcmode="lin" valueType="num">
                                      <p:cBhvr>
                                        <p:cTn id="2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1000"/>
                                        <p:tgtEl>
                                          <p:spTgt spid="3">
                                            <p:txEl>
                                              <p:pRg st="5" end="5"/>
                                            </p:txEl>
                                          </p:spTgt>
                                        </p:tgtEl>
                                      </p:cBhvr>
                                    </p:animEffect>
                                    <p:anim calcmode="lin" valueType="num">
                                      <p:cBhvr>
                                        <p:cTn id="2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Data Transformation - Standardisation</a:t>
            </a:r>
            <a:endParaRPr lang="en-GB" dirty="0"/>
          </a:p>
        </p:txBody>
      </p:sp>
      <p:sp>
        <p:nvSpPr>
          <p:cNvPr id="3" name="Content Placeholder 2"/>
          <p:cNvSpPr>
            <a:spLocks noGrp="1"/>
          </p:cNvSpPr>
          <p:nvPr>
            <p:ph idx="1"/>
          </p:nvPr>
        </p:nvSpPr>
        <p:spPr>
          <a:xfrm>
            <a:off x="1097280" y="1100628"/>
            <a:ext cx="10027920" cy="4704636"/>
          </a:xfrm>
        </p:spPr>
        <p:txBody>
          <a:bodyPr/>
          <a:lstStyle/>
          <a:p>
            <a:r>
              <a:rPr lang="en-GB" dirty="0"/>
              <a:t>Cross-Sectional Analysis</a:t>
            </a:r>
          </a:p>
        </p:txBody>
      </p:sp>
      <p:grpSp>
        <p:nvGrpSpPr>
          <p:cNvPr id="19" name="Groupe 18">
            <a:extLst>
              <a:ext uri="{FF2B5EF4-FFF2-40B4-BE49-F238E27FC236}">
                <a16:creationId xmlns="" xmlns:a16="http://schemas.microsoft.com/office/drawing/2014/main" id="{AA263D30-F495-49C1-9574-CC0C892F89C3}"/>
              </a:ext>
            </a:extLst>
          </p:cNvPr>
          <p:cNvGrpSpPr/>
          <p:nvPr/>
        </p:nvGrpSpPr>
        <p:grpSpPr>
          <a:xfrm>
            <a:off x="2140495" y="1816302"/>
            <a:ext cx="7911009" cy="3941070"/>
            <a:chOff x="2140495" y="1816302"/>
            <a:chExt cx="7911009" cy="3941070"/>
          </a:xfrm>
        </p:grpSpPr>
        <p:pic>
          <p:nvPicPr>
            <p:cNvPr id="9" name="Image 8">
              <a:extLst>
                <a:ext uri="{FF2B5EF4-FFF2-40B4-BE49-F238E27FC236}">
                  <a16:creationId xmlns="" xmlns:a16="http://schemas.microsoft.com/office/drawing/2014/main" id="{1B840383-2955-46E4-8E0B-41AFE4DB52D2}"/>
                </a:ext>
              </a:extLst>
            </p:cNvPr>
            <p:cNvPicPr>
              <a:picLocks noChangeAspect="1"/>
            </p:cNvPicPr>
            <p:nvPr/>
          </p:nvPicPr>
          <p:blipFill rotWithShape="1">
            <a:blip r:embed="rId3"/>
            <a:srcRect l="32415" r="33167"/>
            <a:stretch/>
          </p:blipFill>
          <p:spPr>
            <a:xfrm>
              <a:off x="2140495" y="1816302"/>
              <a:ext cx="7911009" cy="2299991"/>
            </a:xfrm>
            <a:prstGeom prst="rect">
              <a:avLst/>
            </a:prstGeom>
          </p:spPr>
        </p:pic>
        <p:pic>
          <p:nvPicPr>
            <p:cNvPr id="12" name="Image 11">
              <a:extLst>
                <a:ext uri="{FF2B5EF4-FFF2-40B4-BE49-F238E27FC236}">
                  <a16:creationId xmlns="" xmlns:a16="http://schemas.microsoft.com/office/drawing/2014/main" id="{189335C9-4F9A-4141-B631-43E098DA8D38}"/>
                </a:ext>
              </a:extLst>
            </p:cNvPr>
            <p:cNvPicPr>
              <a:picLocks noChangeAspect="1"/>
            </p:cNvPicPr>
            <p:nvPr/>
          </p:nvPicPr>
          <p:blipFill rotWithShape="1">
            <a:blip r:embed="rId4"/>
            <a:srcRect l="41908" r="42365"/>
            <a:stretch/>
          </p:blipFill>
          <p:spPr>
            <a:xfrm>
              <a:off x="3737379" y="4275783"/>
              <a:ext cx="3658585" cy="1148481"/>
            </a:xfrm>
            <a:prstGeom prst="rect">
              <a:avLst/>
            </a:prstGeom>
          </p:spPr>
        </p:pic>
        <p:sp>
          <p:nvSpPr>
            <p:cNvPr id="15" name="Accolade ouvrante 14">
              <a:extLst>
                <a:ext uri="{FF2B5EF4-FFF2-40B4-BE49-F238E27FC236}">
                  <a16:creationId xmlns="" xmlns:a16="http://schemas.microsoft.com/office/drawing/2014/main" id="{5553BA53-8D3B-4365-8B45-6BE46AACB4F8}"/>
                </a:ext>
              </a:extLst>
            </p:cNvPr>
            <p:cNvSpPr/>
            <p:nvPr/>
          </p:nvSpPr>
          <p:spPr>
            <a:xfrm rot="16200000">
              <a:off x="4856850" y="4432193"/>
              <a:ext cx="201930" cy="1342604"/>
            </a:xfrm>
            <a:prstGeom prst="leftBrace">
              <a:avLst>
                <a:gd name="adj1" fmla="val 92500"/>
                <a:gd name="adj2" fmla="val 50000"/>
              </a:avLst>
            </a:prstGeom>
            <a:ln w="508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6" name="Accolade ouvrante 15">
              <a:extLst>
                <a:ext uri="{FF2B5EF4-FFF2-40B4-BE49-F238E27FC236}">
                  <a16:creationId xmlns="" xmlns:a16="http://schemas.microsoft.com/office/drawing/2014/main" id="{22114759-182B-413B-9193-43343E8CEE36}"/>
                </a:ext>
              </a:extLst>
            </p:cNvPr>
            <p:cNvSpPr/>
            <p:nvPr/>
          </p:nvSpPr>
          <p:spPr>
            <a:xfrm rot="16200000">
              <a:off x="6700890" y="4432192"/>
              <a:ext cx="201930" cy="1342604"/>
            </a:xfrm>
            <a:prstGeom prst="leftBrace">
              <a:avLst>
                <a:gd name="adj1" fmla="val 92500"/>
                <a:gd name="adj2" fmla="val 50000"/>
              </a:avLst>
            </a:prstGeom>
            <a:ln w="508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7" name="Rectangle 16">
              <a:extLst>
                <a:ext uri="{FF2B5EF4-FFF2-40B4-BE49-F238E27FC236}">
                  <a16:creationId xmlns="" xmlns:a16="http://schemas.microsoft.com/office/drawing/2014/main" id="{DF1A58DB-7053-4B2B-8FE2-F1937C6155EB}"/>
                </a:ext>
              </a:extLst>
            </p:cNvPr>
            <p:cNvSpPr/>
            <p:nvPr/>
          </p:nvSpPr>
          <p:spPr>
            <a:xfrm>
              <a:off x="4119880" y="5100760"/>
              <a:ext cx="1656080" cy="6566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latin typeface="Cambria Math" panose="02040503050406030204" pitchFamily="18" charset="0"/>
                  <a:ea typeface="Cambria Math" panose="02040503050406030204" pitchFamily="18" charset="0"/>
                </a:rPr>
                <a:t>Treated</a:t>
              </a:r>
            </a:p>
          </p:txBody>
        </p:sp>
        <p:sp>
          <p:nvSpPr>
            <p:cNvPr id="18" name="Rectangle 17">
              <a:extLst>
                <a:ext uri="{FF2B5EF4-FFF2-40B4-BE49-F238E27FC236}">
                  <a16:creationId xmlns="" xmlns:a16="http://schemas.microsoft.com/office/drawing/2014/main" id="{F865D028-665C-4B1E-8A7E-AF416977B467}"/>
                </a:ext>
              </a:extLst>
            </p:cNvPr>
            <p:cNvSpPr/>
            <p:nvPr/>
          </p:nvSpPr>
          <p:spPr>
            <a:xfrm>
              <a:off x="5933440" y="5100760"/>
              <a:ext cx="1737360" cy="6566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latin typeface="Cambria Math" panose="02040503050406030204" pitchFamily="18" charset="0"/>
                  <a:ea typeface="Cambria Math" panose="02040503050406030204" pitchFamily="18" charset="0"/>
                </a:rPr>
                <a:t>Control</a:t>
              </a:r>
            </a:p>
          </p:txBody>
        </p:sp>
      </p:grpSp>
    </p:spTree>
    <p:extLst>
      <p:ext uri="{BB962C8B-B14F-4D97-AF65-F5344CB8AC3E}">
        <p14:creationId xmlns:p14="http://schemas.microsoft.com/office/powerpoint/2010/main" val="3459643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Data Transformation - Standardisation</a:t>
            </a:r>
            <a:endParaRPr lang="en-GB" dirty="0"/>
          </a:p>
        </p:txBody>
      </p:sp>
      <p:sp>
        <p:nvSpPr>
          <p:cNvPr id="3" name="Content Placeholder 2"/>
          <p:cNvSpPr>
            <a:spLocks noGrp="1"/>
          </p:cNvSpPr>
          <p:nvPr>
            <p:ph idx="1"/>
          </p:nvPr>
        </p:nvSpPr>
        <p:spPr/>
        <p:txBody>
          <a:bodyPr/>
          <a:lstStyle/>
          <a:p>
            <a:endParaRPr lang="fr-FR" dirty="0"/>
          </a:p>
          <a:p>
            <a:r>
              <a:rPr lang="fr-FR" dirty="0"/>
              <a:t>B</a:t>
            </a:r>
            <a:r>
              <a:rPr lang="en-GB" dirty="0" err="1"/>
              <a:t>efore</a:t>
            </a:r>
            <a:r>
              <a:rPr lang="en-GB" dirty="0"/>
              <a:t> and After Analysis</a:t>
            </a:r>
          </a:p>
        </p:txBody>
      </p:sp>
      <p:sp>
        <p:nvSpPr>
          <p:cNvPr id="12" name="Rectangle 11">
            <a:extLst>
              <a:ext uri="{FF2B5EF4-FFF2-40B4-BE49-F238E27FC236}">
                <a16:creationId xmlns="" xmlns:a16="http://schemas.microsoft.com/office/drawing/2014/main" id="{23EBFF0B-CDB7-46EE-A21F-C9EB1E13B66E}"/>
              </a:ext>
            </a:extLst>
          </p:cNvPr>
          <p:cNvSpPr/>
          <p:nvPr/>
        </p:nvSpPr>
        <p:spPr>
          <a:xfrm>
            <a:off x="1066800" y="2772388"/>
            <a:ext cx="2388496" cy="6566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solidFill>
                  <a:schemeClr val="tx1"/>
                </a:solidFill>
                <a:latin typeface="Cambria Math" panose="02040503050406030204" pitchFamily="18" charset="0"/>
                <a:ea typeface="Cambria Math" panose="02040503050406030204" pitchFamily="18" charset="0"/>
              </a:rPr>
              <a:t>Treated:</a:t>
            </a:r>
          </a:p>
        </p:txBody>
      </p:sp>
      <p:sp>
        <p:nvSpPr>
          <p:cNvPr id="13" name="Rectangle 12">
            <a:extLst>
              <a:ext uri="{FF2B5EF4-FFF2-40B4-BE49-F238E27FC236}">
                <a16:creationId xmlns="" xmlns:a16="http://schemas.microsoft.com/office/drawing/2014/main" id="{25C89555-96EB-433F-BB8C-0F6BD86875FC}"/>
              </a:ext>
            </a:extLst>
          </p:cNvPr>
          <p:cNvSpPr/>
          <p:nvPr/>
        </p:nvSpPr>
        <p:spPr>
          <a:xfrm>
            <a:off x="1066800" y="3948547"/>
            <a:ext cx="2388496" cy="6566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solidFill>
                  <a:schemeClr val="tx1"/>
                </a:solidFill>
                <a:latin typeface="Cambria Math" panose="02040503050406030204" pitchFamily="18" charset="0"/>
                <a:ea typeface="Cambria Math" panose="02040503050406030204" pitchFamily="18" charset="0"/>
              </a:rPr>
              <a:t>Control:</a:t>
            </a:r>
          </a:p>
        </p:txBody>
      </p:sp>
      <p:pic>
        <p:nvPicPr>
          <p:cNvPr id="15" name="Image 14">
            <a:extLst>
              <a:ext uri="{FF2B5EF4-FFF2-40B4-BE49-F238E27FC236}">
                <a16:creationId xmlns="" xmlns:a16="http://schemas.microsoft.com/office/drawing/2014/main" id="{DEA41562-79E5-4396-8E87-DEB2B5C5FBE4}"/>
              </a:ext>
            </a:extLst>
          </p:cNvPr>
          <p:cNvPicPr>
            <a:picLocks noChangeAspect="1"/>
          </p:cNvPicPr>
          <p:nvPr/>
        </p:nvPicPr>
        <p:blipFill rotWithShape="1">
          <a:blip r:embed="rId2"/>
          <a:srcRect l="38103" r="38635"/>
          <a:stretch/>
        </p:blipFill>
        <p:spPr>
          <a:xfrm>
            <a:off x="4214876" y="2709000"/>
            <a:ext cx="6406138" cy="1440000"/>
          </a:xfrm>
          <a:prstGeom prst="rect">
            <a:avLst/>
          </a:prstGeom>
        </p:spPr>
      </p:pic>
      <p:pic>
        <p:nvPicPr>
          <p:cNvPr id="17" name="Image 16">
            <a:extLst>
              <a:ext uri="{FF2B5EF4-FFF2-40B4-BE49-F238E27FC236}">
                <a16:creationId xmlns="" xmlns:a16="http://schemas.microsoft.com/office/drawing/2014/main" id="{334CEAED-05E4-475B-9C3F-1FDF6C8EEDC2}"/>
              </a:ext>
            </a:extLst>
          </p:cNvPr>
          <p:cNvPicPr>
            <a:picLocks noChangeAspect="1"/>
          </p:cNvPicPr>
          <p:nvPr/>
        </p:nvPicPr>
        <p:blipFill rotWithShape="1">
          <a:blip r:embed="rId3"/>
          <a:srcRect l="38192" r="38679"/>
          <a:stretch/>
        </p:blipFill>
        <p:spPr>
          <a:xfrm>
            <a:off x="4233179" y="3868529"/>
            <a:ext cx="6369532" cy="1440000"/>
          </a:xfrm>
          <a:prstGeom prst="rect">
            <a:avLst/>
          </a:prstGeom>
        </p:spPr>
      </p:pic>
    </p:spTree>
    <p:extLst>
      <p:ext uri="{BB962C8B-B14F-4D97-AF65-F5344CB8AC3E}">
        <p14:creationId xmlns:p14="http://schemas.microsoft.com/office/powerpoint/2010/main" val="306003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Data Transformation - Standardisation</a:t>
            </a:r>
            <a:endParaRPr lang="en-GB" dirty="0"/>
          </a:p>
        </p:txBody>
      </p:sp>
      <p:sp>
        <p:nvSpPr>
          <p:cNvPr id="3" name="Content Placeholder 2"/>
          <p:cNvSpPr>
            <a:spLocks noGrp="1"/>
          </p:cNvSpPr>
          <p:nvPr>
            <p:ph idx="1"/>
          </p:nvPr>
        </p:nvSpPr>
        <p:spPr/>
        <p:txBody>
          <a:bodyPr/>
          <a:lstStyle/>
          <a:p>
            <a:endParaRPr lang="fr-FR" dirty="0"/>
          </a:p>
          <a:p>
            <a:r>
              <a:rPr lang="fr-FR" dirty="0"/>
              <a:t>D</a:t>
            </a:r>
            <a:r>
              <a:rPr lang="en-GB" dirty="0" err="1"/>
              <a:t>ifference</a:t>
            </a:r>
            <a:r>
              <a:rPr lang="en-GB" dirty="0"/>
              <a:t> in Difference Analysis</a:t>
            </a:r>
          </a:p>
        </p:txBody>
      </p:sp>
      <p:pic>
        <p:nvPicPr>
          <p:cNvPr id="8" name="Image 7">
            <a:extLst>
              <a:ext uri="{FF2B5EF4-FFF2-40B4-BE49-F238E27FC236}">
                <a16:creationId xmlns="" xmlns:a16="http://schemas.microsoft.com/office/drawing/2014/main" id="{F0228FE1-B4D8-4AD1-8414-80F315D95703}"/>
              </a:ext>
            </a:extLst>
          </p:cNvPr>
          <p:cNvPicPr>
            <a:picLocks noChangeAspect="1"/>
          </p:cNvPicPr>
          <p:nvPr/>
        </p:nvPicPr>
        <p:blipFill rotWithShape="1">
          <a:blip r:embed="rId2"/>
          <a:srcRect l="18563" r="19162"/>
          <a:stretch/>
        </p:blipFill>
        <p:spPr>
          <a:xfrm>
            <a:off x="894978" y="3218098"/>
            <a:ext cx="10402044" cy="900000"/>
          </a:xfrm>
          <a:prstGeom prst="rect">
            <a:avLst/>
          </a:prstGeom>
        </p:spPr>
      </p:pic>
    </p:spTree>
    <p:extLst>
      <p:ext uri="{BB962C8B-B14F-4D97-AF65-F5344CB8AC3E}">
        <p14:creationId xmlns:p14="http://schemas.microsoft.com/office/powerpoint/2010/main" val="2363388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Data Transformation – Date-Duration Transformation</a:t>
            </a:r>
            <a:endParaRPr lang="en-GB" dirty="0"/>
          </a:p>
        </p:txBody>
      </p:sp>
      <p:sp>
        <p:nvSpPr>
          <p:cNvPr id="3" name="Content Placeholder 2"/>
          <p:cNvSpPr>
            <a:spLocks noGrp="1"/>
          </p:cNvSpPr>
          <p:nvPr>
            <p:ph idx="1"/>
          </p:nvPr>
        </p:nvSpPr>
        <p:spPr/>
        <p:txBody>
          <a:bodyPr/>
          <a:lstStyle/>
          <a:p>
            <a:r>
              <a:rPr lang="fr-FR" dirty="0"/>
              <a:t>Date-Duration Transformation</a:t>
            </a:r>
          </a:p>
          <a:p>
            <a:endParaRPr lang="fr-FR" dirty="0"/>
          </a:p>
          <a:p>
            <a:r>
              <a:rPr lang="fr-FR" dirty="0"/>
              <a:t>Time-</a:t>
            </a:r>
            <a:r>
              <a:rPr lang="fr-FR" dirty="0" err="1"/>
              <a:t>Series</a:t>
            </a:r>
            <a:r>
              <a:rPr lang="fr-FR" dirty="0"/>
              <a:t> </a:t>
            </a:r>
            <a:r>
              <a:rPr lang="fr-FR" dirty="0" err="1"/>
              <a:t>analysis</a:t>
            </a:r>
            <a:endParaRPr lang="fr-FR" dirty="0"/>
          </a:p>
          <a:p>
            <a:endParaRPr lang="fr-FR" dirty="0"/>
          </a:p>
          <a:p>
            <a:r>
              <a:rPr lang="fr-FR" dirty="0" err="1"/>
              <a:t>Indexing</a:t>
            </a:r>
            <a:r>
              <a:rPr lang="fr-FR" dirty="0"/>
              <a:t> </a:t>
            </a:r>
            <a:r>
              <a:rPr lang="fr-FR" dirty="0" err="1"/>
              <a:t>from</a:t>
            </a:r>
            <a:r>
              <a:rPr lang="fr-FR" dirty="0"/>
              <a:t> the start date</a:t>
            </a:r>
          </a:p>
          <a:p>
            <a:endParaRPr lang="en-GB" dirty="0"/>
          </a:p>
        </p:txBody>
      </p:sp>
    </p:spTree>
    <p:extLst>
      <p:ext uri="{BB962C8B-B14F-4D97-AF65-F5344CB8AC3E}">
        <p14:creationId xmlns:p14="http://schemas.microsoft.com/office/powerpoint/2010/main" val="3016082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Data Transformation – Date-Duration Transformation</a:t>
            </a:r>
            <a:endParaRPr lang="en-GB" dirty="0"/>
          </a:p>
        </p:txBody>
      </p:sp>
      <p:sp>
        <p:nvSpPr>
          <p:cNvPr id="3" name="Content Placeholder 2"/>
          <p:cNvSpPr>
            <a:spLocks noGrp="1"/>
          </p:cNvSpPr>
          <p:nvPr>
            <p:ph idx="1"/>
          </p:nvPr>
        </p:nvSpPr>
        <p:spPr/>
        <p:txBody>
          <a:bodyPr/>
          <a:lstStyle/>
          <a:p>
            <a:r>
              <a:rPr lang="fr-FR" dirty="0" err="1"/>
              <a:t>Allow</a:t>
            </a:r>
            <a:r>
              <a:rPr lang="fr-FR" dirty="0"/>
              <a:t> </a:t>
            </a:r>
            <a:r>
              <a:rPr lang="fr-FR" dirty="0" err="1"/>
              <a:t>further</a:t>
            </a:r>
            <a:r>
              <a:rPr lang="fr-FR" dirty="0"/>
              <a:t> </a:t>
            </a:r>
            <a:r>
              <a:rPr lang="fr-FR" dirty="0" err="1"/>
              <a:t>analysis</a:t>
            </a:r>
            <a:endParaRPr lang="fr-FR" dirty="0"/>
          </a:p>
          <a:p>
            <a:endParaRPr lang="fr-FR" dirty="0"/>
          </a:p>
          <a:p>
            <a:r>
              <a:rPr lang="fr-FR" dirty="0"/>
              <a:t>Frequency </a:t>
            </a:r>
            <a:r>
              <a:rPr lang="fr-FR" dirty="0" err="1"/>
              <a:t>Analysis</a:t>
            </a:r>
            <a:endParaRPr lang="fr-FR" dirty="0"/>
          </a:p>
          <a:p>
            <a:endParaRPr lang="fr-FR" dirty="0"/>
          </a:p>
          <a:p>
            <a:r>
              <a:rPr lang="fr-FR" dirty="0" err="1"/>
              <a:t>Generate</a:t>
            </a:r>
            <a:r>
              <a:rPr lang="fr-FR" dirty="0"/>
              <a:t> model for </a:t>
            </a:r>
            <a:r>
              <a:rPr lang="fr-FR" dirty="0" err="1"/>
              <a:t>Prediction</a:t>
            </a:r>
            <a:r>
              <a:rPr lang="fr-FR" dirty="0"/>
              <a:t> </a:t>
            </a:r>
            <a:r>
              <a:rPr lang="fr-FR" dirty="0" err="1"/>
              <a:t>Purpose</a:t>
            </a:r>
            <a:endParaRPr lang="en-GB" dirty="0"/>
          </a:p>
        </p:txBody>
      </p:sp>
    </p:spTree>
    <p:extLst>
      <p:ext uri="{BB962C8B-B14F-4D97-AF65-F5344CB8AC3E}">
        <p14:creationId xmlns:p14="http://schemas.microsoft.com/office/powerpoint/2010/main" val="229537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9574054">
            <a:off x="1737991" y="1662191"/>
            <a:ext cx="7534656" cy="1207509"/>
          </a:xfrm>
        </p:spPr>
        <p:txBody>
          <a:bodyPr/>
          <a:lstStyle/>
          <a:p>
            <a:r>
              <a:rPr lang="en-GB" dirty="0">
                <a:solidFill>
                  <a:srgbClr val="E25400"/>
                </a:solidFill>
              </a:rPr>
              <a:t>Data discretization &amp; generalisation</a:t>
            </a:r>
          </a:p>
        </p:txBody>
      </p:sp>
    </p:spTree>
    <p:extLst>
      <p:ext uri="{BB962C8B-B14F-4D97-AF65-F5344CB8AC3E}">
        <p14:creationId xmlns:p14="http://schemas.microsoft.com/office/powerpoint/2010/main" val="14696180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Discretisation</a:t>
            </a:r>
          </a:p>
        </p:txBody>
      </p:sp>
      <p:sp>
        <p:nvSpPr>
          <p:cNvPr id="3" name="Content Placeholder 2"/>
          <p:cNvSpPr>
            <a:spLocks noGrp="1"/>
          </p:cNvSpPr>
          <p:nvPr>
            <p:ph idx="1"/>
          </p:nvPr>
        </p:nvSpPr>
        <p:spPr/>
        <p:txBody>
          <a:bodyPr/>
          <a:lstStyle/>
          <a:p>
            <a:r>
              <a:rPr lang="en-GB" dirty="0"/>
              <a:t>Binning Method</a:t>
            </a:r>
          </a:p>
          <a:p>
            <a:r>
              <a:rPr lang="en-GB" dirty="0"/>
              <a:t>Histogram Analysis</a:t>
            </a:r>
          </a:p>
          <a:p>
            <a:r>
              <a:rPr lang="en-GB" dirty="0"/>
              <a:t>Clustering Analysis</a:t>
            </a:r>
          </a:p>
          <a:p>
            <a:r>
              <a:rPr lang="en-GB" dirty="0"/>
              <a:t>Decision-Tree Analysis</a:t>
            </a:r>
          </a:p>
          <a:p>
            <a:r>
              <a:rPr lang="en-GB" dirty="0"/>
              <a:t>Correlation Analysis</a:t>
            </a:r>
          </a:p>
          <a:p>
            <a:endParaRPr lang="fr-FR" dirty="0"/>
          </a:p>
          <a:p>
            <a:r>
              <a:rPr lang="fr-FR" dirty="0"/>
              <a:t>S</a:t>
            </a:r>
            <a:r>
              <a:rPr lang="en-GB" dirty="0" err="1"/>
              <a:t>ome</a:t>
            </a:r>
            <a:r>
              <a:rPr lang="en-GB" dirty="0"/>
              <a:t> of these have been applied</a:t>
            </a:r>
          </a:p>
        </p:txBody>
      </p:sp>
    </p:spTree>
    <p:extLst>
      <p:ext uri="{BB962C8B-B14F-4D97-AF65-F5344CB8AC3E}">
        <p14:creationId xmlns:p14="http://schemas.microsoft.com/office/powerpoint/2010/main" val="3341927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Generalisation</a:t>
            </a:r>
          </a:p>
        </p:txBody>
      </p:sp>
      <p:sp>
        <p:nvSpPr>
          <p:cNvPr id="3" name="Content Placeholder 2"/>
          <p:cNvSpPr>
            <a:spLocks noGrp="1"/>
          </p:cNvSpPr>
          <p:nvPr>
            <p:ph idx="1"/>
          </p:nvPr>
        </p:nvSpPr>
        <p:spPr/>
        <p:txBody>
          <a:bodyPr/>
          <a:lstStyle/>
          <a:p>
            <a:r>
              <a:rPr lang="en-GB" dirty="0"/>
              <a:t>Categorical Attributes</a:t>
            </a:r>
          </a:p>
          <a:p>
            <a:endParaRPr lang="en-GB" dirty="0"/>
          </a:p>
          <a:p>
            <a:r>
              <a:rPr lang="fr-FR" dirty="0" err="1"/>
              <a:t>Categories</a:t>
            </a:r>
            <a:r>
              <a:rPr lang="fr-FR" dirty="0"/>
              <a:t> </a:t>
            </a:r>
            <a:r>
              <a:rPr lang="fr-FR" dirty="0" err="1"/>
              <a:t>originally</a:t>
            </a:r>
            <a:r>
              <a:rPr lang="fr-FR" dirty="0"/>
              <a:t> </a:t>
            </a:r>
            <a:r>
              <a:rPr lang="fr-FR" dirty="0" err="1"/>
              <a:t>exist</a:t>
            </a:r>
            <a:r>
              <a:rPr lang="fr-FR" dirty="0"/>
              <a:t> (Store Type)</a:t>
            </a:r>
          </a:p>
          <a:p>
            <a:endParaRPr lang="fr-FR" dirty="0"/>
          </a:p>
          <a:p>
            <a:r>
              <a:rPr lang="fr-FR" dirty="0" err="1"/>
              <a:t>Formed</a:t>
            </a:r>
            <a:r>
              <a:rPr lang="fr-FR" dirty="0"/>
              <a:t> by the </a:t>
            </a:r>
            <a:r>
              <a:rPr lang="fr-FR" dirty="0" err="1"/>
              <a:t>binning</a:t>
            </a:r>
            <a:r>
              <a:rPr lang="fr-FR" dirty="0"/>
              <a:t> </a:t>
            </a:r>
            <a:r>
              <a:rPr lang="fr-FR" dirty="0" err="1"/>
              <a:t>method</a:t>
            </a:r>
            <a:r>
              <a:rPr lang="fr-FR" dirty="0"/>
              <a:t> (Store Size)</a:t>
            </a:r>
          </a:p>
          <a:p>
            <a:endParaRPr lang="fr-FR" dirty="0"/>
          </a:p>
          <a:p>
            <a:r>
              <a:rPr lang="fr-FR" dirty="0"/>
              <a:t>3-4-5 </a:t>
            </a:r>
            <a:r>
              <a:rPr lang="fr-FR" dirty="0" err="1"/>
              <a:t>rule</a:t>
            </a:r>
            <a:r>
              <a:rPr lang="fr-FR" dirty="0"/>
              <a:t> </a:t>
            </a:r>
            <a:r>
              <a:rPr lang="fr-FR" dirty="0" err="1"/>
              <a:t>will</a:t>
            </a:r>
            <a:r>
              <a:rPr lang="fr-FR" dirty="0"/>
              <a:t> </a:t>
            </a:r>
            <a:r>
              <a:rPr lang="fr-FR" dirty="0" err="1"/>
              <a:t>be</a:t>
            </a:r>
            <a:r>
              <a:rPr lang="fr-FR" dirty="0"/>
              <a:t> </a:t>
            </a:r>
            <a:r>
              <a:rPr lang="fr-FR" dirty="0" err="1"/>
              <a:t>applied</a:t>
            </a:r>
            <a:r>
              <a:rPr lang="fr-FR" dirty="0"/>
              <a:t> for store size </a:t>
            </a:r>
            <a:r>
              <a:rPr lang="fr-FR" dirty="0" err="1"/>
              <a:t>categorisation</a:t>
            </a:r>
            <a:endParaRPr lang="en-GB" dirty="0"/>
          </a:p>
        </p:txBody>
      </p:sp>
    </p:spTree>
    <p:extLst>
      <p:ext uri="{BB962C8B-B14F-4D97-AF65-F5344CB8AC3E}">
        <p14:creationId xmlns:p14="http://schemas.microsoft.com/office/powerpoint/2010/main" val="912310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1000"/>
                                        <p:tgtEl>
                                          <p:spTgt spid="3">
                                            <p:txEl>
                                              <p:pRg st="4" end="4"/>
                                            </p:txEl>
                                          </p:spTgt>
                                        </p:tgtEl>
                                      </p:cBhvr>
                                    </p:animEffect>
                                    <p:anim calcmode="lin" valueType="num">
                                      <p:cBhvr>
                                        <p:cTn id="1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7"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fade">
                                      <p:cBhvr>
                                        <p:cTn id="20" dur="1000"/>
                                        <p:tgtEl>
                                          <p:spTgt spid="3">
                                            <p:txEl>
                                              <p:pRg st="6" end="6"/>
                                            </p:txEl>
                                          </p:spTgt>
                                        </p:tgtEl>
                                      </p:cBhvr>
                                    </p:animEffect>
                                    <p:anim calcmode="lin" valueType="num">
                                      <p:cBhvr>
                                        <p:cTn id="21"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Generalisation</a:t>
            </a:r>
          </a:p>
        </p:txBody>
      </p:sp>
      <p:sp>
        <p:nvSpPr>
          <p:cNvPr id="3" name="Content Placeholder 2"/>
          <p:cNvSpPr>
            <a:spLocks noGrp="1"/>
          </p:cNvSpPr>
          <p:nvPr>
            <p:ph idx="1"/>
          </p:nvPr>
        </p:nvSpPr>
        <p:spPr/>
        <p:txBody>
          <a:bodyPr/>
          <a:lstStyle/>
          <a:p>
            <a:r>
              <a:rPr lang="en-GB" dirty="0"/>
              <a:t>Possible Question: For each store type, should they enlarge their store or reduce their store?</a:t>
            </a:r>
          </a:p>
          <a:p>
            <a:endParaRPr lang="fr-FR" dirty="0"/>
          </a:p>
          <a:p>
            <a:r>
              <a:rPr lang="fr-FR" dirty="0"/>
              <a:t>P</a:t>
            </a:r>
            <a:r>
              <a:rPr lang="en-GB" dirty="0" err="1"/>
              <a:t>erform</a:t>
            </a:r>
            <a:r>
              <a:rPr lang="en-GB" dirty="0"/>
              <a:t> Correlation Analysis</a:t>
            </a:r>
          </a:p>
        </p:txBody>
      </p:sp>
    </p:spTree>
    <p:extLst>
      <p:ext uri="{BB962C8B-B14F-4D97-AF65-F5344CB8AC3E}">
        <p14:creationId xmlns:p14="http://schemas.microsoft.com/office/powerpoint/2010/main" val="1479810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9583088">
            <a:off x="1694959" y="1737495"/>
            <a:ext cx="7534656" cy="1207509"/>
          </a:xfrm>
        </p:spPr>
        <p:txBody>
          <a:bodyPr/>
          <a:lstStyle/>
          <a:p>
            <a:r>
              <a:rPr lang="en-GB" dirty="0">
                <a:solidFill>
                  <a:srgbClr val="E25400"/>
                </a:solidFill>
              </a:rPr>
              <a:t>The predictive model</a:t>
            </a:r>
          </a:p>
        </p:txBody>
      </p:sp>
    </p:spTree>
    <p:extLst>
      <p:ext uri="{BB962C8B-B14F-4D97-AF65-F5344CB8AC3E}">
        <p14:creationId xmlns:p14="http://schemas.microsoft.com/office/powerpoint/2010/main" val="7595670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Variable input</a:t>
            </a:r>
          </a:p>
        </p:txBody>
      </p:sp>
      <p:sp>
        <p:nvSpPr>
          <p:cNvPr id="3" name="Content Placeholder 2"/>
          <p:cNvSpPr>
            <a:spLocks noGrp="1"/>
          </p:cNvSpPr>
          <p:nvPr>
            <p:ph idx="1"/>
          </p:nvPr>
        </p:nvSpPr>
        <p:spPr/>
        <p:txBody>
          <a:bodyPr>
            <a:normAutofit/>
          </a:bodyPr>
          <a:lstStyle/>
          <a:p>
            <a:r>
              <a:rPr lang="en-GB" dirty="0"/>
              <a:t>Correlation analysis to identify the continuous attributes that have the strongest influences on sales in the train data e.g. temperature, unemployment rate, CPI</a:t>
            </a:r>
          </a:p>
          <a:p>
            <a:r>
              <a:rPr lang="en-GB" dirty="0"/>
              <a:t>Example:</a:t>
            </a:r>
          </a:p>
        </p:txBody>
      </p:sp>
      <p:pic>
        <p:nvPicPr>
          <p:cNvPr id="5" name="Picture 4">
            <a:extLst>
              <a:ext uri="{FF2B5EF4-FFF2-40B4-BE49-F238E27FC236}">
                <a16:creationId xmlns="" xmlns:a16="http://schemas.microsoft.com/office/drawing/2014/main" id="{7A4DDA0E-AEB3-4A4A-9DC5-6F8B452566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0723" y="2646783"/>
            <a:ext cx="3941034" cy="3021979"/>
          </a:xfrm>
          <a:prstGeom prst="rect">
            <a:avLst/>
          </a:prstGeom>
        </p:spPr>
      </p:pic>
    </p:spTree>
    <p:extLst>
      <p:ext uri="{BB962C8B-B14F-4D97-AF65-F5344CB8AC3E}">
        <p14:creationId xmlns:p14="http://schemas.microsoft.com/office/powerpoint/2010/main" val="4274026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460015F-A89A-DD4C-94E7-D2CF356D42B1}"/>
              </a:ext>
            </a:extLst>
          </p:cNvPr>
          <p:cNvSpPr>
            <a:spLocks noGrp="1"/>
          </p:cNvSpPr>
          <p:nvPr>
            <p:ph type="title"/>
          </p:nvPr>
        </p:nvSpPr>
        <p:spPr/>
        <p:txBody>
          <a:bodyPr/>
          <a:lstStyle/>
          <a:p>
            <a:r>
              <a:rPr lang="en-GB" dirty="0"/>
              <a:t>Devising the models</a:t>
            </a:r>
            <a:endParaRPr lang="en-US" dirty="0"/>
          </a:p>
        </p:txBody>
      </p:sp>
      <p:sp>
        <p:nvSpPr>
          <p:cNvPr id="3" name="Content Placeholder 2">
            <a:extLst>
              <a:ext uri="{FF2B5EF4-FFF2-40B4-BE49-F238E27FC236}">
                <a16:creationId xmlns="" xmlns:a16="http://schemas.microsoft.com/office/drawing/2014/main" id="{D50ABA1E-CC5C-5F49-9887-2BA1ED73FE07}"/>
              </a:ext>
            </a:extLst>
          </p:cNvPr>
          <p:cNvSpPr>
            <a:spLocks noGrp="1"/>
          </p:cNvSpPr>
          <p:nvPr>
            <p:ph idx="1"/>
          </p:nvPr>
        </p:nvSpPr>
        <p:spPr/>
        <p:txBody>
          <a:bodyPr>
            <a:normAutofit lnSpcReduction="10000"/>
          </a:bodyPr>
          <a:lstStyle/>
          <a:p>
            <a:r>
              <a:rPr lang="en-GB" dirty="0"/>
              <a:t>Variance testing between store types</a:t>
            </a:r>
          </a:p>
          <a:p>
            <a:r>
              <a:rPr lang="en-GB" dirty="0"/>
              <a:t>Cluster analysis on department type and week of the year</a:t>
            </a:r>
          </a:p>
          <a:p>
            <a:endParaRPr lang="en-GB" dirty="0"/>
          </a:p>
          <a:p>
            <a:r>
              <a:rPr lang="en-GB" dirty="0"/>
              <a:t>Number of models devised according to variance and clustering results</a:t>
            </a:r>
          </a:p>
          <a:p>
            <a:pPr lvl="2"/>
            <a:r>
              <a:rPr lang="en-GB" dirty="0"/>
              <a:t>Different models for each store type (3 minimum)</a:t>
            </a:r>
          </a:p>
          <a:p>
            <a:pPr lvl="2"/>
            <a:r>
              <a:rPr lang="en-GB" dirty="0"/>
              <a:t>Using continuous variables that provide the most explanatory power</a:t>
            </a:r>
          </a:p>
          <a:p>
            <a:pPr lvl="2"/>
            <a:r>
              <a:rPr lang="en-GB" dirty="0"/>
              <a:t>Dummy categorical/binary variables e.g. holiday or not; presence of promotion</a:t>
            </a:r>
          </a:p>
          <a:p>
            <a:endParaRPr lang="en-US" dirty="0"/>
          </a:p>
        </p:txBody>
      </p:sp>
    </p:spTree>
    <p:extLst>
      <p:ext uri="{BB962C8B-B14F-4D97-AF65-F5344CB8AC3E}">
        <p14:creationId xmlns:p14="http://schemas.microsoft.com/office/powerpoint/2010/main" val="4205635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Model validation</a:t>
            </a:r>
          </a:p>
        </p:txBody>
      </p:sp>
      <p:sp>
        <p:nvSpPr>
          <p:cNvPr id="3" name="Content Placeholder 2"/>
          <p:cNvSpPr>
            <a:spLocks noGrp="1"/>
          </p:cNvSpPr>
          <p:nvPr>
            <p:ph idx="1"/>
          </p:nvPr>
        </p:nvSpPr>
        <p:spPr>
          <a:xfrm>
            <a:off x="1097280" y="1446834"/>
            <a:ext cx="10027920" cy="4358429"/>
          </a:xfrm>
        </p:spPr>
        <p:txBody>
          <a:bodyPr>
            <a:normAutofit/>
          </a:bodyPr>
          <a:lstStyle/>
          <a:p>
            <a:r>
              <a:rPr lang="en-GB" dirty="0"/>
              <a:t>Use model to predict the sales data in the test data file</a:t>
            </a:r>
          </a:p>
          <a:p>
            <a:endParaRPr lang="en-GB" dirty="0"/>
          </a:p>
          <a:p>
            <a:r>
              <a:rPr lang="en-GB" dirty="0"/>
              <a:t>R</a:t>
            </a:r>
            <a:r>
              <a:rPr lang="en-GB" baseline="30000" dirty="0"/>
              <a:t>2</a:t>
            </a:r>
            <a:r>
              <a:rPr lang="en-GB" dirty="0"/>
              <a:t> and AIC statistical testing on models to examine fit</a:t>
            </a:r>
          </a:p>
          <a:p>
            <a:endParaRPr lang="en-GB" dirty="0"/>
          </a:p>
          <a:p>
            <a:r>
              <a:rPr lang="en-GB" dirty="0"/>
              <a:t>ANOVA test for significant differences between model iterations</a:t>
            </a:r>
          </a:p>
          <a:p>
            <a:pPr marL="237744" lvl="2" indent="0">
              <a:buNone/>
            </a:pPr>
            <a:endParaRPr lang="en-GB" dirty="0"/>
          </a:p>
          <a:p>
            <a:endParaRPr lang="en-GB" dirty="0"/>
          </a:p>
        </p:txBody>
      </p:sp>
    </p:spTree>
    <p:extLst>
      <p:ext uri="{BB962C8B-B14F-4D97-AF65-F5344CB8AC3E}">
        <p14:creationId xmlns:p14="http://schemas.microsoft.com/office/powerpoint/2010/main" val="2884467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2FCAA11-0AD8-2842-AECA-4B1370BA1E91}"/>
              </a:ext>
            </a:extLst>
          </p:cNvPr>
          <p:cNvSpPr>
            <a:spLocks noGrp="1"/>
          </p:cNvSpPr>
          <p:nvPr>
            <p:ph type="title"/>
          </p:nvPr>
        </p:nvSpPr>
        <p:spPr/>
        <p:txBody>
          <a:bodyPr/>
          <a:lstStyle/>
          <a:p>
            <a:r>
              <a:rPr lang="en-GB" dirty="0"/>
              <a:t>Diagnostic testing</a:t>
            </a:r>
            <a:endParaRPr lang="en-US" dirty="0"/>
          </a:p>
        </p:txBody>
      </p:sp>
      <p:sp>
        <p:nvSpPr>
          <p:cNvPr id="3" name="Content Placeholder 2">
            <a:extLst>
              <a:ext uri="{FF2B5EF4-FFF2-40B4-BE49-F238E27FC236}">
                <a16:creationId xmlns="" xmlns:a16="http://schemas.microsoft.com/office/drawing/2014/main" id="{DD009E35-FA7B-D341-BE97-D2FFC481D44F}"/>
              </a:ext>
            </a:extLst>
          </p:cNvPr>
          <p:cNvSpPr>
            <a:spLocks noGrp="1"/>
          </p:cNvSpPr>
          <p:nvPr>
            <p:ph idx="1"/>
          </p:nvPr>
        </p:nvSpPr>
        <p:spPr/>
        <p:txBody>
          <a:bodyPr/>
          <a:lstStyle/>
          <a:p>
            <a:r>
              <a:rPr lang="en-GB" dirty="0"/>
              <a:t>Homoscedasticity</a:t>
            </a:r>
          </a:p>
          <a:p>
            <a:endParaRPr lang="en-GB" dirty="0"/>
          </a:p>
          <a:p>
            <a:r>
              <a:rPr lang="en-GB" dirty="0"/>
              <a:t>Multicollinearity between variables</a:t>
            </a:r>
          </a:p>
          <a:p>
            <a:endParaRPr lang="en-GB" dirty="0"/>
          </a:p>
          <a:p>
            <a:r>
              <a:rPr lang="en-GB" dirty="0"/>
              <a:t>Linearity of the model</a:t>
            </a:r>
          </a:p>
          <a:p>
            <a:endParaRPr lang="en-GB" dirty="0"/>
          </a:p>
          <a:p>
            <a:r>
              <a:rPr lang="en-GB" dirty="0"/>
              <a:t>Any necessary transformations to variables</a:t>
            </a:r>
          </a:p>
          <a:p>
            <a:endParaRPr lang="en-US" dirty="0"/>
          </a:p>
        </p:txBody>
      </p:sp>
    </p:spTree>
    <p:extLst>
      <p:ext uri="{BB962C8B-B14F-4D97-AF65-F5344CB8AC3E}">
        <p14:creationId xmlns:p14="http://schemas.microsoft.com/office/powerpoint/2010/main" val="253402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Custom 2">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Custom 1">
      <a:majorFont>
        <a:latin typeface="Franklin Gothic Medium"/>
        <a:ea typeface=""/>
        <a:cs typeface=""/>
      </a:majorFont>
      <a:minorFont>
        <a:latin typeface="Franklin Gothic Book"/>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extLst>
    <a:ext uri="{05A4C25C-085E-4340-85A3-A5531E510DB2}">
      <thm15:themeFamily xmlns:thm15="http://schemas.microsoft.com/office/thememl/2012/main" name="Theme1" id="{C487F71A-6974-4A91-90FA-BA6CBF478AFA}" vid="{D0FA6D1E-D009-48D9-8D91-D1AB10ACF7B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1016</TotalTime>
  <Words>1702</Words>
  <Application>Microsoft Office PowerPoint</Application>
  <PresentationFormat>Widescreen</PresentationFormat>
  <Paragraphs>440</Paragraphs>
  <Slides>41</Slides>
  <Notes>11</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41</vt:i4>
      </vt:variant>
    </vt:vector>
  </HeadingPairs>
  <TitlesOfParts>
    <vt:vector size="51" baseType="lpstr">
      <vt:lpstr>Meiryo UI</vt:lpstr>
      <vt:lpstr>Arial</vt:lpstr>
      <vt:lpstr>Calibri</vt:lpstr>
      <vt:lpstr>Cambria Math</vt:lpstr>
      <vt:lpstr>Franklin Gothic Book</vt:lpstr>
      <vt:lpstr>Franklin Gothic Medium</vt:lpstr>
      <vt:lpstr>Helvetica Neue</vt:lpstr>
      <vt:lpstr>Tunga</vt:lpstr>
      <vt:lpstr>Wingdings</vt:lpstr>
      <vt:lpstr>Theme1</vt:lpstr>
      <vt:lpstr>Purple Team: Group Presentation</vt:lpstr>
      <vt:lpstr>Task Overview</vt:lpstr>
      <vt:lpstr>Mission Rundown</vt:lpstr>
      <vt:lpstr>Data Linking</vt:lpstr>
      <vt:lpstr>Data Linking</vt:lpstr>
      <vt:lpstr>Data Linking</vt:lpstr>
      <vt:lpstr>Data Linking</vt:lpstr>
      <vt:lpstr>Data Linking</vt:lpstr>
      <vt:lpstr>Data Linking</vt:lpstr>
      <vt:lpstr>Data Linking</vt:lpstr>
      <vt:lpstr>Data Linking</vt:lpstr>
      <vt:lpstr>Data Linking</vt:lpstr>
      <vt:lpstr>Data Description, summarisation &amp; visualisation </vt:lpstr>
      <vt:lpstr>Data description, visualisation and summarisation</vt:lpstr>
      <vt:lpstr>Data description, visualisation and summarisation</vt:lpstr>
      <vt:lpstr>Data description, visualisation and summarisation</vt:lpstr>
      <vt:lpstr>Data Cleaning</vt:lpstr>
      <vt:lpstr>Data visualisation -&gt; Data cleaning</vt:lpstr>
      <vt:lpstr>Data visualisation -&gt; Data cleaning</vt:lpstr>
      <vt:lpstr>Data Reduction</vt:lpstr>
      <vt:lpstr>Data Reduction - Clustering</vt:lpstr>
      <vt:lpstr>Data Reduction – Variable Selection</vt:lpstr>
      <vt:lpstr>Data Transformation</vt:lpstr>
      <vt:lpstr>Data Transformation</vt:lpstr>
      <vt:lpstr>Data Transformation - Filtering</vt:lpstr>
      <vt:lpstr>Data Transformation - Filtering</vt:lpstr>
      <vt:lpstr>Data Transformation - Standardisation</vt:lpstr>
      <vt:lpstr>Data Transformation - Standardisation</vt:lpstr>
      <vt:lpstr>Data Transformation - Standardisation</vt:lpstr>
      <vt:lpstr>Data Transformation - Standardisation</vt:lpstr>
      <vt:lpstr>Data Transformation – Date-Duration Transformation</vt:lpstr>
      <vt:lpstr>Data Transformation – Date-Duration Transformation</vt:lpstr>
      <vt:lpstr>Data discretization &amp; generalisation</vt:lpstr>
      <vt:lpstr>Data Discretisation</vt:lpstr>
      <vt:lpstr>Data Generalisation</vt:lpstr>
      <vt:lpstr>Data Generalisation</vt:lpstr>
      <vt:lpstr>The predictive model</vt:lpstr>
      <vt:lpstr>Variable input</vt:lpstr>
      <vt:lpstr>Devising the models</vt:lpstr>
      <vt:lpstr>Model validation</vt:lpstr>
      <vt:lpstr>Diagnostic testing</vt:lpstr>
    </vt:vector>
  </TitlesOfParts>
  <Company>University of Leeds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description, visualisation and summarisation</dc:title>
  <dc:creator>Francesca Pontin [fs14fp]</dc:creator>
  <cp:lastModifiedBy>Francesca Pontin [fs14fp]</cp:lastModifiedBy>
  <cp:revision>77</cp:revision>
  <dcterms:created xsi:type="dcterms:W3CDTF">2018-01-29T14:00:46Z</dcterms:created>
  <dcterms:modified xsi:type="dcterms:W3CDTF">2018-02-05T09:29:03Z</dcterms:modified>
</cp:coreProperties>
</file>