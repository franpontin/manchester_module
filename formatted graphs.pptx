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B4C7E7"/>
    <a:srgbClr val="00B0F0"/>
    <a:srgbClr val="00206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5" d="100"/>
          <a:sy n="35" d="100"/>
        </p:scale>
        <p:origin x="2658" y="1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stores_clean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stores_clean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Manchester_Module\store%20size%20by%20typ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Manchester_Module\store%20size%20by%20typ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Manchester_Module\store%20size%20by%20typ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ds.leeds.ac.uk\student\student42\fs14fp\PhD\Masters%20Modules\Understanding%20Data%20and%20their%20Environment%20(Manchester)\Report\Assessment\Manchester_Module\store%20size%20by%20typ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78031496062992"/>
          <c:y val="1.4945631796025496E-2"/>
          <c:w val="0.85219685039370074"/>
          <c:h val="0.9368347527987572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cat>
            <c:strRef>
              <c:f>Sheet1!$B:$B</c:f>
              <c:strCache>
                <c:ptCount val="45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B</c:v>
                </c:pt>
                <c:pt idx="21">
                  <c:v>B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C</c:v>
                </c:pt>
                <c:pt idx="36">
                  <c:v>C</c:v>
                </c:pt>
                <c:pt idx="37">
                  <c:v>C</c:v>
                </c:pt>
                <c:pt idx="38">
                  <c:v>C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</c:strCache>
            </c:strRef>
          </c:cat>
          <c:val>
            <c:numRef>
              <c:f>Sheet1!$A$1:$A$45</c:f>
              <c:numCache>
                <c:formatCode>General</c:formatCode>
                <c:ptCount val="45"/>
                <c:pt idx="0">
                  <c:v>151315</c:v>
                </c:pt>
                <c:pt idx="1">
                  <c:v>152513</c:v>
                </c:pt>
                <c:pt idx="2">
                  <c:v>155078</c:v>
                </c:pt>
                <c:pt idx="3">
                  <c:v>155083</c:v>
                </c:pt>
                <c:pt idx="4">
                  <c:v>158114</c:v>
                </c:pt>
                <c:pt idx="5">
                  <c:v>184109</c:v>
                </c:pt>
                <c:pt idx="6">
                  <c:v>196321</c:v>
                </c:pt>
                <c:pt idx="7">
                  <c:v>200898</c:v>
                </c:pt>
                <c:pt idx="8">
                  <c:v>202307</c:v>
                </c:pt>
                <c:pt idx="9">
                  <c:v>202505</c:v>
                </c:pt>
                <c:pt idx="10">
                  <c:v>203007</c:v>
                </c:pt>
                <c:pt idx="11">
                  <c:v>203742</c:v>
                </c:pt>
                <c:pt idx="12">
                  <c:v>203750</c:v>
                </c:pt>
                <c:pt idx="13">
                  <c:v>203819</c:v>
                </c:pt>
                <c:pt idx="14">
                  <c:v>203819</c:v>
                </c:pt>
                <c:pt idx="15">
                  <c:v>204184</c:v>
                </c:pt>
                <c:pt idx="16">
                  <c:v>205863</c:v>
                </c:pt>
                <c:pt idx="17">
                  <c:v>206302</c:v>
                </c:pt>
                <c:pt idx="18">
                  <c:v>207499</c:v>
                </c:pt>
                <c:pt idx="19">
                  <c:v>219622</c:v>
                </c:pt>
                <c:pt idx="20">
                  <c:v>57197</c:v>
                </c:pt>
                <c:pt idx="21">
                  <c:v>70713</c:v>
                </c:pt>
                <c:pt idx="22">
                  <c:v>93188</c:v>
                </c:pt>
                <c:pt idx="23">
                  <c:v>93638</c:v>
                </c:pt>
                <c:pt idx="24">
                  <c:v>103681</c:v>
                </c:pt>
                <c:pt idx="25">
                  <c:v>112238</c:v>
                </c:pt>
                <c:pt idx="26">
                  <c:v>114533</c:v>
                </c:pt>
                <c:pt idx="27">
                  <c:v>118221</c:v>
                </c:pt>
                <c:pt idx="28">
                  <c:v>119557</c:v>
                </c:pt>
                <c:pt idx="29">
                  <c:v>120653</c:v>
                </c:pt>
                <c:pt idx="30">
                  <c:v>123737</c:v>
                </c:pt>
                <c:pt idx="31">
                  <c:v>125833</c:v>
                </c:pt>
                <c:pt idx="32">
                  <c:v>126512</c:v>
                </c:pt>
                <c:pt idx="33">
                  <c:v>128107</c:v>
                </c:pt>
                <c:pt idx="34">
                  <c:v>140167</c:v>
                </c:pt>
                <c:pt idx="35">
                  <c:v>39690</c:v>
                </c:pt>
                <c:pt idx="36">
                  <c:v>39910</c:v>
                </c:pt>
                <c:pt idx="37">
                  <c:v>34875</c:v>
                </c:pt>
                <c:pt idx="38">
                  <c:v>37392</c:v>
                </c:pt>
                <c:pt idx="39">
                  <c:v>39690</c:v>
                </c:pt>
                <c:pt idx="40">
                  <c:v>39690</c:v>
                </c:pt>
                <c:pt idx="41">
                  <c:v>39910</c:v>
                </c:pt>
                <c:pt idx="42">
                  <c:v>39910</c:v>
                </c:pt>
                <c:pt idx="43">
                  <c:v>41062</c:v>
                </c:pt>
                <c:pt idx="44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604968"/>
        <c:axId val="3817592"/>
      </c:barChart>
      <c:catAx>
        <c:axId val="1326049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17592"/>
        <c:crosses val="autoZero"/>
        <c:auto val="1"/>
        <c:lblAlgn val="ctr"/>
        <c:lblOffset val="100"/>
        <c:noMultiLvlLbl val="0"/>
      </c:catAx>
      <c:valAx>
        <c:axId val="3817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604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78031496062992"/>
          <c:y val="1.4945631796025496E-2"/>
          <c:w val="0.85219685039370074"/>
          <c:h val="0.9368347527987572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cat>
            <c:strRef>
              <c:f>stores_cleaned!$B$2:$B$46</c:f>
              <c:strCache>
                <c:ptCount val="45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A</c:v>
                </c:pt>
                <c:pt idx="21">
                  <c:v>A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6">
                  <c:v>B</c:v>
                </c:pt>
                <c:pt idx="37">
                  <c:v>B</c:v>
                </c:pt>
                <c:pt idx="38">
                  <c:v>B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</c:strCache>
            </c:strRef>
          </c:cat>
          <c:val>
            <c:numRef>
              <c:f>stores_cleaned!$C$2:$C$46</c:f>
              <c:numCache>
                <c:formatCode>General</c:formatCode>
                <c:ptCount val="45"/>
                <c:pt idx="0">
                  <c:v>151315</c:v>
                </c:pt>
                <c:pt idx="1">
                  <c:v>152513</c:v>
                </c:pt>
                <c:pt idx="2">
                  <c:v>155078</c:v>
                </c:pt>
                <c:pt idx="3">
                  <c:v>155083</c:v>
                </c:pt>
                <c:pt idx="4">
                  <c:v>158114</c:v>
                </c:pt>
                <c:pt idx="5">
                  <c:v>184109</c:v>
                </c:pt>
                <c:pt idx="6">
                  <c:v>196321</c:v>
                </c:pt>
                <c:pt idx="7">
                  <c:v>200898</c:v>
                </c:pt>
                <c:pt idx="8">
                  <c:v>202307</c:v>
                </c:pt>
                <c:pt idx="9">
                  <c:v>202505</c:v>
                </c:pt>
                <c:pt idx="10">
                  <c:v>203007</c:v>
                </c:pt>
                <c:pt idx="11">
                  <c:v>203742</c:v>
                </c:pt>
                <c:pt idx="12">
                  <c:v>203750</c:v>
                </c:pt>
                <c:pt idx="13">
                  <c:v>203819</c:v>
                </c:pt>
                <c:pt idx="14">
                  <c:v>203819</c:v>
                </c:pt>
                <c:pt idx="15">
                  <c:v>204184</c:v>
                </c:pt>
                <c:pt idx="16">
                  <c:v>205863</c:v>
                </c:pt>
                <c:pt idx="17">
                  <c:v>206302</c:v>
                </c:pt>
                <c:pt idx="18">
                  <c:v>207499</c:v>
                </c:pt>
                <c:pt idx="19">
                  <c:v>219622</c:v>
                </c:pt>
                <c:pt idx="20">
                  <c:v>39690</c:v>
                </c:pt>
                <c:pt idx="21">
                  <c:v>39910</c:v>
                </c:pt>
                <c:pt idx="22">
                  <c:v>57197</c:v>
                </c:pt>
                <c:pt idx="23">
                  <c:v>70713</c:v>
                </c:pt>
                <c:pt idx="24">
                  <c:v>93188</c:v>
                </c:pt>
                <c:pt idx="25">
                  <c:v>93638</c:v>
                </c:pt>
                <c:pt idx="26">
                  <c:v>103681</c:v>
                </c:pt>
                <c:pt idx="27">
                  <c:v>112238</c:v>
                </c:pt>
                <c:pt idx="28">
                  <c:v>114533</c:v>
                </c:pt>
                <c:pt idx="29">
                  <c:v>118221</c:v>
                </c:pt>
                <c:pt idx="30">
                  <c:v>119557</c:v>
                </c:pt>
                <c:pt idx="31">
                  <c:v>120653</c:v>
                </c:pt>
                <c:pt idx="32">
                  <c:v>123737</c:v>
                </c:pt>
                <c:pt idx="33">
                  <c:v>125833</c:v>
                </c:pt>
                <c:pt idx="34">
                  <c:v>126512</c:v>
                </c:pt>
                <c:pt idx="35">
                  <c:v>128107</c:v>
                </c:pt>
                <c:pt idx="36">
                  <c:v>140167</c:v>
                </c:pt>
                <c:pt idx="37">
                  <c:v>34875</c:v>
                </c:pt>
                <c:pt idx="38">
                  <c:v>37392</c:v>
                </c:pt>
                <c:pt idx="39">
                  <c:v>39690</c:v>
                </c:pt>
                <c:pt idx="40">
                  <c:v>39690</c:v>
                </c:pt>
                <c:pt idx="41">
                  <c:v>39910</c:v>
                </c:pt>
                <c:pt idx="42">
                  <c:v>39910</c:v>
                </c:pt>
                <c:pt idx="43">
                  <c:v>41062</c:v>
                </c:pt>
                <c:pt idx="44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662624"/>
        <c:axId val="132324008"/>
      </c:barChart>
      <c:catAx>
        <c:axId val="1216626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2324008"/>
        <c:crosses val="autoZero"/>
        <c:auto val="1"/>
        <c:lblAlgn val="ctr"/>
        <c:lblOffset val="100"/>
        <c:noMultiLvlLbl val="0"/>
      </c:catAx>
      <c:valAx>
        <c:axId val="132324008"/>
        <c:scaling>
          <c:orientation val="minMax"/>
          <c:max val="2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66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r>
              <a:rPr lang="en-GB" sz="1200" dirty="0" smtClean="0">
                <a:latin typeface="Tw Cen MT" panose="020B0602020104020603" pitchFamily="34" charset="0"/>
              </a:rPr>
              <a:t>Post-cleaning:</a:t>
            </a:r>
            <a:r>
              <a:rPr lang="en-GB" sz="1200" baseline="0" dirty="0" smtClean="0">
                <a:latin typeface="Tw Cen MT" panose="020B0602020104020603" pitchFamily="34" charset="0"/>
              </a:rPr>
              <a:t> </a:t>
            </a:r>
            <a:r>
              <a:rPr lang="en-GB" sz="1200" dirty="0" smtClean="0">
                <a:latin typeface="Tw Cen MT" panose="020B0602020104020603" pitchFamily="34" charset="0"/>
              </a:rPr>
              <a:t>Store</a:t>
            </a:r>
            <a:r>
              <a:rPr lang="en-GB" sz="1200" baseline="0" dirty="0" smtClean="0">
                <a:latin typeface="Tw Cen MT" panose="020B0602020104020603" pitchFamily="34" charset="0"/>
              </a:rPr>
              <a:t> size according </a:t>
            </a:r>
            <a:r>
              <a:rPr lang="en-GB" sz="1200" baseline="0" dirty="0">
                <a:latin typeface="Tw Cen MT" panose="020B0602020104020603" pitchFamily="34" charset="0"/>
              </a:rPr>
              <a:t>to store type</a:t>
            </a:r>
            <a:endParaRPr lang="en-GB" sz="1200" dirty="0">
              <a:latin typeface="Tw Cen MT" panose="020B06020201040206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 (2)'!$C$1</c:f>
              <c:strCache>
                <c:ptCount val="1"/>
                <c:pt idx="0">
                  <c:v>Size (sq ft)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7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  <a:effectLst/>
            </c:spPr>
          </c:dPt>
          <c:dPt>
            <c:idx val="38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  <a:effectLst/>
            </c:spPr>
          </c:dPt>
          <c:dPt>
            <c:idx val="39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4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2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4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5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6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cat>
            <c:numRef>
              <c:f>'Sheet1 (2)'!$A$2:$A$48</c:f>
              <c:numCache>
                <c:formatCode>General</c:formatCode>
                <c:ptCount val="47"/>
                <c:pt idx="0">
                  <c:v>1</c:v>
                </c:pt>
                <c:pt idx="1">
                  <c:v>26</c:v>
                </c:pt>
                <c:pt idx="2">
                  <c:v>8</c:v>
                </c:pt>
                <c:pt idx="3">
                  <c:v>40</c:v>
                </c:pt>
                <c:pt idx="4">
                  <c:v>34</c:v>
                </c:pt>
                <c:pt idx="5">
                  <c:v>39</c:v>
                </c:pt>
                <c:pt idx="6">
                  <c:v>41</c:v>
                </c:pt>
                <c:pt idx="7">
                  <c:v>14</c:v>
                </c:pt>
                <c:pt idx="8">
                  <c:v>2</c:v>
                </c:pt>
                <c:pt idx="9">
                  <c:v>6</c:v>
                </c:pt>
                <c:pt idx="10">
                  <c:v>32</c:v>
                </c:pt>
                <c:pt idx="11">
                  <c:v>20</c:v>
                </c:pt>
                <c:pt idx="12">
                  <c:v>31</c:v>
                </c:pt>
                <c:pt idx="13">
                  <c:v>19</c:v>
                </c:pt>
                <c:pt idx="14">
                  <c:v>24</c:v>
                </c:pt>
                <c:pt idx="15">
                  <c:v>27</c:v>
                </c:pt>
                <c:pt idx="16">
                  <c:v>4</c:v>
                </c:pt>
                <c:pt idx="17">
                  <c:v>28</c:v>
                </c:pt>
                <c:pt idx="18">
                  <c:v>11</c:v>
                </c:pt>
                <c:pt idx="19">
                  <c:v>13</c:v>
                </c:pt>
                <c:pt idx="21">
                  <c:v>16</c:v>
                </c:pt>
                <c:pt idx="22">
                  <c:v>7</c:v>
                </c:pt>
                <c:pt idx="23">
                  <c:v>17</c:v>
                </c:pt>
                <c:pt idx="24">
                  <c:v>29</c:v>
                </c:pt>
                <c:pt idx="25">
                  <c:v>35</c:v>
                </c:pt>
                <c:pt idx="26">
                  <c:v>12</c:v>
                </c:pt>
                <c:pt idx="27">
                  <c:v>23</c:v>
                </c:pt>
                <c:pt idx="28">
                  <c:v>45</c:v>
                </c:pt>
                <c:pt idx="29">
                  <c:v>22</c:v>
                </c:pt>
                <c:pt idx="30">
                  <c:v>18</c:v>
                </c:pt>
                <c:pt idx="31">
                  <c:v>15</c:v>
                </c:pt>
                <c:pt idx="32">
                  <c:v>9</c:v>
                </c:pt>
                <c:pt idx="33">
                  <c:v>10</c:v>
                </c:pt>
                <c:pt idx="34">
                  <c:v>25</c:v>
                </c:pt>
                <c:pt idx="35">
                  <c:v>21</c:v>
                </c:pt>
                <c:pt idx="37">
                  <c:v>5</c:v>
                </c:pt>
                <c:pt idx="38">
                  <c:v>3</c:v>
                </c:pt>
                <c:pt idx="39">
                  <c:v>33</c:v>
                </c:pt>
                <c:pt idx="40">
                  <c:v>38</c:v>
                </c:pt>
                <c:pt idx="41">
                  <c:v>42</c:v>
                </c:pt>
                <c:pt idx="42">
                  <c:v>36</c:v>
                </c:pt>
                <c:pt idx="43">
                  <c:v>37</c:v>
                </c:pt>
                <c:pt idx="44">
                  <c:v>44</c:v>
                </c:pt>
                <c:pt idx="45">
                  <c:v>43</c:v>
                </c:pt>
                <c:pt idx="46">
                  <c:v>30</c:v>
                </c:pt>
              </c:numCache>
            </c:numRef>
          </c:cat>
          <c:val>
            <c:numRef>
              <c:f>'Sheet1 (2)'!$C$2:$C$48</c:f>
              <c:numCache>
                <c:formatCode>General</c:formatCode>
                <c:ptCount val="47"/>
                <c:pt idx="0">
                  <c:v>151315</c:v>
                </c:pt>
                <c:pt idx="1">
                  <c:v>152513</c:v>
                </c:pt>
                <c:pt idx="2">
                  <c:v>155078</c:v>
                </c:pt>
                <c:pt idx="3">
                  <c:v>155083</c:v>
                </c:pt>
                <c:pt idx="4">
                  <c:v>158114</c:v>
                </c:pt>
                <c:pt idx="5">
                  <c:v>184109</c:v>
                </c:pt>
                <c:pt idx="6">
                  <c:v>196321</c:v>
                </c:pt>
                <c:pt idx="7">
                  <c:v>200898</c:v>
                </c:pt>
                <c:pt idx="8">
                  <c:v>202307</c:v>
                </c:pt>
                <c:pt idx="9">
                  <c:v>202505</c:v>
                </c:pt>
                <c:pt idx="10">
                  <c:v>203007</c:v>
                </c:pt>
                <c:pt idx="11">
                  <c:v>203742</c:v>
                </c:pt>
                <c:pt idx="12">
                  <c:v>203750</c:v>
                </c:pt>
                <c:pt idx="13">
                  <c:v>203819</c:v>
                </c:pt>
                <c:pt idx="14">
                  <c:v>203819</c:v>
                </c:pt>
                <c:pt idx="15">
                  <c:v>204184</c:v>
                </c:pt>
                <c:pt idx="16">
                  <c:v>205863</c:v>
                </c:pt>
                <c:pt idx="17">
                  <c:v>206302</c:v>
                </c:pt>
                <c:pt idx="18">
                  <c:v>207499</c:v>
                </c:pt>
                <c:pt idx="19">
                  <c:v>219622</c:v>
                </c:pt>
                <c:pt idx="21">
                  <c:v>57197</c:v>
                </c:pt>
                <c:pt idx="22">
                  <c:v>70713</c:v>
                </c:pt>
                <c:pt idx="23">
                  <c:v>93188</c:v>
                </c:pt>
                <c:pt idx="24">
                  <c:v>93638</c:v>
                </c:pt>
                <c:pt idx="25">
                  <c:v>103681</c:v>
                </c:pt>
                <c:pt idx="26">
                  <c:v>112238</c:v>
                </c:pt>
                <c:pt idx="27">
                  <c:v>114533</c:v>
                </c:pt>
                <c:pt idx="28">
                  <c:v>118221</c:v>
                </c:pt>
                <c:pt idx="29">
                  <c:v>119557</c:v>
                </c:pt>
                <c:pt idx="30">
                  <c:v>120653</c:v>
                </c:pt>
                <c:pt idx="31">
                  <c:v>123737</c:v>
                </c:pt>
                <c:pt idx="32">
                  <c:v>125833</c:v>
                </c:pt>
                <c:pt idx="33">
                  <c:v>126512</c:v>
                </c:pt>
                <c:pt idx="34">
                  <c:v>128107</c:v>
                </c:pt>
                <c:pt idx="35">
                  <c:v>140167</c:v>
                </c:pt>
                <c:pt idx="37">
                  <c:v>34875</c:v>
                </c:pt>
                <c:pt idx="38">
                  <c:v>37392</c:v>
                </c:pt>
                <c:pt idx="39">
                  <c:v>39690</c:v>
                </c:pt>
                <c:pt idx="40">
                  <c:v>39690</c:v>
                </c:pt>
                <c:pt idx="41">
                  <c:v>39690</c:v>
                </c:pt>
                <c:pt idx="42">
                  <c:v>39910</c:v>
                </c:pt>
                <c:pt idx="43">
                  <c:v>39910</c:v>
                </c:pt>
                <c:pt idx="44">
                  <c:v>39910</c:v>
                </c:pt>
                <c:pt idx="45">
                  <c:v>41062</c:v>
                </c:pt>
                <c:pt idx="46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11482400"/>
        <c:axId val="294613720"/>
      </c:barChart>
      <c:lineChart>
        <c:grouping val="standard"/>
        <c:varyColors val="0"/>
        <c:ser>
          <c:idx val="1"/>
          <c:order val="1"/>
          <c:tx>
            <c:strRef>
              <c:f>'Sheet1 (2)'!$D$1</c:f>
              <c:strCache>
                <c:ptCount val="1"/>
                <c:pt idx="0">
                  <c:v>Minimum size for store type (sq ft.)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'Sheet1 (2)'!$B$2:$B$48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1">
                  <c:v>B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7">
                  <c:v>C</c:v>
                </c:pt>
                <c:pt idx="38">
                  <c:v>C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'Sheet1 (2)'!$D$2:$D$48</c:f>
              <c:numCache>
                <c:formatCode>General</c:formatCode>
                <c:ptCount val="47"/>
                <c:pt idx="0">
                  <c:v>98000</c:v>
                </c:pt>
                <c:pt idx="1">
                  <c:v>98000</c:v>
                </c:pt>
                <c:pt idx="2">
                  <c:v>98000</c:v>
                </c:pt>
                <c:pt idx="3">
                  <c:v>98000</c:v>
                </c:pt>
                <c:pt idx="4">
                  <c:v>98000</c:v>
                </c:pt>
                <c:pt idx="5">
                  <c:v>98000</c:v>
                </c:pt>
                <c:pt idx="6">
                  <c:v>98000</c:v>
                </c:pt>
                <c:pt idx="7">
                  <c:v>98000</c:v>
                </c:pt>
                <c:pt idx="8">
                  <c:v>98000</c:v>
                </c:pt>
                <c:pt idx="9">
                  <c:v>98000</c:v>
                </c:pt>
                <c:pt idx="10">
                  <c:v>98000</c:v>
                </c:pt>
                <c:pt idx="11">
                  <c:v>98000</c:v>
                </c:pt>
                <c:pt idx="12">
                  <c:v>98000</c:v>
                </c:pt>
                <c:pt idx="13">
                  <c:v>98000</c:v>
                </c:pt>
                <c:pt idx="14">
                  <c:v>98000</c:v>
                </c:pt>
                <c:pt idx="15">
                  <c:v>98000</c:v>
                </c:pt>
                <c:pt idx="16">
                  <c:v>98000</c:v>
                </c:pt>
                <c:pt idx="17">
                  <c:v>98000</c:v>
                </c:pt>
                <c:pt idx="18">
                  <c:v>98000</c:v>
                </c:pt>
                <c:pt idx="19">
                  <c:v>98000</c:v>
                </c:pt>
                <c:pt idx="21">
                  <c:v>51000</c:v>
                </c:pt>
                <c:pt idx="22">
                  <c:v>51000</c:v>
                </c:pt>
                <c:pt idx="23">
                  <c:v>51000</c:v>
                </c:pt>
                <c:pt idx="24">
                  <c:v>51000</c:v>
                </c:pt>
                <c:pt idx="25">
                  <c:v>51000</c:v>
                </c:pt>
                <c:pt idx="26">
                  <c:v>51000</c:v>
                </c:pt>
                <c:pt idx="27">
                  <c:v>51000</c:v>
                </c:pt>
                <c:pt idx="28">
                  <c:v>51000</c:v>
                </c:pt>
                <c:pt idx="29">
                  <c:v>51000</c:v>
                </c:pt>
                <c:pt idx="30">
                  <c:v>51000</c:v>
                </c:pt>
                <c:pt idx="31">
                  <c:v>51000</c:v>
                </c:pt>
                <c:pt idx="32">
                  <c:v>51000</c:v>
                </c:pt>
                <c:pt idx="33">
                  <c:v>51000</c:v>
                </c:pt>
                <c:pt idx="34">
                  <c:v>51000</c:v>
                </c:pt>
                <c:pt idx="35">
                  <c:v>51000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'Sheet1 (2)'!$E$1</c:f>
              <c:strCache>
                <c:ptCount val="1"/>
                <c:pt idx="0">
                  <c:v>Maximum size for store type (sq ft.)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'Sheet1 (2)'!$B$2:$B$48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1">
                  <c:v>B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7">
                  <c:v>C</c:v>
                </c:pt>
                <c:pt idx="38">
                  <c:v>C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'Sheet1 (2)'!$E$2:$E$48</c:f>
              <c:numCache>
                <c:formatCode>General</c:formatCode>
                <c:ptCount val="47"/>
                <c:pt idx="0">
                  <c:v>261000</c:v>
                </c:pt>
                <c:pt idx="1">
                  <c:v>261000</c:v>
                </c:pt>
                <c:pt idx="2">
                  <c:v>261000</c:v>
                </c:pt>
                <c:pt idx="3">
                  <c:v>261000</c:v>
                </c:pt>
                <c:pt idx="4">
                  <c:v>261000</c:v>
                </c:pt>
                <c:pt idx="5">
                  <c:v>261000</c:v>
                </c:pt>
                <c:pt idx="6">
                  <c:v>261000</c:v>
                </c:pt>
                <c:pt idx="7">
                  <c:v>261000</c:v>
                </c:pt>
                <c:pt idx="8">
                  <c:v>261000</c:v>
                </c:pt>
                <c:pt idx="9">
                  <c:v>261000</c:v>
                </c:pt>
                <c:pt idx="10">
                  <c:v>261000</c:v>
                </c:pt>
                <c:pt idx="11">
                  <c:v>261000</c:v>
                </c:pt>
                <c:pt idx="12">
                  <c:v>261000</c:v>
                </c:pt>
                <c:pt idx="13">
                  <c:v>261000</c:v>
                </c:pt>
                <c:pt idx="14">
                  <c:v>261000</c:v>
                </c:pt>
                <c:pt idx="15">
                  <c:v>261000</c:v>
                </c:pt>
                <c:pt idx="16">
                  <c:v>261000</c:v>
                </c:pt>
                <c:pt idx="17">
                  <c:v>261000</c:v>
                </c:pt>
                <c:pt idx="18">
                  <c:v>261000</c:v>
                </c:pt>
                <c:pt idx="19">
                  <c:v>261000</c:v>
                </c:pt>
                <c:pt idx="21">
                  <c:v>224000</c:v>
                </c:pt>
                <c:pt idx="22">
                  <c:v>224000</c:v>
                </c:pt>
                <c:pt idx="23">
                  <c:v>224000</c:v>
                </c:pt>
                <c:pt idx="24">
                  <c:v>224000</c:v>
                </c:pt>
                <c:pt idx="25">
                  <c:v>224000</c:v>
                </c:pt>
                <c:pt idx="26">
                  <c:v>224000</c:v>
                </c:pt>
                <c:pt idx="27">
                  <c:v>224000</c:v>
                </c:pt>
                <c:pt idx="28">
                  <c:v>224000</c:v>
                </c:pt>
                <c:pt idx="29">
                  <c:v>224000</c:v>
                </c:pt>
                <c:pt idx="30">
                  <c:v>224000</c:v>
                </c:pt>
                <c:pt idx="31">
                  <c:v>224000</c:v>
                </c:pt>
                <c:pt idx="32">
                  <c:v>224000</c:v>
                </c:pt>
                <c:pt idx="33">
                  <c:v>224000</c:v>
                </c:pt>
                <c:pt idx="34">
                  <c:v>224000</c:v>
                </c:pt>
                <c:pt idx="35">
                  <c:v>224000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1482400"/>
        <c:axId val="294613720"/>
      </c:lineChart>
      <c:catAx>
        <c:axId val="3114824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Store Number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94613720"/>
        <c:crosses val="autoZero"/>
        <c:auto val="0"/>
        <c:lblAlgn val="ctr"/>
        <c:lblOffset val="100"/>
        <c:noMultiLvlLbl val="0"/>
      </c:catAx>
      <c:valAx>
        <c:axId val="294613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Size (sq ft)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311482400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r>
              <a:rPr lang="en-GB" sz="1200" dirty="0" smtClean="0">
                <a:latin typeface="Tw Cen MT" panose="020B0602020104020603" pitchFamily="34" charset="0"/>
              </a:rPr>
              <a:t>Pre-cleaning: Stores</a:t>
            </a:r>
            <a:r>
              <a:rPr lang="en-GB" sz="1200" baseline="0" dirty="0" smtClean="0">
                <a:latin typeface="Tw Cen MT" panose="020B0602020104020603" pitchFamily="34" charset="0"/>
              </a:rPr>
              <a:t> size according to store type</a:t>
            </a:r>
            <a:endParaRPr lang="en-GB" sz="1200" dirty="0">
              <a:latin typeface="Tw Cen MT" panose="020B06020201040206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Size (sq ft)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4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5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6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cat>
            <c:numRef>
              <c:f>Sheet1!$A$2:$A$48</c:f>
              <c:numCache>
                <c:formatCode>General</c:formatCode>
                <c:ptCount val="47"/>
                <c:pt idx="0">
                  <c:v>33</c:v>
                </c:pt>
                <c:pt idx="1">
                  <c:v>36</c:v>
                </c:pt>
                <c:pt idx="2">
                  <c:v>1</c:v>
                </c:pt>
                <c:pt idx="3">
                  <c:v>26</c:v>
                </c:pt>
                <c:pt idx="4">
                  <c:v>8</c:v>
                </c:pt>
                <c:pt idx="5">
                  <c:v>40</c:v>
                </c:pt>
                <c:pt idx="6">
                  <c:v>34</c:v>
                </c:pt>
                <c:pt idx="7">
                  <c:v>39</c:v>
                </c:pt>
                <c:pt idx="8">
                  <c:v>41</c:v>
                </c:pt>
                <c:pt idx="9">
                  <c:v>14</c:v>
                </c:pt>
                <c:pt idx="10">
                  <c:v>2</c:v>
                </c:pt>
                <c:pt idx="11">
                  <c:v>6</c:v>
                </c:pt>
                <c:pt idx="12">
                  <c:v>32</c:v>
                </c:pt>
                <c:pt idx="13">
                  <c:v>20</c:v>
                </c:pt>
                <c:pt idx="14">
                  <c:v>31</c:v>
                </c:pt>
                <c:pt idx="15">
                  <c:v>19</c:v>
                </c:pt>
                <c:pt idx="16">
                  <c:v>24</c:v>
                </c:pt>
                <c:pt idx="17">
                  <c:v>27</c:v>
                </c:pt>
                <c:pt idx="18">
                  <c:v>4</c:v>
                </c:pt>
                <c:pt idx="19">
                  <c:v>28</c:v>
                </c:pt>
                <c:pt idx="20">
                  <c:v>11</c:v>
                </c:pt>
                <c:pt idx="21">
                  <c:v>13</c:v>
                </c:pt>
                <c:pt idx="23">
                  <c:v>5</c:v>
                </c:pt>
                <c:pt idx="24">
                  <c:v>3</c:v>
                </c:pt>
                <c:pt idx="25">
                  <c:v>16</c:v>
                </c:pt>
                <c:pt idx="26">
                  <c:v>7</c:v>
                </c:pt>
                <c:pt idx="27">
                  <c:v>17</c:v>
                </c:pt>
                <c:pt idx="28">
                  <c:v>29</c:v>
                </c:pt>
                <c:pt idx="29">
                  <c:v>35</c:v>
                </c:pt>
                <c:pt idx="30">
                  <c:v>12</c:v>
                </c:pt>
                <c:pt idx="31">
                  <c:v>23</c:v>
                </c:pt>
                <c:pt idx="32">
                  <c:v>45</c:v>
                </c:pt>
                <c:pt idx="33">
                  <c:v>22</c:v>
                </c:pt>
                <c:pt idx="34">
                  <c:v>18</c:v>
                </c:pt>
                <c:pt idx="35">
                  <c:v>15</c:v>
                </c:pt>
                <c:pt idx="36">
                  <c:v>9</c:v>
                </c:pt>
                <c:pt idx="37">
                  <c:v>10</c:v>
                </c:pt>
                <c:pt idx="38">
                  <c:v>25</c:v>
                </c:pt>
                <c:pt idx="39">
                  <c:v>21</c:v>
                </c:pt>
                <c:pt idx="41">
                  <c:v>38</c:v>
                </c:pt>
                <c:pt idx="42">
                  <c:v>42</c:v>
                </c:pt>
                <c:pt idx="43">
                  <c:v>37</c:v>
                </c:pt>
                <c:pt idx="44">
                  <c:v>44</c:v>
                </c:pt>
                <c:pt idx="45">
                  <c:v>43</c:v>
                </c:pt>
                <c:pt idx="46">
                  <c:v>30</c:v>
                </c:pt>
              </c:numCache>
            </c:numRef>
          </c:cat>
          <c:val>
            <c:numRef>
              <c:f>Sheet1!$C$2:$C$48</c:f>
              <c:numCache>
                <c:formatCode>General</c:formatCode>
                <c:ptCount val="47"/>
                <c:pt idx="0">
                  <c:v>39690</c:v>
                </c:pt>
                <c:pt idx="1">
                  <c:v>39910</c:v>
                </c:pt>
                <c:pt idx="2">
                  <c:v>151315</c:v>
                </c:pt>
                <c:pt idx="3">
                  <c:v>152513</c:v>
                </c:pt>
                <c:pt idx="4">
                  <c:v>155078</c:v>
                </c:pt>
                <c:pt idx="5">
                  <c:v>155083</c:v>
                </c:pt>
                <c:pt idx="6">
                  <c:v>158114</c:v>
                </c:pt>
                <c:pt idx="7">
                  <c:v>184109</c:v>
                </c:pt>
                <c:pt idx="8">
                  <c:v>196321</c:v>
                </c:pt>
                <c:pt idx="9">
                  <c:v>200898</c:v>
                </c:pt>
                <c:pt idx="10">
                  <c:v>202307</c:v>
                </c:pt>
                <c:pt idx="11">
                  <c:v>202505</c:v>
                </c:pt>
                <c:pt idx="12">
                  <c:v>203007</c:v>
                </c:pt>
                <c:pt idx="13">
                  <c:v>203742</c:v>
                </c:pt>
                <c:pt idx="14">
                  <c:v>203750</c:v>
                </c:pt>
                <c:pt idx="15">
                  <c:v>203819</c:v>
                </c:pt>
                <c:pt idx="16">
                  <c:v>203819</c:v>
                </c:pt>
                <c:pt idx="17">
                  <c:v>204184</c:v>
                </c:pt>
                <c:pt idx="18">
                  <c:v>205863</c:v>
                </c:pt>
                <c:pt idx="19">
                  <c:v>206302</c:v>
                </c:pt>
                <c:pt idx="20">
                  <c:v>207499</c:v>
                </c:pt>
                <c:pt idx="21">
                  <c:v>219622</c:v>
                </c:pt>
                <c:pt idx="23">
                  <c:v>34875</c:v>
                </c:pt>
                <c:pt idx="24">
                  <c:v>37392</c:v>
                </c:pt>
                <c:pt idx="25">
                  <c:v>57197</c:v>
                </c:pt>
                <c:pt idx="26">
                  <c:v>70713</c:v>
                </c:pt>
                <c:pt idx="27">
                  <c:v>93188</c:v>
                </c:pt>
                <c:pt idx="28">
                  <c:v>93638</c:v>
                </c:pt>
                <c:pt idx="29">
                  <c:v>103681</c:v>
                </c:pt>
                <c:pt idx="30">
                  <c:v>112238</c:v>
                </c:pt>
                <c:pt idx="31">
                  <c:v>114533</c:v>
                </c:pt>
                <c:pt idx="32">
                  <c:v>118221</c:v>
                </c:pt>
                <c:pt idx="33">
                  <c:v>119557</c:v>
                </c:pt>
                <c:pt idx="34">
                  <c:v>120653</c:v>
                </c:pt>
                <c:pt idx="35">
                  <c:v>123737</c:v>
                </c:pt>
                <c:pt idx="36">
                  <c:v>125833</c:v>
                </c:pt>
                <c:pt idx="37">
                  <c:v>126512</c:v>
                </c:pt>
                <c:pt idx="38">
                  <c:v>128107</c:v>
                </c:pt>
                <c:pt idx="39">
                  <c:v>140167</c:v>
                </c:pt>
                <c:pt idx="41">
                  <c:v>39690</c:v>
                </c:pt>
                <c:pt idx="42">
                  <c:v>39690</c:v>
                </c:pt>
                <c:pt idx="43">
                  <c:v>39910</c:v>
                </c:pt>
                <c:pt idx="44">
                  <c:v>39910</c:v>
                </c:pt>
                <c:pt idx="45">
                  <c:v>41062</c:v>
                </c:pt>
                <c:pt idx="46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32249960"/>
        <c:axId val="294111016"/>
      </c:bar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Minimum size for store type (sq ft.)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A</c:v>
                </c:pt>
                <c:pt idx="21">
                  <c:v>A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6">
                  <c:v>B</c:v>
                </c:pt>
                <c:pt idx="37">
                  <c:v>B</c:v>
                </c:pt>
                <c:pt idx="38">
                  <c:v>B</c:v>
                </c:pt>
                <c:pt idx="39">
                  <c:v>B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Sheet1!$D$2:$D$48</c:f>
              <c:numCache>
                <c:formatCode>General</c:formatCode>
                <c:ptCount val="47"/>
                <c:pt idx="0">
                  <c:v>98000</c:v>
                </c:pt>
                <c:pt idx="1">
                  <c:v>98000</c:v>
                </c:pt>
                <c:pt idx="2">
                  <c:v>98000</c:v>
                </c:pt>
                <c:pt idx="3">
                  <c:v>98000</c:v>
                </c:pt>
                <c:pt idx="4">
                  <c:v>98000</c:v>
                </c:pt>
                <c:pt idx="5">
                  <c:v>98000</c:v>
                </c:pt>
                <c:pt idx="6">
                  <c:v>98000</c:v>
                </c:pt>
                <c:pt idx="7">
                  <c:v>98000</c:v>
                </c:pt>
                <c:pt idx="8">
                  <c:v>98000</c:v>
                </c:pt>
                <c:pt idx="9">
                  <c:v>98000</c:v>
                </c:pt>
                <c:pt idx="10">
                  <c:v>98000</c:v>
                </c:pt>
                <c:pt idx="11">
                  <c:v>98000</c:v>
                </c:pt>
                <c:pt idx="12">
                  <c:v>98000</c:v>
                </c:pt>
                <c:pt idx="13">
                  <c:v>98000</c:v>
                </c:pt>
                <c:pt idx="14">
                  <c:v>98000</c:v>
                </c:pt>
                <c:pt idx="15">
                  <c:v>98000</c:v>
                </c:pt>
                <c:pt idx="16">
                  <c:v>98000</c:v>
                </c:pt>
                <c:pt idx="17">
                  <c:v>98000</c:v>
                </c:pt>
                <c:pt idx="18">
                  <c:v>98000</c:v>
                </c:pt>
                <c:pt idx="19">
                  <c:v>98000</c:v>
                </c:pt>
                <c:pt idx="20">
                  <c:v>98000</c:v>
                </c:pt>
                <c:pt idx="21">
                  <c:v>98000</c:v>
                </c:pt>
                <c:pt idx="23">
                  <c:v>51000</c:v>
                </c:pt>
                <c:pt idx="24">
                  <c:v>51000</c:v>
                </c:pt>
                <c:pt idx="25">
                  <c:v>51000</c:v>
                </c:pt>
                <c:pt idx="26">
                  <c:v>51000</c:v>
                </c:pt>
                <c:pt idx="27">
                  <c:v>51000</c:v>
                </c:pt>
                <c:pt idx="28">
                  <c:v>51000</c:v>
                </c:pt>
                <c:pt idx="29">
                  <c:v>51000</c:v>
                </c:pt>
                <c:pt idx="30">
                  <c:v>51000</c:v>
                </c:pt>
                <c:pt idx="31">
                  <c:v>51000</c:v>
                </c:pt>
                <c:pt idx="32">
                  <c:v>51000</c:v>
                </c:pt>
                <c:pt idx="33">
                  <c:v>51000</c:v>
                </c:pt>
                <c:pt idx="34">
                  <c:v>51000</c:v>
                </c:pt>
                <c:pt idx="35">
                  <c:v>51000</c:v>
                </c:pt>
                <c:pt idx="36">
                  <c:v>51000</c:v>
                </c:pt>
                <c:pt idx="37">
                  <c:v>51000</c:v>
                </c:pt>
                <c:pt idx="38">
                  <c:v>51000</c:v>
                </c:pt>
                <c:pt idx="39">
                  <c:v>51000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Maximum size for store type (sq ft.)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A</c:v>
                </c:pt>
                <c:pt idx="21">
                  <c:v>A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6">
                  <c:v>B</c:v>
                </c:pt>
                <c:pt idx="37">
                  <c:v>B</c:v>
                </c:pt>
                <c:pt idx="38">
                  <c:v>B</c:v>
                </c:pt>
                <c:pt idx="39">
                  <c:v>B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Sheet1!$E$2:$E$48</c:f>
              <c:numCache>
                <c:formatCode>General</c:formatCode>
                <c:ptCount val="47"/>
                <c:pt idx="0">
                  <c:v>261000</c:v>
                </c:pt>
                <c:pt idx="1">
                  <c:v>261000</c:v>
                </c:pt>
                <c:pt idx="2">
                  <c:v>261000</c:v>
                </c:pt>
                <c:pt idx="3">
                  <c:v>261000</c:v>
                </c:pt>
                <c:pt idx="4">
                  <c:v>261000</c:v>
                </c:pt>
                <c:pt idx="5">
                  <c:v>261000</c:v>
                </c:pt>
                <c:pt idx="6">
                  <c:v>261000</c:v>
                </c:pt>
                <c:pt idx="7">
                  <c:v>261000</c:v>
                </c:pt>
                <c:pt idx="8">
                  <c:v>261000</c:v>
                </c:pt>
                <c:pt idx="9">
                  <c:v>261000</c:v>
                </c:pt>
                <c:pt idx="10">
                  <c:v>261000</c:v>
                </c:pt>
                <c:pt idx="11">
                  <c:v>261000</c:v>
                </c:pt>
                <c:pt idx="12">
                  <c:v>261000</c:v>
                </c:pt>
                <c:pt idx="13">
                  <c:v>261000</c:v>
                </c:pt>
                <c:pt idx="14">
                  <c:v>261000</c:v>
                </c:pt>
                <c:pt idx="15">
                  <c:v>261000</c:v>
                </c:pt>
                <c:pt idx="16">
                  <c:v>261000</c:v>
                </c:pt>
                <c:pt idx="17">
                  <c:v>261000</c:v>
                </c:pt>
                <c:pt idx="18">
                  <c:v>261000</c:v>
                </c:pt>
                <c:pt idx="19">
                  <c:v>261000</c:v>
                </c:pt>
                <c:pt idx="20">
                  <c:v>261000</c:v>
                </c:pt>
                <c:pt idx="21">
                  <c:v>261000</c:v>
                </c:pt>
                <c:pt idx="23">
                  <c:v>224000</c:v>
                </c:pt>
                <c:pt idx="24">
                  <c:v>224000</c:v>
                </c:pt>
                <c:pt idx="25">
                  <c:v>224000</c:v>
                </c:pt>
                <c:pt idx="26">
                  <c:v>224000</c:v>
                </c:pt>
                <c:pt idx="27">
                  <c:v>224000</c:v>
                </c:pt>
                <c:pt idx="28">
                  <c:v>224000</c:v>
                </c:pt>
                <c:pt idx="29">
                  <c:v>224000</c:v>
                </c:pt>
                <c:pt idx="30">
                  <c:v>224000</c:v>
                </c:pt>
                <c:pt idx="31">
                  <c:v>224000</c:v>
                </c:pt>
                <c:pt idx="32">
                  <c:v>224000</c:v>
                </c:pt>
                <c:pt idx="33">
                  <c:v>224000</c:v>
                </c:pt>
                <c:pt idx="34">
                  <c:v>224000</c:v>
                </c:pt>
                <c:pt idx="35">
                  <c:v>224000</c:v>
                </c:pt>
                <c:pt idx="36">
                  <c:v>224000</c:v>
                </c:pt>
                <c:pt idx="37">
                  <c:v>224000</c:v>
                </c:pt>
                <c:pt idx="38">
                  <c:v>224000</c:v>
                </c:pt>
                <c:pt idx="39">
                  <c:v>224000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249960"/>
        <c:axId val="294111016"/>
      </c:lineChart>
      <c:catAx>
        <c:axId val="232249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Store Number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94111016"/>
        <c:crosses val="autoZero"/>
        <c:auto val="1"/>
        <c:lblAlgn val="ctr"/>
        <c:lblOffset val="100"/>
        <c:noMultiLvlLbl val="0"/>
      </c:catAx>
      <c:valAx>
        <c:axId val="294111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Size (sq ft)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32249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r>
              <a:rPr lang="en-GB" sz="1200" dirty="0" smtClean="0">
                <a:latin typeface="Tw Cen MT" panose="020B0602020104020603" pitchFamily="34" charset="0"/>
              </a:rPr>
              <a:t>Pre-cleaning: Stores</a:t>
            </a:r>
            <a:r>
              <a:rPr lang="en-GB" sz="1200" baseline="0" dirty="0" smtClean="0">
                <a:latin typeface="Tw Cen MT" panose="020B0602020104020603" pitchFamily="34" charset="0"/>
              </a:rPr>
              <a:t> size according to store type</a:t>
            </a:r>
            <a:endParaRPr lang="en-GB" sz="1200" dirty="0">
              <a:latin typeface="Tw Cen MT" panose="020B06020201040206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Size (sq ft)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4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5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6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cat>
            <c:numRef>
              <c:f>Sheet1!$A$2:$A$48</c:f>
              <c:numCache>
                <c:formatCode>General</c:formatCode>
                <c:ptCount val="47"/>
                <c:pt idx="0">
                  <c:v>33</c:v>
                </c:pt>
                <c:pt idx="1">
                  <c:v>36</c:v>
                </c:pt>
                <c:pt idx="2">
                  <c:v>1</c:v>
                </c:pt>
                <c:pt idx="3">
                  <c:v>26</c:v>
                </c:pt>
                <c:pt idx="4">
                  <c:v>8</c:v>
                </c:pt>
                <c:pt idx="5">
                  <c:v>40</c:v>
                </c:pt>
                <c:pt idx="6">
                  <c:v>34</c:v>
                </c:pt>
                <c:pt idx="7">
                  <c:v>39</c:v>
                </c:pt>
                <c:pt idx="8">
                  <c:v>41</c:v>
                </c:pt>
                <c:pt idx="9">
                  <c:v>14</c:v>
                </c:pt>
                <c:pt idx="10">
                  <c:v>2</c:v>
                </c:pt>
                <c:pt idx="11">
                  <c:v>6</c:v>
                </c:pt>
                <c:pt idx="12">
                  <c:v>32</c:v>
                </c:pt>
                <c:pt idx="13">
                  <c:v>20</c:v>
                </c:pt>
                <c:pt idx="14">
                  <c:v>31</c:v>
                </c:pt>
                <c:pt idx="15">
                  <c:v>19</c:v>
                </c:pt>
                <c:pt idx="16">
                  <c:v>24</c:v>
                </c:pt>
                <c:pt idx="17">
                  <c:v>27</c:v>
                </c:pt>
                <c:pt idx="18">
                  <c:v>4</c:v>
                </c:pt>
                <c:pt idx="19">
                  <c:v>28</c:v>
                </c:pt>
                <c:pt idx="20">
                  <c:v>11</c:v>
                </c:pt>
                <c:pt idx="21">
                  <c:v>13</c:v>
                </c:pt>
                <c:pt idx="23">
                  <c:v>5</c:v>
                </c:pt>
                <c:pt idx="24">
                  <c:v>3</c:v>
                </c:pt>
                <c:pt idx="25">
                  <c:v>16</c:v>
                </c:pt>
                <c:pt idx="26">
                  <c:v>7</c:v>
                </c:pt>
                <c:pt idx="27">
                  <c:v>17</c:v>
                </c:pt>
                <c:pt idx="28">
                  <c:v>29</c:v>
                </c:pt>
                <c:pt idx="29">
                  <c:v>35</c:v>
                </c:pt>
                <c:pt idx="30">
                  <c:v>12</c:v>
                </c:pt>
                <c:pt idx="31">
                  <c:v>23</c:v>
                </c:pt>
                <c:pt idx="32">
                  <c:v>45</c:v>
                </c:pt>
                <c:pt idx="33">
                  <c:v>22</c:v>
                </c:pt>
                <c:pt idx="34">
                  <c:v>18</c:v>
                </c:pt>
                <c:pt idx="35">
                  <c:v>15</c:v>
                </c:pt>
                <c:pt idx="36">
                  <c:v>9</c:v>
                </c:pt>
                <c:pt idx="37">
                  <c:v>10</c:v>
                </c:pt>
                <c:pt idx="38">
                  <c:v>25</c:v>
                </c:pt>
                <c:pt idx="39">
                  <c:v>21</c:v>
                </c:pt>
                <c:pt idx="41">
                  <c:v>38</c:v>
                </c:pt>
                <c:pt idx="42">
                  <c:v>42</c:v>
                </c:pt>
                <c:pt idx="43">
                  <c:v>37</c:v>
                </c:pt>
                <c:pt idx="44">
                  <c:v>44</c:v>
                </c:pt>
                <c:pt idx="45">
                  <c:v>43</c:v>
                </c:pt>
                <c:pt idx="46">
                  <c:v>30</c:v>
                </c:pt>
              </c:numCache>
            </c:numRef>
          </c:cat>
          <c:val>
            <c:numRef>
              <c:f>Sheet1!$C$2:$C$48</c:f>
              <c:numCache>
                <c:formatCode>General</c:formatCode>
                <c:ptCount val="47"/>
                <c:pt idx="0">
                  <c:v>39690</c:v>
                </c:pt>
                <c:pt idx="1">
                  <c:v>39910</c:v>
                </c:pt>
                <c:pt idx="2">
                  <c:v>151315</c:v>
                </c:pt>
                <c:pt idx="3">
                  <c:v>152513</c:v>
                </c:pt>
                <c:pt idx="4">
                  <c:v>155078</c:v>
                </c:pt>
                <c:pt idx="5">
                  <c:v>155083</c:v>
                </c:pt>
                <c:pt idx="6">
                  <c:v>158114</c:v>
                </c:pt>
                <c:pt idx="7">
                  <c:v>184109</c:v>
                </c:pt>
                <c:pt idx="8">
                  <c:v>196321</c:v>
                </c:pt>
                <c:pt idx="9">
                  <c:v>200898</c:v>
                </c:pt>
                <c:pt idx="10">
                  <c:v>202307</c:v>
                </c:pt>
                <c:pt idx="11">
                  <c:v>202505</c:v>
                </c:pt>
                <c:pt idx="12">
                  <c:v>203007</c:v>
                </c:pt>
                <c:pt idx="13">
                  <c:v>203742</c:v>
                </c:pt>
                <c:pt idx="14">
                  <c:v>203750</c:v>
                </c:pt>
                <c:pt idx="15">
                  <c:v>203819</c:v>
                </c:pt>
                <c:pt idx="16">
                  <c:v>203819</c:v>
                </c:pt>
                <c:pt idx="17">
                  <c:v>204184</c:v>
                </c:pt>
                <c:pt idx="18">
                  <c:v>205863</c:v>
                </c:pt>
                <c:pt idx="19">
                  <c:v>206302</c:v>
                </c:pt>
                <c:pt idx="20">
                  <c:v>207499</c:v>
                </c:pt>
                <c:pt idx="21">
                  <c:v>219622</c:v>
                </c:pt>
                <c:pt idx="23">
                  <c:v>34875</c:v>
                </c:pt>
                <c:pt idx="24">
                  <c:v>37392</c:v>
                </c:pt>
                <c:pt idx="25">
                  <c:v>57197</c:v>
                </c:pt>
                <c:pt idx="26">
                  <c:v>70713</c:v>
                </c:pt>
                <c:pt idx="27">
                  <c:v>93188</c:v>
                </c:pt>
                <c:pt idx="28">
                  <c:v>93638</c:v>
                </c:pt>
                <c:pt idx="29">
                  <c:v>103681</c:v>
                </c:pt>
                <c:pt idx="30">
                  <c:v>112238</c:v>
                </c:pt>
                <c:pt idx="31">
                  <c:v>114533</c:v>
                </c:pt>
                <c:pt idx="32">
                  <c:v>118221</c:v>
                </c:pt>
                <c:pt idx="33">
                  <c:v>119557</c:v>
                </c:pt>
                <c:pt idx="34">
                  <c:v>120653</c:v>
                </c:pt>
                <c:pt idx="35">
                  <c:v>123737</c:v>
                </c:pt>
                <c:pt idx="36">
                  <c:v>125833</c:v>
                </c:pt>
                <c:pt idx="37">
                  <c:v>126512</c:v>
                </c:pt>
                <c:pt idx="38">
                  <c:v>128107</c:v>
                </c:pt>
                <c:pt idx="39">
                  <c:v>140167</c:v>
                </c:pt>
                <c:pt idx="41">
                  <c:v>39690</c:v>
                </c:pt>
                <c:pt idx="42">
                  <c:v>39690</c:v>
                </c:pt>
                <c:pt idx="43">
                  <c:v>39910</c:v>
                </c:pt>
                <c:pt idx="44">
                  <c:v>39910</c:v>
                </c:pt>
                <c:pt idx="45">
                  <c:v>41062</c:v>
                </c:pt>
                <c:pt idx="46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94902960"/>
        <c:axId val="294903352"/>
      </c:bar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Minimum size for store type (sq ft.)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A</c:v>
                </c:pt>
                <c:pt idx="21">
                  <c:v>A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6">
                  <c:v>B</c:v>
                </c:pt>
                <c:pt idx="37">
                  <c:v>B</c:v>
                </c:pt>
                <c:pt idx="38">
                  <c:v>B</c:v>
                </c:pt>
                <c:pt idx="39">
                  <c:v>B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Sheet1!$D$2:$D$48</c:f>
              <c:numCache>
                <c:formatCode>General</c:formatCode>
                <c:ptCount val="47"/>
                <c:pt idx="0">
                  <c:v>98000</c:v>
                </c:pt>
                <c:pt idx="1">
                  <c:v>98000</c:v>
                </c:pt>
                <c:pt idx="2">
                  <c:v>98000</c:v>
                </c:pt>
                <c:pt idx="3">
                  <c:v>98000</c:v>
                </c:pt>
                <c:pt idx="4">
                  <c:v>98000</c:v>
                </c:pt>
                <c:pt idx="5">
                  <c:v>98000</c:v>
                </c:pt>
                <c:pt idx="6">
                  <c:v>98000</c:v>
                </c:pt>
                <c:pt idx="7">
                  <c:v>98000</c:v>
                </c:pt>
                <c:pt idx="8">
                  <c:v>98000</c:v>
                </c:pt>
                <c:pt idx="9">
                  <c:v>98000</c:v>
                </c:pt>
                <c:pt idx="10">
                  <c:v>98000</c:v>
                </c:pt>
                <c:pt idx="11">
                  <c:v>98000</c:v>
                </c:pt>
                <c:pt idx="12">
                  <c:v>98000</c:v>
                </c:pt>
                <c:pt idx="13">
                  <c:v>98000</c:v>
                </c:pt>
                <c:pt idx="14">
                  <c:v>98000</c:v>
                </c:pt>
                <c:pt idx="15">
                  <c:v>98000</c:v>
                </c:pt>
                <c:pt idx="16">
                  <c:v>98000</c:v>
                </c:pt>
                <c:pt idx="17">
                  <c:v>98000</c:v>
                </c:pt>
                <c:pt idx="18">
                  <c:v>98000</c:v>
                </c:pt>
                <c:pt idx="19">
                  <c:v>98000</c:v>
                </c:pt>
                <c:pt idx="20">
                  <c:v>98000</c:v>
                </c:pt>
                <c:pt idx="21">
                  <c:v>98000</c:v>
                </c:pt>
                <c:pt idx="23">
                  <c:v>51000</c:v>
                </c:pt>
                <c:pt idx="24">
                  <c:v>51000</c:v>
                </c:pt>
                <c:pt idx="25">
                  <c:v>51000</c:v>
                </c:pt>
                <c:pt idx="26">
                  <c:v>51000</c:v>
                </c:pt>
                <c:pt idx="27">
                  <c:v>51000</c:v>
                </c:pt>
                <c:pt idx="28">
                  <c:v>51000</c:v>
                </c:pt>
                <c:pt idx="29">
                  <c:v>51000</c:v>
                </c:pt>
                <c:pt idx="30">
                  <c:v>51000</c:v>
                </c:pt>
                <c:pt idx="31">
                  <c:v>51000</c:v>
                </c:pt>
                <c:pt idx="32">
                  <c:v>51000</c:v>
                </c:pt>
                <c:pt idx="33">
                  <c:v>51000</c:v>
                </c:pt>
                <c:pt idx="34">
                  <c:v>51000</c:v>
                </c:pt>
                <c:pt idx="35">
                  <c:v>51000</c:v>
                </c:pt>
                <c:pt idx="36">
                  <c:v>51000</c:v>
                </c:pt>
                <c:pt idx="37">
                  <c:v>51000</c:v>
                </c:pt>
                <c:pt idx="38">
                  <c:v>51000</c:v>
                </c:pt>
                <c:pt idx="39">
                  <c:v>51000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Maximum size for store type (sq ft.)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Sheet1!$B$2:$B$48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0">
                  <c:v>A</c:v>
                </c:pt>
                <c:pt idx="21">
                  <c:v>A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6">
                  <c:v>B</c:v>
                </c:pt>
                <c:pt idx="37">
                  <c:v>B</c:v>
                </c:pt>
                <c:pt idx="38">
                  <c:v>B</c:v>
                </c:pt>
                <c:pt idx="39">
                  <c:v>B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Sheet1!$E$2:$E$48</c:f>
              <c:numCache>
                <c:formatCode>General</c:formatCode>
                <c:ptCount val="47"/>
                <c:pt idx="0">
                  <c:v>261000</c:v>
                </c:pt>
                <c:pt idx="1">
                  <c:v>261000</c:v>
                </c:pt>
                <c:pt idx="2">
                  <c:v>261000</c:v>
                </c:pt>
                <c:pt idx="3">
                  <c:v>261000</c:v>
                </c:pt>
                <c:pt idx="4">
                  <c:v>261000</c:v>
                </c:pt>
                <c:pt idx="5">
                  <c:v>261000</c:v>
                </c:pt>
                <c:pt idx="6">
                  <c:v>261000</c:v>
                </c:pt>
                <c:pt idx="7">
                  <c:v>261000</c:v>
                </c:pt>
                <c:pt idx="8">
                  <c:v>261000</c:v>
                </c:pt>
                <c:pt idx="9">
                  <c:v>261000</c:v>
                </c:pt>
                <c:pt idx="10">
                  <c:v>261000</c:v>
                </c:pt>
                <c:pt idx="11">
                  <c:v>261000</c:v>
                </c:pt>
                <c:pt idx="12">
                  <c:v>261000</c:v>
                </c:pt>
                <c:pt idx="13">
                  <c:v>261000</c:v>
                </c:pt>
                <c:pt idx="14">
                  <c:v>261000</c:v>
                </c:pt>
                <c:pt idx="15">
                  <c:v>261000</c:v>
                </c:pt>
                <c:pt idx="16">
                  <c:v>261000</c:v>
                </c:pt>
                <c:pt idx="17">
                  <c:v>261000</c:v>
                </c:pt>
                <c:pt idx="18">
                  <c:v>261000</c:v>
                </c:pt>
                <c:pt idx="19">
                  <c:v>261000</c:v>
                </c:pt>
                <c:pt idx="20">
                  <c:v>261000</c:v>
                </c:pt>
                <c:pt idx="21">
                  <c:v>261000</c:v>
                </c:pt>
                <c:pt idx="23">
                  <c:v>224000</c:v>
                </c:pt>
                <c:pt idx="24">
                  <c:v>224000</c:v>
                </c:pt>
                <c:pt idx="25">
                  <c:v>224000</c:v>
                </c:pt>
                <c:pt idx="26">
                  <c:v>224000</c:v>
                </c:pt>
                <c:pt idx="27">
                  <c:v>224000</c:v>
                </c:pt>
                <c:pt idx="28">
                  <c:v>224000</c:v>
                </c:pt>
                <c:pt idx="29">
                  <c:v>224000</c:v>
                </c:pt>
                <c:pt idx="30">
                  <c:v>224000</c:v>
                </c:pt>
                <c:pt idx="31">
                  <c:v>224000</c:v>
                </c:pt>
                <c:pt idx="32">
                  <c:v>224000</c:v>
                </c:pt>
                <c:pt idx="33">
                  <c:v>224000</c:v>
                </c:pt>
                <c:pt idx="34">
                  <c:v>224000</c:v>
                </c:pt>
                <c:pt idx="35">
                  <c:v>224000</c:v>
                </c:pt>
                <c:pt idx="36">
                  <c:v>224000</c:v>
                </c:pt>
                <c:pt idx="37">
                  <c:v>224000</c:v>
                </c:pt>
                <c:pt idx="38">
                  <c:v>224000</c:v>
                </c:pt>
                <c:pt idx="39">
                  <c:v>224000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4902960"/>
        <c:axId val="294903352"/>
      </c:lineChart>
      <c:catAx>
        <c:axId val="294902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Store Number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94903352"/>
        <c:crosses val="autoZero"/>
        <c:auto val="1"/>
        <c:lblAlgn val="ctr"/>
        <c:lblOffset val="100"/>
        <c:noMultiLvlLbl val="0"/>
      </c:catAx>
      <c:valAx>
        <c:axId val="294903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Size (sq ft)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94902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r>
              <a:rPr lang="en-GB" sz="1200" dirty="0" smtClean="0">
                <a:latin typeface="Tw Cen MT" panose="020B0602020104020603" pitchFamily="34" charset="0"/>
              </a:rPr>
              <a:t>Post-cleaning:</a:t>
            </a:r>
            <a:r>
              <a:rPr lang="en-GB" sz="1200" baseline="0" dirty="0" smtClean="0">
                <a:latin typeface="Tw Cen MT" panose="020B0602020104020603" pitchFamily="34" charset="0"/>
              </a:rPr>
              <a:t> </a:t>
            </a:r>
            <a:r>
              <a:rPr lang="en-GB" sz="1200" dirty="0" smtClean="0">
                <a:latin typeface="Tw Cen MT" panose="020B0602020104020603" pitchFamily="34" charset="0"/>
              </a:rPr>
              <a:t>Store</a:t>
            </a:r>
            <a:r>
              <a:rPr lang="en-GB" sz="1200" baseline="0" dirty="0" smtClean="0">
                <a:latin typeface="Tw Cen MT" panose="020B0602020104020603" pitchFamily="34" charset="0"/>
              </a:rPr>
              <a:t> size according </a:t>
            </a:r>
            <a:r>
              <a:rPr lang="en-GB" sz="1200" baseline="0" dirty="0">
                <a:latin typeface="Tw Cen MT" panose="020B0602020104020603" pitchFamily="34" charset="0"/>
              </a:rPr>
              <a:t>to store type</a:t>
            </a:r>
            <a:endParaRPr lang="en-GB" sz="1200" dirty="0">
              <a:latin typeface="Tw Cen MT" panose="020B0602020104020603" pitchFamily="34" charset="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 (2)'!$C$1</c:f>
              <c:strCache>
                <c:ptCount val="1"/>
                <c:pt idx="0">
                  <c:v>Size (sq ft)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2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</c:dPt>
          <c:dPt>
            <c:idx val="37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  <a:effectLst/>
            </c:spPr>
          </c:dPt>
          <c:dPt>
            <c:idx val="38"/>
            <c:invertIfNegative val="0"/>
            <c:bubble3D val="0"/>
            <c:spPr>
              <a:solidFill>
                <a:srgbClr val="B4C7E7"/>
              </a:solidFill>
              <a:ln>
                <a:noFill/>
              </a:ln>
              <a:effectLst/>
            </c:spPr>
          </c:dPt>
          <c:dPt>
            <c:idx val="39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4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2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</c:dPt>
          <c:dPt>
            <c:idx val="4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5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dPt>
            <c:idx val="46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</c:dPt>
          <c:cat>
            <c:numRef>
              <c:f>'Sheet1 (2)'!$A$2:$A$48</c:f>
              <c:numCache>
                <c:formatCode>General</c:formatCode>
                <c:ptCount val="47"/>
                <c:pt idx="0">
                  <c:v>1</c:v>
                </c:pt>
                <c:pt idx="1">
                  <c:v>26</c:v>
                </c:pt>
                <c:pt idx="2">
                  <c:v>8</c:v>
                </c:pt>
                <c:pt idx="3">
                  <c:v>40</c:v>
                </c:pt>
                <c:pt idx="4">
                  <c:v>34</c:v>
                </c:pt>
                <c:pt idx="5">
                  <c:v>39</c:v>
                </c:pt>
                <c:pt idx="6">
                  <c:v>41</c:v>
                </c:pt>
                <c:pt idx="7">
                  <c:v>14</c:v>
                </c:pt>
                <c:pt idx="8">
                  <c:v>2</c:v>
                </c:pt>
                <c:pt idx="9">
                  <c:v>6</c:v>
                </c:pt>
                <c:pt idx="10">
                  <c:v>32</c:v>
                </c:pt>
                <c:pt idx="11">
                  <c:v>20</c:v>
                </c:pt>
                <c:pt idx="12">
                  <c:v>31</c:v>
                </c:pt>
                <c:pt idx="13">
                  <c:v>19</c:v>
                </c:pt>
                <c:pt idx="14">
                  <c:v>24</c:v>
                </c:pt>
                <c:pt idx="15">
                  <c:v>27</c:v>
                </c:pt>
                <c:pt idx="16">
                  <c:v>4</c:v>
                </c:pt>
                <c:pt idx="17">
                  <c:v>28</c:v>
                </c:pt>
                <c:pt idx="18">
                  <c:v>11</c:v>
                </c:pt>
                <c:pt idx="19">
                  <c:v>13</c:v>
                </c:pt>
                <c:pt idx="21">
                  <c:v>16</c:v>
                </c:pt>
                <c:pt idx="22">
                  <c:v>7</c:v>
                </c:pt>
                <c:pt idx="23">
                  <c:v>17</c:v>
                </c:pt>
                <c:pt idx="24">
                  <c:v>29</c:v>
                </c:pt>
                <c:pt idx="25">
                  <c:v>35</c:v>
                </c:pt>
                <c:pt idx="26">
                  <c:v>12</c:v>
                </c:pt>
                <c:pt idx="27">
                  <c:v>23</c:v>
                </c:pt>
                <c:pt idx="28">
                  <c:v>45</c:v>
                </c:pt>
                <c:pt idx="29">
                  <c:v>22</c:v>
                </c:pt>
                <c:pt idx="30">
                  <c:v>18</c:v>
                </c:pt>
                <c:pt idx="31">
                  <c:v>15</c:v>
                </c:pt>
                <c:pt idx="32">
                  <c:v>9</c:v>
                </c:pt>
                <c:pt idx="33">
                  <c:v>10</c:v>
                </c:pt>
                <c:pt idx="34">
                  <c:v>25</c:v>
                </c:pt>
                <c:pt idx="35">
                  <c:v>21</c:v>
                </c:pt>
                <c:pt idx="37">
                  <c:v>5</c:v>
                </c:pt>
                <c:pt idx="38">
                  <c:v>3</c:v>
                </c:pt>
                <c:pt idx="39">
                  <c:v>33</c:v>
                </c:pt>
                <c:pt idx="40">
                  <c:v>38</c:v>
                </c:pt>
                <c:pt idx="41">
                  <c:v>42</c:v>
                </c:pt>
                <c:pt idx="42">
                  <c:v>36</c:v>
                </c:pt>
                <c:pt idx="43">
                  <c:v>37</c:v>
                </c:pt>
                <c:pt idx="44">
                  <c:v>44</c:v>
                </c:pt>
                <c:pt idx="45">
                  <c:v>43</c:v>
                </c:pt>
                <c:pt idx="46">
                  <c:v>30</c:v>
                </c:pt>
              </c:numCache>
            </c:numRef>
          </c:cat>
          <c:val>
            <c:numRef>
              <c:f>'Sheet1 (2)'!$C$2:$C$48</c:f>
              <c:numCache>
                <c:formatCode>General</c:formatCode>
                <c:ptCount val="47"/>
                <c:pt idx="0">
                  <c:v>151315</c:v>
                </c:pt>
                <c:pt idx="1">
                  <c:v>152513</c:v>
                </c:pt>
                <c:pt idx="2">
                  <c:v>155078</c:v>
                </c:pt>
                <c:pt idx="3">
                  <c:v>155083</c:v>
                </c:pt>
                <c:pt idx="4">
                  <c:v>158114</c:v>
                </c:pt>
                <c:pt idx="5">
                  <c:v>184109</c:v>
                </c:pt>
                <c:pt idx="6">
                  <c:v>196321</c:v>
                </c:pt>
                <c:pt idx="7">
                  <c:v>200898</c:v>
                </c:pt>
                <c:pt idx="8">
                  <c:v>202307</c:v>
                </c:pt>
                <c:pt idx="9">
                  <c:v>202505</c:v>
                </c:pt>
                <c:pt idx="10">
                  <c:v>203007</c:v>
                </c:pt>
                <c:pt idx="11">
                  <c:v>203742</c:v>
                </c:pt>
                <c:pt idx="12">
                  <c:v>203750</c:v>
                </c:pt>
                <c:pt idx="13">
                  <c:v>203819</c:v>
                </c:pt>
                <c:pt idx="14">
                  <c:v>203819</c:v>
                </c:pt>
                <c:pt idx="15">
                  <c:v>204184</c:v>
                </c:pt>
                <c:pt idx="16">
                  <c:v>205863</c:v>
                </c:pt>
                <c:pt idx="17">
                  <c:v>206302</c:v>
                </c:pt>
                <c:pt idx="18">
                  <c:v>207499</c:v>
                </c:pt>
                <c:pt idx="19">
                  <c:v>219622</c:v>
                </c:pt>
                <c:pt idx="21">
                  <c:v>57197</c:v>
                </c:pt>
                <c:pt idx="22">
                  <c:v>70713</c:v>
                </c:pt>
                <c:pt idx="23">
                  <c:v>93188</c:v>
                </c:pt>
                <c:pt idx="24">
                  <c:v>93638</c:v>
                </c:pt>
                <c:pt idx="25">
                  <c:v>103681</c:v>
                </c:pt>
                <c:pt idx="26">
                  <c:v>112238</c:v>
                </c:pt>
                <c:pt idx="27">
                  <c:v>114533</c:v>
                </c:pt>
                <c:pt idx="28">
                  <c:v>118221</c:v>
                </c:pt>
                <c:pt idx="29">
                  <c:v>119557</c:v>
                </c:pt>
                <c:pt idx="30">
                  <c:v>120653</c:v>
                </c:pt>
                <c:pt idx="31">
                  <c:v>123737</c:v>
                </c:pt>
                <c:pt idx="32">
                  <c:v>125833</c:v>
                </c:pt>
                <c:pt idx="33">
                  <c:v>126512</c:v>
                </c:pt>
                <c:pt idx="34">
                  <c:v>128107</c:v>
                </c:pt>
                <c:pt idx="35">
                  <c:v>140167</c:v>
                </c:pt>
                <c:pt idx="37">
                  <c:v>34875</c:v>
                </c:pt>
                <c:pt idx="38">
                  <c:v>37392</c:v>
                </c:pt>
                <c:pt idx="39">
                  <c:v>39690</c:v>
                </c:pt>
                <c:pt idx="40">
                  <c:v>39690</c:v>
                </c:pt>
                <c:pt idx="41">
                  <c:v>39690</c:v>
                </c:pt>
                <c:pt idx="42">
                  <c:v>39910</c:v>
                </c:pt>
                <c:pt idx="43">
                  <c:v>39910</c:v>
                </c:pt>
                <c:pt idx="44">
                  <c:v>39910</c:v>
                </c:pt>
                <c:pt idx="45">
                  <c:v>41062</c:v>
                </c:pt>
                <c:pt idx="46">
                  <c:v>42988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92955728"/>
        <c:axId val="133929960"/>
      </c:barChart>
      <c:lineChart>
        <c:grouping val="standard"/>
        <c:varyColors val="0"/>
        <c:ser>
          <c:idx val="1"/>
          <c:order val="1"/>
          <c:tx>
            <c:strRef>
              <c:f>'Sheet1 (2)'!$D$1</c:f>
              <c:strCache>
                <c:ptCount val="1"/>
                <c:pt idx="0">
                  <c:v>Minimum size for store type (sq ft.)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'Sheet1 (2)'!$B$2:$B$48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1">
                  <c:v>B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7">
                  <c:v>C</c:v>
                </c:pt>
                <c:pt idx="38">
                  <c:v>C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'Sheet1 (2)'!$D$2:$D$48</c:f>
              <c:numCache>
                <c:formatCode>General</c:formatCode>
                <c:ptCount val="47"/>
                <c:pt idx="0">
                  <c:v>98000</c:v>
                </c:pt>
                <c:pt idx="1">
                  <c:v>98000</c:v>
                </c:pt>
                <c:pt idx="2">
                  <c:v>98000</c:v>
                </c:pt>
                <c:pt idx="3">
                  <c:v>98000</c:v>
                </c:pt>
                <c:pt idx="4">
                  <c:v>98000</c:v>
                </c:pt>
                <c:pt idx="5">
                  <c:v>98000</c:v>
                </c:pt>
                <c:pt idx="6">
                  <c:v>98000</c:v>
                </c:pt>
                <c:pt idx="7">
                  <c:v>98000</c:v>
                </c:pt>
                <c:pt idx="8">
                  <c:v>98000</c:v>
                </c:pt>
                <c:pt idx="9">
                  <c:v>98000</c:v>
                </c:pt>
                <c:pt idx="10">
                  <c:v>98000</c:v>
                </c:pt>
                <c:pt idx="11">
                  <c:v>98000</c:v>
                </c:pt>
                <c:pt idx="12">
                  <c:v>98000</c:v>
                </c:pt>
                <c:pt idx="13">
                  <c:v>98000</c:v>
                </c:pt>
                <c:pt idx="14">
                  <c:v>98000</c:v>
                </c:pt>
                <c:pt idx="15">
                  <c:v>98000</c:v>
                </c:pt>
                <c:pt idx="16">
                  <c:v>98000</c:v>
                </c:pt>
                <c:pt idx="17">
                  <c:v>98000</c:v>
                </c:pt>
                <c:pt idx="18">
                  <c:v>98000</c:v>
                </c:pt>
                <c:pt idx="19">
                  <c:v>98000</c:v>
                </c:pt>
                <c:pt idx="21">
                  <c:v>51000</c:v>
                </c:pt>
                <c:pt idx="22">
                  <c:v>51000</c:v>
                </c:pt>
                <c:pt idx="23">
                  <c:v>51000</c:v>
                </c:pt>
                <c:pt idx="24">
                  <c:v>51000</c:v>
                </c:pt>
                <c:pt idx="25">
                  <c:v>51000</c:v>
                </c:pt>
                <c:pt idx="26">
                  <c:v>51000</c:v>
                </c:pt>
                <c:pt idx="27">
                  <c:v>51000</c:v>
                </c:pt>
                <c:pt idx="28">
                  <c:v>51000</c:v>
                </c:pt>
                <c:pt idx="29">
                  <c:v>51000</c:v>
                </c:pt>
                <c:pt idx="30">
                  <c:v>51000</c:v>
                </c:pt>
                <c:pt idx="31">
                  <c:v>51000</c:v>
                </c:pt>
                <c:pt idx="32">
                  <c:v>51000</c:v>
                </c:pt>
                <c:pt idx="33">
                  <c:v>51000</c:v>
                </c:pt>
                <c:pt idx="34">
                  <c:v>51000</c:v>
                </c:pt>
                <c:pt idx="35">
                  <c:v>51000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'Sheet1 (2)'!$E$1</c:f>
              <c:strCache>
                <c:ptCount val="1"/>
                <c:pt idx="0">
                  <c:v>Maximum size for store type (sq ft.)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'Sheet1 (2)'!$B$2:$B$48</c:f>
              <c:strCache>
                <c:ptCount val="47"/>
                <c:pt idx="0">
                  <c:v>A</c:v>
                </c:pt>
                <c:pt idx="1">
                  <c:v>A</c:v>
                </c:pt>
                <c:pt idx="2">
                  <c:v>A</c:v>
                </c:pt>
                <c:pt idx="3">
                  <c:v>A</c:v>
                </c:pt>
                <c:pt idx="4">
                  <c:v>A</c:v>
                </c:pt>
                <c:pt idx="5">
                  <c:v>A</c:v>
                </c:pt>
                <c:pt idx="6">
                  <c:v>A</c:v>
                </c:pt>
                <c:pt idx="7">
                  <c:v>A</c:v>
                </c:pt>
                <c:pt idx="8">
                  <c:v>A</c:v>
                </c:pt>
                <c:pt idx="9">
                  <c:v>A</c:v>
                </c:pt>
                <c:pt idx="10">
                  <c:v>A</c:v>
                </c:pt>
                <c:pt idx="11">
                  <c:v>A</c:v>
                </c:pt>
                <c:pt idx="12">
                  <c:v>A</c:v>
                </c:pt>
                <c:pt idx="13">
                  <c:v>A</c:v>
                </c:pt>
                <c:pt idx="14">
                  <c:v>A</c:v>
                </c:pt>
                <c:pt idx="15">
                  <c:v>A</c:v>
                </c:pt>
                <c:pt idx="16">
                  <c:v>A</c:v>
                </c:pt>
                <c:pt idx="17">
                  <c:v>A</c:v>
                </c:pt>
                <c:pt idx="18">
                  <c:v>A</c:v>
                </c:pt>
                <c:pt idx="19">
                  <c:v>A</c:v>
                </c:pt>
                <c:pt idx="21">
                  <c:v>B</c:v>
                </c:pt>
                <c:pt idx="22">
                  <c:v>B</c:v>
                </c:pt>
                <c:pt idx="23">
                  <c:v>B</c:v>
                </c:pt>
                <c:pt idx="24">
                  <c:v>B</c:v>
                </c:pt>
                <c:pt idx="25">
                  <c:v>B</c:v>
                </c:pt>
                <c:pt idx="26">
                  <c:v>B</c:v>
                </c:pt>
                <c:pt idx="27">
                  <c:v>B</c:v>
                </c:pt>
                <c:pt idx="28">
                  <c:v>B</c:v>
                </c:pt>
                <c:pt idx="29">
                  <c:v>B</c:v>
                </c:pt>
                <c:pt idx="30">
                  <c:v>B</c:v>
                </c:pt>
                <c:pt idx="31">
                  <c:v>B</c:v>
                </c:pt>
                <c:pt idx="32">
                  <c:v>B</c:v>
                </c:pt>
                <c:pt idx="33">
                  <c:v>B</c:v>
                </c:pt>
                <c:pt idx="34">
                  <c:v>B</c:v>
                </c:pt>
                <c:pt idx="35">
                  <c:v>B</c:v>
                </c:pt>
                <c:pt idx="37">
                  <c:v>C</c:v>
                </c:pt>
                <c:pt idx="38">
                  <c:v>C</c:v>
                </c:pt>
                <c:pt idx="39">
                  <c:v>C</c:v>
                </c:pt>
                <c:pt idx="40">
                  <c:v>C</c:v>
                </c:pt>
                <c:pt idx="41">
                  <c:v>C</c:v>
                </c:pt>
                <c:pt idx="42">
                  <c:v>C</c:v>
                </c:pt>
                <c:pt idx="43">
                  <c:v>C</c:v>
                </c:pt>
                <c:pt idx="44">
                  <c:v>C</c:v>
                </c:pt>
                <c:pt idx="45">
                  <c:v>C</c:v>
                </c:pt>
                <c:pt idx="46">
                  <c:v>C</c:v>
                </c:pt>
              </c:strCache>
            </c:strRef>
          </c:cat>
          <c:val>
            <c:numRef>
              <c:f>'Sheet1 (2)'!$E$2:$E$48</c:f>
              <c:numCache>
                <c:formatCode>General</c:formatCode>
                <c:ptCount val="47"/>
                <c:pt idx="0">
                  <c:v>261000</c:v>
                </c:pt>
                <c:pt idx="1">
                  <c:v>261000</c:v>
                </c:pt>
                <c:pt idx="2">
                  <c:v>261000</c:v>
                </c:pt>
                <c:pt idx="3">
                  <c:v>261000</c:v>
                </c:pt>
                <c:pt idx="4">
                  <c:v>261000</c:v>
                </c:pt>
                <c:pt idx="5">
                  <c:v>261000</c:v>
                </c:pt>
                <c:pt idx="6">
                  <c:v>261000</c:v>
                </c:pt>
                <c:pt idx="7">
                  <c:v>261000</c:v>
                </c:pt>
                <c:pt idx="8">
                  <c:v>261000</c:v>
                </c:pt>
                <c:pt idx="9">
                  <c:v>261000</c:v>
                </c:pt>
                <c:pt idx="10">
                  <c:v>261000</c:v>
                </c:pt>
                <c:pt idx="11">
                  <c:v>261000</c:v>
                </c:pt>
                <c:pt idx="12">
                  <c:v>261000</c:v>
                </c:pt>
                <c:pt idx="13">
                  <c:v>261000</c:v>
                </c:pt>
                <c:pt idx="14">
                  <c:v>261000</c:v>
                </c:pt>
                <c:pt idx="15">
                  <c:v>261000</c:v>
                </c:pt>
                <c:pt idx="16">
                  <c:v>261000</c:v>
                </c:pt>
                <c:pt idx="17">
                  <c:v>261000</c:v>
                </c:pt>
                <c:pt idx="18">
                  <c:v>261000</c:v>
                </c:pt>
                <c:pt idx="19">
                  <c:v>261000</c:v>
                </c:pt>
                <c:pt idx="21">
                  <c:v>224000</c:v>
                </c:pt>
                <c:pt idx="22">
                  <c:v>224000</c:v>
                </c:pt>
                <c:pt idx="23">
                  <c:v>224000</c:v>
                </c:pt>
                <c:pt idx="24">
                  <c:v>224000</c:v>
                </c:pt>
                <c:pt idx="25">
                  <c:v>224000</c:v>
                </c:pt>
                <c:pt idx="26">
                  <c:v>224000</c:v>
                </c:pt>
                <c:pt idx="27">
                  <c:v>224000</c:v>
                </c:pt>
                <c:pt idx="28">
                  <c:v>224000</c:v>
                </c:pt>
                <c:pt idx="29">
                  <c:v>224000</c:v>
                </c:pt>
                <c:pt idx="30">
                  <c:v>224000</c:v>
                </c:pt>
                <c:pt idx="31">
                  <c:v>224000</c:v>
                </c:pt>
                <c:pt idx="32">
                  <c:v>224000</c:v>
                </c:pt>
                <c:pt idx="33">
                  <c:v>224000</c:v>
                </c:pt>
                <c:pt idx="34">
                  <c:v>224000</c:v>
                </c:pt>
                <c:pt idx="35">
                  <c:v>224000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2955728"/>
        <c:axId val="133929960"/>
      </c:lineChart>
      <c:catAx>
        <c:axId val="292955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Store Number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133929960"/>
        <c:crosses val="autoZero"/>
        <c:auto val="0"/>
        <c:lblAlgn val="ctr"/>
        <c:lblOffset val="100"/>
        <c:noMultiLvlLbl val="0"/>
      </c:catAx>
      <c:valAx>
        <c:axId val="133929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w Cen MT" panose="020B0602020104020603" pitchFamily="34" charset="0"/>
                    <a:ea typeface="+mn-ea"/>
                    <a:cs typeface="+mn-cs"/>
                  </a:defRPr>
                </a:pPr>
                <a:r>
                  <a:rPr lang="en-GB" sz="1200">
                    <a:latin typeface="Tw Cen MT" panose="020B0602020104020603" pitchFamily="34" charset="0"/>
                  </a:rPr>
                  <a:t>Size (sq ft)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  <c:crossAx val="292955728"/>
        <c:crossesAt val="1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95959"/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95959"/>
                </a:solidFill>
                <a:latin typeface="Tw Cen MT" panose="020B0602020104020603" pitchFamily="34" charset="0"/>
                <a:ea typeface="+mn-ea"/>
                <a:cs typeface="+mn-cs"/>
              </a:defRPr>
            </a:pPr>
            <a:endParaRPr lang="en-US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95959"/>
              </a:solidFill>
              <a:latin typeface="Tw Cen MT" panose="020B0602020104020603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93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59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32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74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46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7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6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249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51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4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E151D-7779-46C1-B176-F54FA63D26A3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F0B48-B4CF-402A-96BE-ECF32F9F9A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12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200735" y="306539"/>
            <a:ext cx="9470827" cy="5966126"/>
            <a:chOff x="1229310" y="316064"/>
            <a:chExt cx="9470827" cy="5966126"/>
          </a:xfrm>
        </p:grpSpPr>
        <p:grpSp>
          <p:nvGrpSpPr>
            <p:cNvPr id="28" name="Group 27"/>
            <p:cNvGrpSpPr/>
            <p:nvPr/>
          </p:nvGrpSpPr>
          <p:grpSpPr>
            <a:xfrm>
              <a:off x="1229310" y="633366"/>
              <a:ext cx="9470827" cy="5648824"/>
              <a:chOff x="1229310" y="633366"/>
              <a:chExt cx="9470827" cy="5648824"/>
            </a:xfrm>
          </p:grpSpPr>
          <p:graphicFrame>
            <p:nvGraphicFramePr>
              <p:cNvPr id="4" name="Chart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10311770"/>
                  </p:ext>
                </p:extLst>
              </p:nvPr>
            </p:nvGraphicFramePr>
            <p:xfrm>
              <a:off x="6063862" y="1100137"/>
              <a:ext cx="4572000" cy="466725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5" name="Chart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8823514"/>
                  </p:ext>
                </p:extLst>
              </p:nvPr>
            </p:nvGraphicFramePr>
            <p:xfrm>
              <a:off x="1491862" y="1090612"/>
              <a:ext cx="4572000" cy="466725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7" name="Straight Connector 6"/>
              <p:cNvCxnSpPr/>
              <p:nvPr/>
            </p:nvCxnSpPr>
            <p:spPr>
              <a:xfrm flipV="1">
                <a:off x="6663937" y="2900362"/>
                <a:ext cx="3960000" cy="1905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2149088" y="4427818"/>
                <a:ext cx="3960000" cy="1905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6740137" y="4652962"/>
                <a:ext cx="3960000" cy="19050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Left Brace 10"/>
              <p:cNvSpPr/>
              <p:nvPr/>
            </p:nvSpPr>
            <p:spPr>
              <a:xfrm rot="16200000">
                <a:off x="3035585" y="4687295"/>
                <a:ext cx="119473" cy="189891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Left Brace 11"/>
              <p:cNvSpPr/>
              <p:nvPr/>
            </p:nvSpPr>
            <p:spPr>
              <a:xfrm rot="16200000">
                <a:off x="4611117" y="5018912"/>
                <a:ext cx="119474" cy="123567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Left Brace 12"/>
              <p:cNvSpPr/>
              <p:nvPr/>
            </p:nvSpPr>
            <p:spPr>
              <a:xfrm rot="16200000">
                <a:off x="5628985" y="5244958"/>
                <a:ext cx="119474" cy="783583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Left Brace 13"/>
              <p:cNvSpPr/>
              <p:nvPr/>
            </p:nvSpPr>
            <p:spPr>
              <a:xfrm rot="16200000">
                <a:off x="7573575" y="4764565"/>
                <a:ext cx="119472" cy="1733980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Left Brace 14"/>
              <p:cNvSpPr/>
              <p:nvPr/>
            </p:nvSpPr>
            <p:spPr>
              <a:xfrm rot="16200000">
                <a:off x="9088286" y="4988594"/>
                <a:ext cx="109949" cy="1285918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Left Brace 15"/>
              <p:cNvSpPr/>
              <p:nvPr/>
            </p:nvSpPr>
            <p:spPr>
              <a:xfrm rot="16200000">
                <a:off x="10176433" y="5176841"/>
                <a:ext cx="119474" cy="899899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938097" y="5691646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A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7476792" y="5696487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A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14335" y="5696487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B</a:t>
                </a:r>
                <a:endParaRPr lang="en-GB" sz="1400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986741" y="5696053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B</a:t>
                </a:r>
                <a:endParaRPr lang="en-GB" sz="14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532203" y="5691646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C</a:t>
                </a:r>
                <a:endParaRPr lang="en-GB" sz="14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0079651" y="5696739"/>
                <a:ext cx="3130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C</a:t>
                </a:r>
                <a:endParaRPr lang="en-GB" sz="14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930513" y="5974413"/>
                <a:ext cx="10263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Store Type</a:t>
                </a:r>
                <a:endParaRPr lang="en-GB" sz="1400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 rot="16200000">
                <a:off x="-850260" y="3179705"/>
                <a:ext cx="44669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Store Size (square feet)</a:t>
                </a:r>
                <a:endParaRPr lang="en-GB" sz="1400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145865" y="633709"/>
                <a:ext cx="39346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Pre-cleaning</a:t>
                </a:r>
                <a:endParaRPr lang="en-GB" sz="1400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663937" y="633366"/>
                <a:ext cx="39346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 smtClean="0"/>
                  <a:t>Post-cleaning</a:t>
                </a:r>
                <a:endParaRPr lang="en-GB" sz="1400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5151858" y="316064"/>
              <a:ext cx="2324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400" dirty="0" smtClean="0"/>
                <a:t>Store Type by Square Footage</a:t>
              </a:r>
              <a:endParaRPr lang="en-GB" sz="1400" dirty="0"/>
            </a:p>
          </p:txBody>
        </p:sp>
      </p:grpSp>
      <p:cxnSp>
        <p:nvCxnSpPr>
          <p:cNvPr id="30" name="Straight Connector 29"/>
          <p:cNvCxnSpPr/>
          <p:nvPr/>
        </p:nvCxnSpPr>
        <p:spPr>
          <a:xfrm flipV="1">
            <a:off x="2149088" y="5073790"/>
            <a:ext cx="3960000" cy="1905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149088" y="4996581"/>
            <a:ext cx="3960000" cy="1905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2149088" y="1924067"/>
            <a:ext cx="3960000" cy="1905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159938" y="4323251"/>
            <a:ext cx="3960000" cy="1905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159938" y="893111"/>
            <a:ext cx="3960000" cy="1905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88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903334"/>
              </p:ext>
            </p:extLst>
          </p:nvPr>
        </p:nvGraphicFramePr>
        <p:xfrm>
          <a:off x="6293887" y="711992"/>
          <a:ext cx="648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0258726"/>
              </p:ext>
            </p:extLst>
          </p:nvPr>
        </p:nvGraphicFramePr>
        <p:xfrm>
          <a:off x="-17288" y="711992"/>
          <a:ext cx="648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62712" y="5772150"/>
            <a:ext cx="4543425" cy="339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148494"/>
              </p:ext>
            </p:extLst>
          </p:nvPr>
        </p:nvGraphicFramePr>
        <p:xfrm>
          <a:off x="6074325" y="5804911"/>
          <a:ext cx="418678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312"/>
                <a:gridCol w="309600"/>
                <a:gridCol w="309600"/>
                <a:gridCol w="309600"/>
                <a:gridCol w="309600"/>
                <a:gridCol w="309600"/>
                <a:gridCol w="309600"/>
                <a:gridCol w="1124268"/>
                <a:gridCol w="273600"/>
              </a:tblGrid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Store</a:t>
                      </a:r>
                      <a:r>
                        <a:rPr lang="en-GB" sz="1200" baseline="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 Type:</a:t>
                      </a:r>
                      <a:endParaRPr lang="en-GB" sz="1200" dirty="0" smtClean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A: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   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B: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C: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Cleaned stores</a:t>
                      </a: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B4C7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62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8269660"/>
              </p:ext>
            </p:extLst>
          </p:nvPr>
        </p:nvGraphicFramePr>
        <p:xfrm>
          <a:off x="1945327" y="-904934"/>
          <a:ext cx="648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62712" y="5772150"/>
            <a:ext cx="4543425" cy="339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030308"/>
              </p:ext>
            </p:extLst>
          </p:nvPr>
        </p:nvGraphicFramePr>
        <p:xfrm>
          <a:off x="1945327" y="4158000"/>
          <a:ext cx="648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240265"/>
              </p:ext>
            </p:extLst>
          </p:nvPr>
        </p:nvGraphicFramePr>
        <p:xfrm>
          <a:off x="3091937" y="9537102"/>
          <a:ext cx="418678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312"/>
                <a:gridCol w="309600"/>
                <a:gridCol w="309600"/>
                <a:gridCol w="309600"/>
                <a:gridCol w="309600"/>
                <a:gridCol w="309600"/>
                <a:gridCol w="309600"/>
                <a:gridCol w="1124268"/>
                <a:gridCol w="273600"/>
              </a:tblGrid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Store</a:t>
                      </a:r>
                      <a:r>
                        <a:rPr lang="en-GB" sz="1200" baseline="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 Type:</a:t>
                      </a:r>
                      <a:endParaRPr lang="en-GB" sz="1200" dirty="0" smtClean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A: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   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B: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C: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Cleaned stores</a:t>
                      </a:r>
                      <a:r>
                        <a:rPr lang="en-GB" sz="1200" dirty="0" smtClean="0">
                          <a:solidFill>
                            <a:srgbClr val="595959"/>
                          </a:solidFill>
                          <a:latin typeface="Tw Cen MT" panose="020B0602020104020603" pitchFamily="34" charset="0"/>
                        </a:rPr>
                        <a:t>:</a:t>
                      </a:r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595959"/>
                        </a:solidFill>
                        <a:latin typeface="Tw Cen MT" panose="020B0602020104020603" pitchFamily="34" charset="0"/>
                      </a:endParaRPr>
                    </a:p>
                  </a:txBody>
                  <a:tcPr anchor="ctr">
                    <a:solidFill>
                      <a:srgbClr val="B4C7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77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69198"/>
              </p:ext>
            </p:extLst>
          </p:nvPr>
        </p:nvGraphicFramePr>
        <p:xfrm>
          <a:off x="1098459" y="1152285"/>
          <a:ext cx="6010910" cy="3575304"/>
        </p:xfrm>
        <a:graphic>
          <a:graphicData uri="http://schemas.openxmlformats.org/drawingml/2006/table">
            <a:tbl>
              <a:tblPr firstRow="1" firstCol="1" bandRow="1"/>
              <a:tblGrid>
                <a:gridCol w="1281758"/>
                <a:gridCol w="1207523"/>
                <a:gridCol w="1308461"/>
                <a:gridCol w="1308461"/>
                <a:gridCol w="904707"/>
              </a:tblGrid>
              <a:tr h="33655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b="1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Variable Name</a:t>
                      </a:r>
                      <a:endParaRPr lang="en-GB" sz="1000" dirty="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Data Type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Level of measurement 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% complete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Type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Categorical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Nominal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Size 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Ratio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Temperature 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Fuel_Price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Ratio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rowSpan="5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Promotion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1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35.7%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2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26.4%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3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32.5%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4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32.0%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5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35.9%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CPI 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Unemployment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IsHoliday 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Binary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Nominal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Department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Categorical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Nominal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err="1" smtClean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Weekly_Sales</a:t>
                      </a:r>
                      <a:endParaRPr lang="en-GB" sz="1000" dirty="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Real Value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STFangsong"/>
                          <a:cs typeface="Arial" panose="020B0604020202020204" pitchFamily="34" charset="0"/>
                        </a:rPr>
                        <a:t>Interval Scale</a:t>
                      </a:r>
                      <a:endParaRPr lang="en-GB" sz="100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100%</a:t>
                      </a:r>
                      <a:endParaRPr lang="en-GB" sz="1000" dirty="0">
                        <a:effectLst/>
                        <a:latin typeface="Tw Cen MT" panose="020B0602020104020603" pitchFamily="34" charset="0"/>
                        <a:ea typeface="STFangsong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3369" y="4727589"/>
            <a:ext cx="6096000" cy="50347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GB" sz="1200" dirty="0">
                <a:latin typeface="Tw Cen MT" panose="020B0602020104020603" pitchFamily="34" charset="0"/>
                <a:ea typeface="STFangsong"/>
                <a:cs typeface="Arial" panose="020B0604020202020204" pitchFamily="34" charset="0"/>
              </a:rPr>
              <a:t>% complete is calculated based on the number of weeks for which data is available for that variable versus the total number of weeks the datasets cover. </a:t>
            </a:r>
            <a:endParaRPr lang="en-GB" sz="1200" dirty="0">
              <a:effectLst/>
              <a:latin typeface="Tw Cen MT" panose="020B0602020104020603" pitchFamily="34" charset="0"/>
              <a:ea typeface="STFangsong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93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247</Words>
  <Application>Microsoft Office PowerPoint</Application>
  <PresentationFormat>Widescreen</PresentationFormat>
  <Paragraphs>101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STFangsong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of Leeds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Francesca Pontin [fs14fp]</dc:creator>
  <cp:lastModifiedBy>Francesca Pontin [fs14fp]</cp:lastModifiedBy>
  <cp:revision>17</cp:revision>
  <dcterms:created xsi:type="dcterms:W3CDTF">2018-02-25T16:46:51Z</dcterms:created>
  <dcterms:modified xsi:type="dcterms:W3CDTF">2018-02-27T16:21:23Z</dcterms:modified>
</cp:coreProperties>
</file>